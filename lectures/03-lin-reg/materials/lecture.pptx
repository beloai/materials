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5.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c3dda681cb4e92" /><Relationship Type="http://schemas.openxmlformats.org/officeDocument/2006/relationships/extended-properties" Target="/docProps/app.xml" Id="Rceb6c93e284f4c98" /><Relationship Type="http://schemas.openxmlformats.org/officeDocument/2006/relationships/officeDocument" Target="/ppt/presentation.xml" Id="R803da51de6a44489" /></Relationships>
</file>

<file path=ppt/presentation.xml><?xml version="1.0" encoding="utf-8"?>
<p:presentation xmlns:p="http://schemas.openxmlformats.org/presentationml/2006/main">
  <p:sldMasterIdLst>
    <p:sldMasterId xmlns:r="http://schemas.openxmlformats.org/officeDocument/2006/relationships" id="2147483648" r:id="R5cb362d4f49643b3"/>
  </p:sldMasterIdLst>
  <p:notesMasterIdLst>
    <p:notesMasterId xmlns:r="http://schemas.openxmlformats.org/officeDocument/2006/relationships" r:id="R2ae74d219fa04767"/>
  </p:notesMasterIdLst>
  <p:sldIdLst>
    <p:sldId xmlns:r="http://schemas.openxmlformats.org/officeDocument/2006/relationships" id="256" r:id="R2e4ef0bd8c9a4845"/>
    <p:sldId xmlns:r="http://schemas.openxmlformats.org/officeDocument/2006/relationships" id="257" r:id="R4a3cd29728954f11"/>
    <p:sldId xmlns:r="http://schemas.openxmlformats.org/officeDocument/2006/relationships" id="258" r:id="Rfe7c178fa69d4b8f"/>
    <p:sldId xmlns:r="http://schemas.openxmlformats.org/officeDocument/2006/relationships" id="259" r:id="R91ffdbe658ea4d83"/>
    <p:sldId xmlns:r="http://schemas.openxmlformats.org/officeDocument/2006/relationships" id="260" r:id="R1e4490507556404d"/>
    <p:sldId xmlns:r="http://schemas.openxmlformats.org/officeDocument/2006/relationships" id="261" r:id="R759fbcd0f77741db"/>
    <p:sldId xmlns:r="http://schemas.openxmlformats.org/officeDocument/2006/relationships" id="262" r:id="Rf776655183ed44f5"/>
    <p:sldId xmlns:r="http://schemas.openxmlformats.org/officeDocument/2006/relationships" id="263" r:id="R55ca7be14f39461b"/>
    <p:sldId xmlns:r="http://schemas.openxmlformats.org/officeDocument/2006/relationships" id="264" r:id="R383159e2dff24035"/>
    <p:sldId xmlns:r="http://schemas.openxmlformats.org/officeDocument/2006/relationships" id="265" r:id="Rd23ca9bda3d9467e"/>
    <p:sldId xmlns:r="http://schemas.openxmlformats.org/officeDocument/2006/relationships" id="266" r:id="Ra71e1f7b5e134319"/>
    <p:sldId xmlns:r="http://schemas.openxmlformats.org/officeDocument/2006/relationships" id="267" r:id="Rd00386a51c3441f2"/>
    <p:sldId xmlns:r="http://schemas.openxmlformats.org/officeDocument/2006/relationships" id="268" r:id="Rb182e1d095094117"/>
    <p:sldId xmlns:r="http://schemas.openxmlformats.org/officeDocument/2006/relationships" id="269" r:id="R5a2c4108f93649f4"/>
    <p:sldId xmlns:r="http://schemas.openxmlformats.org/officeDocument/2006/relationships" id="270" r:id="R0b93b8068ff749ea"/>
    <p:sldId xmlns:r="http://schemas.openxmlformats.org/officeDocument/2006/relationships" id="271" r:id="Rf6548c6385854e20"/>
    <p:sldId xmlns:r="http://schemas.openxmlformats.org/officeDocument/2006/relationships" id="272" r:id="Ref4e5a5b97da4675"/>
    <p:sldId xmlns:r="http://schemas.openxmlformats.org/officeDocument/2006/relationships" id="273" r:id="R1e8b513a26654c4e"/>
    <p:sldId xmlns:r="http://schemas.openxmlformats.org/officeDocument/2006/relationships" id="274" r:id="R78e5c3a6a5454018"/>
    <p:sldId xmlns:r="http://schemas.openxmlformats.org/officeDocument/2006/relationships" id="275" r:id="Radd45254b99a4a75"/>
    <p:sldId xmlns:r="http://schemas.openxmlformats.org/officeDocument/2006/relationships" id="276" r:id="R08c32dafc0b44e1c"/>
    <p:sldId xmlns:r="http://schemas.openxmlformats.org/officeDocument/2006/relationships" id="277" r:id="Rdd28d478d1f74726"/>
    <p:sldId xmlns:r="http://schemas.openxmlformats.org/officeDocument/2006/relationships" id="278" r:id="R87e69989510a4cae"/>
    <p:sldId xmlns:r="http://schemas.openxmlformats.org/officeDocument/2006/relationships" id="279" r:id="Rbb7108c27bc94a91"/>
    <p:sldId xmlns:r="http://schemas.openxmlformats.org/officeDocument/2006/relationships" id="280" r:id="Re6996f60b6004514"/>
    <p:sldId xmlns:r="http://schemas.openxmlformats.org/officeDocument/2006/relationships" id="281" r:id="R8553d3e203604a4d"/>
    <p:sldId xmlns:r="http://schemas.openxmlformats.org/officeDocument/2006/relationships" id="282" r:id="R308464c0aa6e4d3c"/>
    <p:sldId xmlns:r="http://schemas.openxmlformats.org/officeDocument/2006/relationships" id="283" r:id="R2c521882741a4a30"/>
    <p:sldId xmlns:r="http://schemas.openxmlformats.org/officeDocument/2006/relationships" id="284" r:id="Rd7f52be1b9224301"/>
    <p:sldId xmlns:r="http://schemas.openxmlformats.org/officeDocument/2006/relationships" id="285" r:id="Rf90162107cb74da3"/>
    <p:sldId xmlns:r="http://schemas.openxmlformats.org/officeDocument/2006/relationships" id="286" r:id="R9b0a7c408ab54ab5"/>
    <p:sldId xmlns:r="http://schemas.openxmlformats.org/officeDocument/2006/relationships" id="287" r:id="R7e9a27b9170c4bef"/>
    <p:sldId xmlns:r="http://schemas.openxmlformats.org/officeDocument/2006/relationships" id="288" r:id="R2e1f36b98be7488e"/>
    <p:sldId xmlns:r="http://schemas.openxmlformats.org/officeDocument/2006/relationships" id="289" r:id="R4512e4c3e54849f2"/>
    <p:sldId xmlns:r="http://schemas.openxmlformats.org/officeDocument/2006/relationships" id="290" r:id="Re3eaf83ad62a4df3"/>
    <p:sldId xmlns:r="http://schemas.openxmlformats.org/officeDocument/2006/relationships" id="291" r:id="Rb813efd73e6f4123"/>
    <p:sldId xmlns:r="http://schemas.openxmlformats.org/officeDocument/2006/relationships" id="292" r:id="Rded92aff81ca41e7"/>
  </p:sldIdLst>
  <p:sldSz cx="12192000" cy="914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808106f4944da4" /><Relationship Type="http://schemas.openxmlformats.org/officeDocument/2006/relationships/slideMaster" Target="/ppt/slideMasters/slideMaster1.xml" Id="R5cb362d4f49643b3" /><Relationship Type="http://schemas.openxmlformats.org/officeDocument/2006/relationships/notesMaster" Target="/ppt/notesMasters/notesMaster1.xml" Id="R2ae74d219fa04767" /><Relationship Type="http://schemas.openxmlformats.org/officeDocument/2006/relationships/presProps" Target="/ppt/presProps.xml" Id="Rb7de943791ce4c09" /><Relationship Type="http://schemas.openxmlformats.org/officeDocument/2006/relationships/tableStyles" Target="/ppt/tableStyles.xml" Id="R00c475a35ec74904" /><Relationship Type="http://schemas.openxmlformats.org/officeDocument/2006/relationships/slide" Target="/ppt/slides/slide1.xml" Id="R2e4ef0bd8c9a4845" /><Relationship Type="http://schemas.openxmlformats.org/officeDocument/2006/relationships/slide" Target="/ppt/slides/slide2.xml" Id="R4a3cd29728954f11" /><Relationship Type="http://schemas.openxmlformats.org/officeDocument/2006/relationships/slide" Target="/ppt/slides/slide3.xml" Id="Rfe7c178fa69d4b8f" /><Relationship Type="http://schemas.openxmlformats.org/officeDocument/2006/relationships/slide" Target="/ppt/slides/slide4.xml" Id="R91ffdbe658ea4d83" /><Relationship Type="http://schemas.openxmlformats.org/officeDocument/2006/relationships/slide" Target="/ppt/slides/slide5.xml" Id="R1e4490507556404d" /><Relationship Type="http://schemas.openxmlformats.org/officeDocument/2006/relationships/slide" Target="/ppt/slides/slide6.xml" Id="R759fbcd0f77741db" /><Relationship Type="http://schemas.openxmlformats.org/officeDocument/2006/relationships/slide" Target="/ppt/slides/slide7.xml" Id="Rf776655183ed44f5" /><Relationship Type="http://schemas.openxmlformats.org/officeDocument/2006/relationships/slide" Target="/ppt/slides/slide8.xml" Id="R55ca7be14f39461b" /><Relationship Type="http://schemas.openxmlformats.org/officeDocument/2006/relationships/slide" Target="/ppt/slides/slide9.xml" Id="R383159e2dff24035" /><Relationship Type="http://schemas.openxmlformats.org/officeDocument/2006/relationships/slide" Target="/ppt/slides/slide10.xml" Id="Rd23ca9bda3d9467e" /><Relationship Type="http://schemas.openxmlformats.org/officeDocument/2006/relationships/slide" Target="/ppt/slides/slide11.xml" Id="Ra71e1f7b5e134319" /><Relationship Type="http://schemas.openxmlformats.org/officeDocument/2006/relationships/slide" Target="/ppt/slides/slide12.xml" Id="Rd00386a51c3441f2" /><Relationship Type="http://schemas.openxmlformats.org/officeDocument/2006/relationships/slide" Target="/ppt/slides/slide13.xml" Id="Rb182e1d095094117" /><Relationship Type="http://schemas.openxmlformats.org/officeDocument/2006/relationships/slide" Target="/ppt/slides/slide14.xml" Id="R5a2c4108f93649f4" /><Relationship Type="http://schemas.openxmlformats.org/officeDocument/2006/relationships/slide" Target="/ppt/slides/slide15.xml" Id="R0b93b8068ff749ea" /><Relationship Type="http://schemas.openxmlformats.org/officeDocument/2006/relationships/slide" Target="/ppt/slides/slide16.xml" Id="Rf6548c6385854e20" /><Relationship Type="http://schemas.openxmlformats.org/officeDocument/2006/relationships/slide" Target="/ppt/slides/slide17.xml" Id="Ref4e5a5b97da4675" /><Relationship Type="http://schemas.openxmlformats.org/officeDocument/2006/relationships/slide" Target="/ppt/slides/slide18.xml" Id="R1e8b513a26654c4e" /><Relationship Type="http://schemas.openxmlformats.org/officeDocument/2006/relationships/slide" Target="/ppt/slides/slide19.xml" Id="R78e5c3a6a5454018" /><Relationship Type="http://schemas.openxmlformats.org/officeDocument/2006/relationships/slide" Target="/ppt/slides/slide20.xml" Id="Radd45254b99a4a75" /><Relationship Type="http://schemas.openxmlformats.org/officeDocument/2006/relationships/slide" Target="/ppt/slides/slide21.xml" Id="R08c32dafc0b44e1c" /><Relationship Type="http://schemas.openxmlformats.org/officeDocument/2006/relationships/slide" Target="/ppt/slides/slide22.xml" Id="Rdd28d478d1f74726" /><Relationship Type="http://schemas.openxmlformats.org/officeDocument/2006/relationships/slide" Target="/ppt/slides/slide23.xml" Id="R87e69989510a4cae" /><Relationship Type="http://schemas.openxmlformats.org/officeDocument/2006/relationships/slide" Target="/ppt/slides/slide24.xml" Id="Rbb7108c27bc94a91" /><Relationship Type="http://schemas.openxmlformats.org/officeDocument/2006/relationships/slide" Target="/ppt/slides/slide25.xml" Id="Re6996f60b6004514" /><Relationship Type="http://schemas.openxmlformats.org/officeDocument/2006/relationships/slide" Target="/ppt/slides/slide26.xml" Id="R8553d3e203604a4d" /><Relationship Type="http://schemas.openxmlformats.org/officeDocument/2006/relationships/slide" Target="/ppt/slides/slide27.xml" Id="R308464c0aa6e4d3c" /><Relationship Type="http://schemas.openxmlformats.org/officeDocument/2006/relationships/slide" Target="/ppt/slides/slide28.xml" Id="R2c521882741a4a30" /><Relationship Type="http://schemas.openxmlformats.org/officeDocument/2006/relationships/slide" Target="/ppt/slides/slide29.xml" Id="Rd7f52be1b9224301" /><Relationship Type="http://schemas.openxmlformats.org/officeDocument/2006/relationships/slide" Target="/ppt/slides/slide30.xml" Id="Rf90162107cb74da3" /><Relationship Type="http://schemas.openxmlformats.org/officeDocument/2006/relationships/slide" Target="/ppt/slides/slide31.xml" Id="R9b0a7c408ab54ab5" /><Relationship Type="http://schemas.openxmlformats.org/officeDocument/2006/relationships/slide" Target="/ppt/slides/slide32.xml" Id="R7e9a27b9170c4bef" /><Relationship Type="http://schemas.openxmlformats.org/officeDocument/2006/relationships/slide" Target="/ppt/slides/slide33.xml" Id="R2e1f36b98be7488e" /><Relationship Type="http://schemas.openxmlformats.org/officeDocument/2006/relationships/slide" Target="/ppt/slides/slide34.xml" Id="R4512e4c3e54849f2" /><Relationship Type="http://schemas.openxmlformats.org/officeDocument/2006/relationships/slide" Target="/ppt/slides/slide35.xml" Id="Re3eaf83ad62a4df3" /><Relationship Type="http://schemas.openxmlformats.org/officeDocument/2006/relationships/slide" Target="/ppt/slides/slide36.xml" Id="Rb813efd73e6f4123" /><Relationship Type="http://schemas.openxmlformats.org/officeDocument/2006/relationships/slide" Target="/ppt/slides/slide37.xml" Id="Rded92aff81ca41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0fd6b6a36047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81c1e28c0a4017" /><Relationship Type="http://schemas.openxmlformats.org/officeDocument/2006/relationships/notesMaster" Target="/ppt/notesMasters/notesMaster1.xml" Id="R530f83a643b445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6984a2dbe448e2" /><Relationship Type="http://schemas.openxmlformats.org/officeDocument/2006/relationships/notesMaster" Target="/ppt/notesMasters/notesMaster1.xml" Id="R79d04311bc0946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4a5ba32d514e4f" /><Relationship Type="http://schemas.openxmlformats.org/officeDocument/2006/relationships/notesMaster" Target="/ppt/notesMasters/notesMaster1.xml" Id="R13a77330fb264d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0b36a7cd1a4db6" /><Relationship Type="http://schemas.openxmlformats.org/officeDocument/2006/relationships/notesMaster" Target="/ppt/notesMasters/notesMaster1.xml" Id="R78d8460aaa8248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c54297223b48f7" /><Relationship Type="http://schemas.openxmlformats.org/officeDocument/2006/relationships/notesMaster" Target="/ppt/notesMasters/notesMaster1.xml" Id="R33a7b368717b4d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6d8e5c5f8e4228" /><Relationship Type="http://schemas.openxmlformats.org/officeDocument/2006/relationships/notesMaster" Target="/ppt/notesMasters/notesMaster1.xml" Id="Rd48db77f271b4c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ed0ebfe7e843ed" /><Relationship Type="http://schemas.openxmlformats.org/officeDocument/2006/relationships/notesMaster" Target="/ppt/notesMasters/notesMaster1.xml" Id="R2f57218db4d840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e61495819a402a" /><Relationship Type="http://schemas.openxmlformats.org/officeDocument/2006/relationships/notesMaster" Target="/ppt/notesMasters/notesMaster1.xml" Id="R59e11801d7234b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dd2c4552924c4c" /><Relationship Type="http://schemas.openxmlformats.org/officeDocument/2006/relationships/notesMaster" Target="/ppt/notesMasters/notesMaster1.xml" Id="R998661c0fee04f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5d813342f3471f" /><Relationship Type="http://schemas.openxmlformats.org/officeDocument/2006/relationships/notesMaster" Target="/ppt/notesMasters/notesMaster1.xml" Id="R7b1d6185560944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b66bbcedb240ba" /><Relationship Type="http://schemas.openxmlformats.org/officeDocument/2006/relationships/notesMaster" Target="/ppt/notesMasters/notesMaster1.xml" Id="R7b367f55915440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34996864d4446b" /><Relationship Type="http://schemas.openxmlformats.org/officeDocument/2006/relationships/notesMaster" Target="/ppt/notesMasters/notesMaster1.xml" Id="R8c2435e02d824a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07d8ac264741c8" /><Relationship Type="http://schemas.openxmlformats.org/officeDocument/2006/relationships/notesMaster" Target="/ppt/notesMasters/notesMaster1.xml" Id="Rea9bb2c1ca0f46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aec0e05b144d97" /><Relationship Type="http://schemas.openxmlformats.org/officeDocument/2006/relationships/notesMaster" Target="/ppt/notesMasters/notesMaster1.xml" Id="R9c0e1c80d91043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6f6cd11d614590" /><Relationship Type="http://schemas.openxmlformats.org/officeDocument/2006/relationships/notesMaster" Target="/ppt/notesMasters/notesMaster1.xml" Id="R4b00118dbe2f44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7833bed85d43a8" /><Relationship Type="http://schemas.openxmlformats.org/officeDocument/2006/relationships/notesMaster" Target="/ppt/notesMasters/notesMaster1.xml" Id="R0d4b57f849994cd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bc3856e2121455e" /><Relationship Type="http://schemas.openxmlformats.org/officeDocument/2006/relationships/notesMaster" Target="/ppt/notesMasters/notesMaster1.xml" Id="R2ac9c850eedc42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5765f3fa904fc5" /><Relationship Type="http://schemas.openxmlformats.org/officeDocument/2006/relationships/notesMaster" Target="/ppt/notesMasters/notesMaster1.xml" Id="Rd2e7ed0dd4184ce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4da56ba8fbd40aa" /><Relationship Type="http://schemas.openxmlformats.org/officeDocument/2006/relationships/notesMaster" Target="/ppt/notesMasters/notesMaster1.xml" Id="R5fc13a693de24ed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0cb9666be6745da" /><Relationship Type="http://schemas.openxmlformats.org/officeDocument/2006/relationships/notesMaster" Target="/ppt/notesMasters/notesMaster1.xml" Id="R39e78168a296472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e68c161216a4176" /><Relationship Type="http://schemas.openxmlformats.org/officeDocument/2006/relationships/notesMaster" Target="/ppt/notesMasters/notesMaster1.xml" Id="Rf046309de36e484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a7bfc5e51d04dfd" /><Relationship Type="http://schemas.openxmlformats.org/officeDocument/2006/relationships/notesMaster" Target="/ppt/notesMasters/notesMaster1.xml" Id="R2ed21c48aacf4db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5c3585497984c7c" /><Relationship Type="http://schemas.openxmlformats.org/officeDocument/2006/relationships/notesMaster" Target="/ppt/notesMasters/notesMaster1.xml" Id="Rd1b18f581138404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38cc83054104c32" /><Relationship Type="http://schemas.openxmlformats.org/officeDocument/2006/relationships/notesMaster" Target="/ppt/notesMasters/notesMaster1.xml" Id="R539c3ebcdb1049c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ad3fedecdaa4abe" /><Relationship Type="http://schemas.openxmlformats.org/officeDocument/2006/relationships/notesMaster" Target="/ppt/notesMasters/notesMaster1.xml" Id="R146c7edec85b41b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646e02d302c4f59" /><Relationship Type="http://schemas.openxmlformats.org/officeDocument/2006/relationships/notesMaster" Target="/ppt/notesMasters/notesMaster1.xml" Id="R06018db33f3a40f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5b76a5e4efd484d" /><Relationship Type="http://schemas.openxmlformats.org/officeDocument/2006/relationships/notesMaster" Target="/ppt/notesMasters/notesMaster1.xml" Id="R10df2121cc434e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bfa40787af041a0" /><Relationship Type="http://schemas.openxmlformats.org/officeDocument/2006/relationships/notesMaster" Target="/ppt/notesMasters/notesMaster1.xml" Id="Rb66eeecccdd94ae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e12d1662dab4395" /><Relationship Type="http://schemas.openxmlformats.org/officeDocument/2006/relationships/notesMaster" Target="/ppt/notesMasters/notesMaster1.xml" Id="R8dff2e5f00e4419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39ed02512a6491a" /><Relationship Type="http://schemas.openxmlformats.org/officeDocument/2006/relationships/notesMaster" Target="/ppt/notesMasters/notesMaster1.xml" Id="Rd88e68328c684b3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03b68f4a40482c" /><Relationship Type="http://schemas.openxmlformats.org/officeDocument/2006/relationships/notesMaster" Target="/ppt/notesMasters/notesMaster1.xml" Id="R5f0795669a0a45e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710e85a0cba48c9" /><Relationship Type="http://schemas.openxmlformats.org/officeDocument/2006/relationships/notesMaster" Target="/ppt/notesMasters/notesMaster1.xml" Id="R1ff47d47c54f454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7798a3a90744957" /><Relationship Type="http://schemas.openxmlformats.org/officeDocument/2006/relationships/notesMaster" Target="/ppt/notesMasters/notesMaster1.xml" Id="Re0959ced4326491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1a1c2fb1a1642bf" /><Relationship Type="http://schemas.openxmlformats.org/officeDocument/2006/relationships/notesMaster" Target="/ppt/notesMasters/notesMaster1.xml" Id="R5d384602f4ba412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bc88886b8f241aa" /><Relationship Type="http://schemas.openxmlformats.org/officeDocument/2006/relationships/notesMaster" Target="/ppt/notesMasters/notesMaster1.xml" Id="Rd6e4bf7fe6294a3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0abd653696441e1" /><Relationship Type="http://schemas.openxmlformats.org/officeDocument/2006/relationships/notesMaster" Target="/ppt/notesMasters/notesMaster1.xml" Id="Rb5f6f4e227ba46b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6618f58c97c44a8" /><Relationship Type="http://schemas.openxmlformats.org/officeDocument/2006/relationships/notesMaster" Target="/ppt/notesMasters/notesMaster1.xml" Id="R2da61783606649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 Линейная регрессия. Первая пара: 0–1 мин.</ns0:t>
            </ns0:r>
          </ns0:p>
          <ns1:p xmlns:ns1="http://schemas.openxmlformats.org/drawingml/2006/main">
            <ns1:r>
              <ns1:t>ТЕКСТ РАССКАЗА</ns1:t>
            </ns1:r>
          </ns1:p>
          <ns2:p xmlns:ns2="http://schemas.openxmlformats.org/drawingml/2006/main">
            <ns2:r>
              <ns2:t>Сегодня мы разберём одну модель машинного обучения полностью: от идеи до кода. У нас будут точки с известными ответами, мы выберем прямую и научим компьютер подбирать её наклон и положение. По дороге нам понадобятся квадратичная функция, производная и система уравнений.</ns2:t>
            </ns2:r>
          </ns2:p>
          <ns3:p xmlns:ns3="http://schemas.openxmlformats.org/drawingml/2006/main">
            <ns3:r>
              <ns3:t>Каждое новое математическое понятие будем вводить тогда, когда станет понятно, зачем оно нужно. К концу занятия у нас появятся два способа найти хорошую прямую: постепенно улучшать параметры или решить систему уравнений.</ns3:t>
            </ns3:r>
          </ns3:p>
          <ns4:p xmlns:ns4="http://schemas.openxmlformats.org/drawingml/2006/main">
            <ns4:r>
              <ns4:t>ПОКАЗАТЬ И СПРОСИТЬ</ns4:t>
            </ns4:r>
          </ns4:p>
          <ns5:p xmlns:ns5="http://schemas.openxmlformats.org/drawingml/2006/main">
            <ns5:r>
              <ns5:t>Покажите четыре раздела в верхней навигации. Не зачитывайте весь план: достаточно обозначить конечную цель — написать обучение прямой.</ns5:t>
            </ns5:r>
          </ns5:p>
          <ns6:p xmlns:ns6="http://schemas.openxmlformats.org/drawingml/2006/main">
            <ns6:r>
              <ns6:t>НЕ ЗАБЫТЬ</ns6:t>
            </ns6:r>
          </ns6:p>
          <ns7:p xmlns:ns7="http://schemas.openxmlformats.org/drawingml/2006/main">
            <ns7:r>
              <ns7:t>Сегодня изучаем регрессию и полный градиентный спуск. Классификация, SGD и регуляризация в обязательную часть не входят.</ns7:t>
            </ns7:r>
          </ns7:p>
          <ns8:p xmlns:ns8="http://schemas.openxmlformats.org/drawingml/2006/main">
            <ns8:r>
              <ns8:t>Автор: Банцевич Максим. Основа: хендбук Яндекса. Источники: https://contest.yandex.ru/tracks/ml/supervised-learning/linear-models ; https://contest.yandex.ru/tracks/ml/optimization-in-machine-learning/optimization-in-machine-learning</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 Данные и предсказание. Первая пара: 1–3 мин.</ns0:t>
            </ns0:r>
          </ns0:p>
          <ns1:p xmlns:ns1="http://schemas.openxmlformats.org/drawingml/2006/main">
            <ns1:r>
              <ns1:t>ТЕКСТ РАССКАЗА</ns1:t>
            </ns1:r>
          </ns1:p>
          <ns2:p xmlns:ns2="http://schemas.openxmlformats.org/drawingml/2006/main">
            <ns2:r>
              <ns2:t>Представим, что хотим предсказывать время поездки по длине маршрута. Один маршрут — один объект. Число, которое описывает объект и доступно до предсказания, называется признаком. То, что хотим предсказать, называется целевой переменной или ответом.</ns2:t>
            </ns2:r>
          </ns2:p>
          <ns3:p xmlns:ns3="http://schemas.openxmlformats.org/drawingml/2006/main">
            <ns3:r>
              <ns3:t>Для маршрутов из таблицы ответы уже известны. Это обучающая выборка. Для нового маршрута мы будем знать длину, но не время. Если подбирать модель, заглядывая в правильный ответ нового объекта, честного предсказания уже не получится.</ns3:t>
            </ns3:r>
          </ns3:p>
          <ns4:p xmlns:ns4="http://schemas.openxmlformats.org/drawingml/2006/main">
            <ns4:r>
              <ns4:t>Регрессия означает, что предсказываем числовую величину. На картинке время обычно растёт с длиной, но точки не обязаны лежать идеально на одной прямой. Пока работаем с пятью точками, чтобы все вычисления можно было проверить руками.</ns4:t>
            </ns4:r>
          </ns4:p>
          <ns5:p xmlns:ns5="http://schemas.openxmlformats.org/drawingml/2006/main">
            <ns5:r>
              <ns5:t>ПОКАЗАТЬ И СПРОСИТЬ</ns5:t>
            </ns5:r>
          </ns5:p>
          <ns6:p xmlns:ns6="http://schemas.openxmlformats.org/drawingml/2006/main">
            <ns6:r>
              <ns6:t>Покажите одну точку и попросите назвать её признак и ответ. Ответ: горизонтальная координата — x, вертикальная — y.</ns6:t>
            </ns6:r>
          </ns6:p>
          <ns7:p xmlns:ns7="http://schemas.openxmlformats.org/drawingml/2006/main">
            <ns7:r>
              <ns7:t>НЕ ЗАБЫТЬ</ns7:t>
            </ns7:r>
          </ns7:p>
          <ns8:p xmlns:ns8="http://schemas.openxmlformats.org/drawingml/2006/main">
            <ns8:r>
              <ns8:t>Не вводите все термины сразу. Сначала объект и признак, затем ответ и выборка. Числовые коды классов сами по себе не превращают классификацию в регрессию.</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3. Уравнение прямой. Первая пара: 3–5 мин.</ns0:t>
            </ns0:r>
          </ns0:p>
          <ns1:p xmlns:ns1="http://schemas.openxmlformats.org/drawingml/2006/main">
            <ns1:r>
              <ns1:t>ТЕКСТ РАССКАЗА</ns1:t>
            </ns1:r>
          </ns1:p>
          <ns2:p xmlns:ns2="http://schemas.openxmlformats.org/drawingml/2006/main">
            <ns2:r>
              <ns2:t>Договоримся искать зависимость среди прямых. Формула прогноза: игрек с крышкой равен вэ умножить на икс плюс бэ. Крышка отличает предсказание модели от известного правильного ответа.</ns2:t>
            </ns2:r>
          </ns2:p>
          <ns3:p xmlns:ns3="http://schemas.openxmlformats.org/drawingml/2006/main">
            <ns3:r>
              <ns3:t>Вес вэ отвечает за наклон. Если икс увеличился на единицу, прогноз меняется на вэ. Положительный вес даёт рост, отрицательный — убывание. Бэ — свободный коэффициент: при икс, равном нулю, модель предсказывает именно бэ. Если увеличить только бэ, вся прямая поднимется.</ns3:t>
            </ns3:r>
          </ns3:p>
          <ns4:p xmlns:ns4="http://schemas.openxmlformats.org/drawingml/2006/main">
            <ns4:r>
              <ns4:t>Здесь принципиально различать данные и параметры. Координаты наших объектов уже даны. Обучение не передвигает точки: оно меняет два числа, которые задают прямую.</ns4:t>
            </ns4:r>
          </ns4:p>
          <ns5:p xmlns:ns5="http://schemas.openxmlformats.org/drawingml/2006/main">
            <ns5:r>
              <ns5:t>ПОКАЗАТЬ И СПРОСИТЬ</ns5:t>
            </ns5:r>
          </ns5:p>
          <ns6:p xmlns:ns6="http://schemas.openxmlformats.org/drawingml/2006/main">
            <ns6:r>
              <ns6:t>Нарисуйте на доске две параллельные прямые с разными b, затем две прямые с одинаковым b и разными w. Спросите прогноз при x = 2, w = 2, b = 1. Ответ: 5.</ns6:t>
            </ns6:r>
          </ns6:p>
          <ns7:p xmlns:ns7="http://schemas.openxmlformats.org/drawingml/2006/main">
            <ns7:r>
              <ns7:t>НЕ ЗАБЫТЬ</ns7:t>
            </ns7:r>
          </ns7:p>
          <ns8:p xmlns:ns8="http://schemas.openxmlformats.org/drawingml/2006/main">
            <ns8:r>
              <ns8:t>Функция wx + b строго называется аффинной при ненулевом b; в ML такую модель обычно называют линейной. Это можно пояснить одной фразой, если возникнет вопрос.</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4. Одна модель, разные параметры. Первая пара: 5–7 мин.</ns0:t>
            </ns0:r>
          </ns0:p>
          <ns1:p xmlns:ns1="http://schemas.openxmlformats.org/drawingml/2006/main">
            <ns1:r>
              <ns1:t>ТЕКСТ РАССКАЗА</ns1:t>
            </ns1:r>
          </ns1:p>
          <ns2:p xmlns:ns2="http://schemas.openxmlformats.org/drawingml/2006/main">
            <ns2:r>
              <ns2:t>У нас одно семейство моделей, но два набора параметров. У модели A вес два и сдвиг один. У модели B вес один и сдвиг два. Обе линии — прямые: никакого квадрата икса в прогнозе нет.</ns2:t>
            </ns2:r>
          </ns2:p>
          <ns3:p xmlns:ns3="http://schemas.openxmlformats.org/drawingml/2006/main">
            <ns3:r>
              <ns3:t>Какая прямая лучше? Можно смотреть на картинку, но хочется общего правила, которое сможет применить компьютер. Нам нужно число: насколько сильно модель ошибается на всей выборке. После этого можно будет сравнивать не только две прямые, но и тысячи вариантов параметров.</ns3:t>
            </ns3:r>
          </ns3:p>
          <ns4:p xmlns:ns4="http://schemas.openxmlformats.org/drawingml/2006/main">
            <ns4:r>
              <ns4:t>ПОКАЗАТЬ И СПРОСИТЬ</ns4:t>
            </ns4:r>
          </ns4:p>
          <ns5:p xmlns:ns5="http://schemas.openxmlformats.org/drawingml/2006/main">
            <ns5:r>
              <ns5:t>Покажите пересечение прямых и несколько вертикальных расстояний до точек. Дайте детям предложить способ сравнения, не требуя сразу назвать MSE.</ns5:t>
            </ns5:r>
          </ns5:p>
          <ns6:p xmlns:ns6="http://schemas.openxmlformats.org/drawingml/2006/main">
            <ns6:r>
              <ns6:t>НЕ ЗАБЫТЬ</ns6:t>
            </ns6:r>
          </ns6:p>
          <ns7:p xmlns:ns7="http://schemas.openxmlformats.org/drawingml/2006/main">
            <ns7:r>
              <ns7:t>На этом графике по горизонтали меняется вход x. Это ещё не график функции ошибки по параметру.</ns7:t>
            </ns7:r>
          </ns7:p>
          <ns8:p xmlns:ns8="http://schemas.openxmlformats.org/drawingml/2006/main">
            <ns8:r>
              <ns8:t>Автор: Банцевич Максим. Основа: хендбук Яндекса. Источники: https://contest.yandex.ru/tracks/ml/supervised-learning/linear-models ; https://contest.yandex.ru/tracks/ml/optimization-in-machine-learning/optimization-in-machine-learning</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5. Ошибка одного предсказания. Первая пара: 7–10 мин.</ns0:t>
            </ns0:r>
          </ns0:p>
          <ns1:p xmlns:ns1="http://schemas.openxmlformats.org/drawingml/2006/main">
            <ns1:r>
              <ns1:t>ТЕКСТ РАССКАЗА</ns1:t>
            </ns1:r>
          </ns1:p>
          <ns2:p xmlns:ns2="http://schemas.openxmlformats.org/drawingml/2006/main">
            <ns2:r>
              <ns2:t>Начнём с одного объекта. Остатком назовём прогноз минус правильный ответ. На третьей точке A предсказывает пять, а ответ равен четырём. Остаток плюс один. На пятой точке прогноз девять при ответе десять. Остаток минус один.</ns2:t>
            </ns2:r>
          </ns2:p>
          <ns3:p xmlns:ns3="http://schemas.openxmlformats.org/drawingml/2006/main">
            <ns3:r>
              <ns3:t>Знак полезен: он сообщает, завысили мы ответ или занизили. Но если просто сложить эти остатки, получим ноль. Модель при этом не попала ни в одну из двух точек. Значит, сумму ошибок со знаком нельзя использовать как меру общей точности.</ns3:t>
            </ns3:r>
          </ns3:p>
          <ns4:p xmlns:ns4="http://schemas.openxmlformats.org/drawingml/2006/main">
            <ns4:r>
              <ns4:t>ПОКАЗАТЬ И СПРОСИТЬ</ns4:t>
            </ns4:r>
          </ns4:p>
          <ns5:p xmlns:ns5="http://schemas.openxmlformats.org/drawingml/2006/main">
            <ns5:r>
              <ns5:t>Запишите на доске +1 + (−1) = 0. Спросите, означает ли это идеальный прогноз. Дождитесь явного ответа «нет».</ns5:t>
            </ns5:r>
          </ns5:p>
          <ns6:p xmlns:ns6="http://schemas.openxmlformats.org/drawingml/2006/main">
            <ns6:r>
              <ns6:t>НЕ ЗАБЫТЬ</ns6:t>
            </ns6:r>
          </ns6:p>
          <ns7:p xmlns:ns7="http://schemas.openxmlformats.org/drawingml/2006/main">
            <ns7:r>
              <ns7:t>Везде сохраняйте соглашение e = прогноз − ответ. При обратном соглашении формулы производных надо менять согласованно.</ns7:t>
            </ns7:r>
          </ns7:p>
          <ns8:p xmlns:ns8="http://schemas.openxmlformats.org/drawingml/2006/main">
            <ns8:r>
              <ns8:t>Автор: Банцевич Максим. Основа: хендбук Яндекса. Источники: https://contest.yandex.ru/tracks/ml/supervised-learning/linear-models ; https://contest.yandex.ru/tracks/ml/optimization-in-machine-learning/optimization-in-machine-learning</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6. Средний квадрат ошибки. Первая пара: 10–14 мин.</ns0:t>
            </ns0:r>
          </ns0:p>
          <ns1:p xmlns:ns1="http://schemas.openxmlformats.org/drawingml/2006/main">
            <ns1:r>
              <ns1:t>ТЕКСТ РАССКАЗА</ns1:t>
            </ns1:r>
          </ns1:p>
          <ns2:p xmlns:ns2="http://schemas.openxmlformats.org/drawingml/2006/main">
            <ns2:r>
              <ns2:t>Уберём взаимное уничтожение ошибок: возведём каждый остаток в квадрат. Потом сложим квадраты и разделим на количество объектов. Получили средний квадрат ошибки, MSE. Буква L обозначает функцию потерь: она принимает параметры модели и возвращает одно число.</ns2:t>
            </ns2:r>
          </ns2:p>
          <ns3:p xmlns:ns3="http://schemas.openxmlformats.org/drawingml/2006/main">
            <ns3:r>
              <ns3:t>Для A квадраты ошибок — ноль, ноль, один, ноль, один. Сумма два, объектов пять, MSE равна 0,4. Для B сумма квадратов равна двадцати одному, MSE — 4,2. По этому критерию A лучше.</ns3:t>
            </ns3:r>
          </ns3:p>
          <ns4:p xmlns:ns4="http://schemas.openxmlformats.org/drawingml/2006/main">
            <ns4:r>
              <ns4:t>Квадрат особенно сильно штрафует большие промахи: ошибка четыре даёт шестнадцать, а не четыре. Это свойство выбранной меры качества, а не универсальный закон. Можно было выбрать модуль, но сегодня квадрат удобен ещё и для вычисления производных.</ns4:t>
            </ns4:r>
          </ns4:p>
          <ns5:p xmlns:ns5="http://schemas.openxmlformats.org/drawingml/2006/main">
            <ns5:r>
              <ns5:t>Теперь задачу можно сформулировать точно: подобрать вэ и бэ так, чтобы L стала как можно меньше.</ns5:t>
            </ns5:r>
          </ns5:p>
          <ns6:p xmlns:ns6="http://schemas.openxmlformats.org/drawingml/2006/main">
            <ns6:r>
              <ns6:t>ПОКАЗАТЬ И СПРОСИТЬ</ns6:t>
            </ns6:r>
          </ns6:p>
          <ns7:p xmlns:ns7="http://schemas.openxmlformats.org/drawingml/2006/main">
            <ns7:r>
              <ns7:t>Проведите расчёт для A вместе с классом. Для B достаточно проверить последний остаток −4 и его квадрат 16. Объясните значок суммы как короткую запись сложения пяти слагаемых.</ns7:t>
            </ns7:r>
          </ns7:p>
          <ns8:p xmlns:ns8="http://schemas.openxmlformats.org/drawingml/2006/main">
            <ns8:r>
              <ns8:t>НЕ ЗАБЫТЬ</ns8:t>
            </ns8:r>
          </ns8:p>
          <ns9:p xmlns:ns9="http://schemas.openxmlformats.org/drawingml/2006/main">
            <ns9:r>
              <ns9:t>Не путайте MSE и RMSE. Корень из MSE здесь не берём. Если время измеряется в минутах, MSE измеряется в квадратных минутах.</ns9:t>
            </ns9:r>
          </ns9:p>
          <ns10:p xmlns:ns10="http://schemas.openxmlformats.org/drawingml/2006/main">
            <ns10:r>
              <ns10:t>Автор: Банцевич Максим. Основа: хендбук Яндекса. Источники: https://contest.yandex.ru/tracks/ml/supervised-learning/linear-models ; https://contest.yandex.ru/tracks/ml/optimization-in-machine-learning/optimization-in-machine-learning</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7. Геометрический смысл MSE. Первая пара: 14–17 мин.</ns0:t>
            </ns0:r>
          </ns0:p>
          <ns1:p xmlns:ns1="http://schemas.openxmlformats.org/drawingml/2006/main">
            <ns1:r>
              <ns1:t>ТЕКСТ РАССКАЗА</ns1:t>
            </ns1:r>
          </ns1:p>
          <ns2:p xmlns:ns2="http://schemas.openxmlformats.org/drawingml/2006/main">
            <ns2:r>
              <ns2:t>Теперь узнаем знакомую геометрию. Соберём все правильные ответы в один вектор, а все прогнозы — в другой. У этих векторов по пять координат, потому что объектов пять. Это не векторы признаков одного объекта, а ответы на всю выборку.</ns2:t>
            </ns2:r>
          </ns2:p>
          <ns3:p xmlns:ns3="http://schemas.openxmlformats.org/drawingml/2006/main">
            <ns3:r>
              <ns3:t>Разность векторов состоит из наших остатков. Квадрат евклидовой нормы разности — сумма квадратов координат. Поэтому MSE можно записать как квадрат расстояния между вектором прогнозов и вектором ответов, делённый на число объектов.</ns3:t>
            </ns3:r>
          </ns3:p>
          <ns4:p xmlns:ns4="http://schemas.openxmlformats.org/drawingml/2006/main">
            <ns4:r>
              <ns4:t>Если уменьшаем неотрицательное расстояние, уменьшается и его квадрат. Значит, положение лучшей модели у этих критериев совпадает. Но сами значения и производные различаются. Для обучения дальше используем именно MSE.</ns4:t>
            </ns4:r>
          </ns4:p>
          <ns5:p xmlns:ns5="http://schemas.openxmlformats.org/drawingml/2006/main">
            <ns5:r>
              <ns5:t>ПОКАЗАТЬ И СПРОСИТЬ</ns5:t>
            </ns5:r>
          </ns5:p>
          <ns6:p xmlns:ns6="http://schemas.openxmlformats.org/drawingml/2006/main">
            <ns6:r>
              <ns6:t>Свяжите формулу с уже знакомой L2-нормой. Попросите назвать размерность вектора ответов на наших данных. Ответ: пять.</ns6:t>
            </ns6:r>
          </ns6:p>
          <ns7:p xmlns:ns7="http://schemas.openxmlformats.org/drawingml/2006/main">
            <ns7:r>
              <ns7:t>НЕ ЗАБЫТЬ</ns7:t>
            </ns7:r>
          </ns7:p>
          <ns8:p xmlns:ns8="http://schemas.openxmlformats.org/drawingml/2006/main">
            <ns8:r>
              <ns8:t>Расстояния на графике модели вертикальные. Мы не минимизируем перпендикулярные расстояния от точек до прямой.</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8. Минимум квадратичной функции. Первая пара: 17–20 мин.</ns0:t>
            </ns0:r>
          </ns0:p>
          <ns1:p xmlns:ns1="http://schemas.openxmlformats.org/drawingml/2006/main">
            <ns1:r>
              <ns1:t>ТЕКСТ РАССКАЗА</ns1:t>
            </ns1:r>
          </ns1:p>
          <ns2:p xmlns:ns2="http://schemas.openxmlformats.org/drawingml/2006/main">
            <ns2:r>
              <ns2:t>Чтобы понять минимизацию ошибки, временно возьмём функцию одной переменной. Перед нами тэ в квадрате минус шесть тэ плюс одиннадцать. Её можно переписать как квадрат тэ минус три плюс два.</ns2:t>
            </ns2:r>
          </ns2:p>
          <ns3:p xmlns:ns3="http://schemas.openxmlformats.org/drawingml/2006/main">
            <ns3:r>
              <ns3:t>Квадрат любого вещественного числа неотрицателен. Самое маленькое значение квадрата — ноль. Оно получится при тэ, равном трём. Поэтому минимальное значение всей функции — два, а точка минимума — три.</ns3:t>
            </ns3:r>
          </ns3:p>
          <ns4:p xmlns:ns4="http://schemas.openxmlformats.org/drawingml/2006/main">
            <ns4:r>
              <ns4:t>Различайте эти два ответа: где достигается минимум и чему равна функция в минимуме. Это разные числа. В обучении нам нужны параметры, при которых ошибка минимальна, а не только значение самой ошибки.</ns4:t>
            </ns4:r>
          </ns4:p>
          <ns5:p xmlns:ns5="http://schemas.openxmlformats.org/drawingml/2006/main">
            <ns5:r>
              <ns5:t>ПОКАЗАТЬ И СПРОСИТЬ</ns5:t>
            </ns5:r>
          </ns5:p>
          <ns6:p xmlns:ns6="http://schemas.openxmlformats.org/drawingml/2006/main">
            <ns6:r>
              <ns6:t>Раскройте (t − 3)² + 2 на доске. На графике укажите точку (3, 2) и отдельно её горизонтальную и вертикальную координаты.</ns6:t>
            </ns6:r>
          </ns6:p>
          <ns7:p xmlns:ns7="http://schemas.openxmlformats.org/drawingml/2006/main">
            <ns7:r>
              <ns7:t>НЕ ЗАБЫТЬ</ns7:t>
            </ns7:r>
          </ns7:p>
          <ns8:p xmlns:ns8="http://schemas.openxmlformats.org/drawingml/2006/main">
            <ns8:r>
              <ns8:t>Ищем минимум по всей вещественной прямой. Нельзя переносить рассуждение про квадрат на любую функцию без проверки её вида.</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9. Корни и минимум функции. Первая пара: 20–22 мин.</ns0:t>
            </ns0:r>
          </ns0:p>
          <ns1:p xmlns:ns1="http://schemas.openxmlformats.org/drawingml/2006/main">
            <ns1:r>
              <ns1:t>ТЕКСТ РАССКАЗА</ns1:t>
            </ns1:r>
          </ns1:p>
          <ns2:p xmlns:ns2="http://schemas.openxmlformats.org/drawingml/2006/main">
            <ns2:r>
              <ns2:t>Решить уравнение и минимизировать функцию — разные задачи. Уравнение q от тэ равно нулю спрашивает, где график пересекает горизонтальную ось. Наша парабола вообще не пересекает эту ось: её значения не меньше двух.</ns2:t>
            </ns2:r>
          </ns2:p>
          <ns3:p xmlns:ns3="http://schemas.openxmlformats.org/drawingml/2006/main">
            <ns3:r>
              <ns3:t>Но задача минимизации отлично решается: наименьшее значение равно двум и достигается при тэ, равном трём. Отсутствие корней не означает отсутствия минимума.</ns3:t>
            </ns3:r>
          </ns3:p>
          <ns4:p xmlns:ns4="http://schemas.openxmlformats.org/drawingml/2006/main">
            <ns4:r>
              <ns4:t>С ошибкой модели происходит то же самое. Мы ищем наименьшую возможную ошибку выбранного семейства моделей. Если точки не лежат на прямой, нулевой MSE у линейной модели может вообще не быть.</ns4:t>
            </ns4:r>
          </ns4:p>
          <ns5:p xmlns:ns5="http://schemas.openxmlformats.org/drawingml/2006/main">
            <ns5:r>
              <ns5:t>ПОКАЗАТЬ И СПРОСИТЬ</ns5:t>
            </ns5:r>
          </ns5:p>
          <ns6:p xmlns:ns6="http://schemas.openxmlformats.org/drawingml/2006/main">
            <ns6:r>
              <ns6:t>Спросите: «Если MSE после обучения положительна, обязательно ли в программе ошибка?» Ответ: нет; важно, насколько близко она к достижимому минимуму и как модель работает на новых объектах.</ns6:t>
            </ns6:r>
          </ns6:p>
          <ns7:p xmlns:ns7="http://schemas.openxmlformats.org/drawingml/2006/main">
            <ns7:r>
              <ns7:t>НЕ ЗАБЫТЬ</ns7:t>
            </ns7:r>
          </ns7:p>
          <ns8:p xmlns:ns8="http://schemas.openxmlformats.org/drawingml/2006/main">
            <ns8:r>
              <ns8:t>Не обещайте нулевую ошибку. Если всплывёт исходная формулировка про квадратное уравнение, явно отделите поиск корней от поиска минимума.</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10. Почему ошибка квадратична. Первая пара: 22–25 мин.</ns0:t>
            </ns0:r>
          </ns0:p>
          <ns1:p xmlns:ns1="http://schemas.openxmlformats.org/drawingml/2006/main">
            <ns1:r>
              <ns1:t>ТЕКСТ РАССКАЗА</ns1:t>
            </ns1:r>
          </ns1:p>
          <ns2:p xmlns:ns2="http://schemas.openxmlformats.org/drawingml/2006/main">
            <ns2:r>
              <ns2:t>Почему для прямой мы обсуждаем квадратичную функцию? Вспомним: прогноз линейный, но в MSE мы возводим остатки в квадрат. Если временно закрепить бэ равным единице, останется только неизвестный вес.</ns2:t>
            </ns2:r>
          </ns2:p>
          <ns3:p xmlns:ns3="http://schemas.openxmlformats.org/drawingml/2006/main">
            <ns3:r>
              <ns3:t>Для первой точки икс равен нулю, ответ единица. Сдвиг тоже единица, поэтому её ошибка равна нулю при любом весе — в записи остались четыре слагаемых. Для второй точки остаток вэ минус два, для третьей — два вэ минус три, и так далее.</ns3:t>
            </ns3:r>
          </ns3:p>
          <ns4:p xmlns:ns4="http://schemas.openxmlformats.org/drawingml/2006/main">
            <ns4:r>
              <ns4:t>Раскрывая квадраты, получаем шесть вэ в квадрате минус 24,8 вэ плюс 26. Это функция ошибки по весу, а не новый способ предсказывать ответ. Когда разрешим менять и бэ, ошибка станет квадратичной функцией двух параметров.</ns4:t>
            </ns4:r>
          </ns4:p>
          <ns5:p xmlns:ns5="http://schemas.openxmlformats.org/drawingml/2006/main">
            <ns5:r>
              <ns5:t>ПОКАЗАТЬ И СПРОСИТЬ</ns5:t>
            </ns5:r>
          </ns5:p>
          <ns6:p xmlns:ns6="http://schemas.openxmlformats.org/drawingml/2006/main">
            <ns6:r>
              <ns6:t>Разберите происхождение одного слагаемого: при x = 2 и y = 4 остаток равен 2w + 1 − 4. Все коэффициенты многочлена раскрывать у доски необязательно.</ns6:t>
            </ns6:r>
          </ns6:p>
          <ns7:p xmlns:ns7="http://schemas.openxmlformats.org/drawingml/2006/main">
            <ns7:r>
              <ns7:t>НЕ ЗАБЫТЬ</ns7:t>
            </ns7:r>
          </ns7:p>
          <ns8:p xmlns:ns8="http://schemas.openxmlformats.org/drawingml/2006/main">
            <ns8:r>
              <ns8:t>Срез b = 1 не даёт полный оптимум по двум параметрам. Его минимум достигается при w = 31/15 ≈ 2,067 и MSE ≈ 0,3733.</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11. График модели и график ошибки. Первая пара: 25–28 мин.</ns0:t>
            </ns0:r>
          </ns0:p>
          <ns1:p xmlns:ns1="http://schemas.openxmlformats.org/drawingml/2006/main">
            <ns1:r>
              <ns1:t>ТЕКСТ РАССКАЗА</ns1:t>
            </ns1:r>
          </ns1:p>
          <ns2:p xmlns:ns2="http://schemas.openxmlformats.org/drawingml/2006/main">
            <ns2:r>
              <ns2:t>Посмотрите на подписи осей: слева икс и игрек, справа вес и MSE. Это два совершенно разных вопроса.</ns2:t>
            </ns2:r>
          </ns2:p>
          <ns3:p xmlns:ns3="http://schemas.openxmlformats.org/drawingml/2006/main">
            <ns3:r>
              <ns3:t>Слева модель уже выбрана. Мы даём ей объект и читаем прогноз. Если меняется икс, двигаемся по прямой. Справа объекты и правильные ответы уже зафиксированы. Меняем вес, каждый раз считаем прогнозы для всей выборки и получаем одно число ошибки.</ns3:t>
            </ns3:r>
          </ns3:p>
          <ns4:p xmlns:ns4="http://schemas.openxmlformats.org/drawingml/2006/main">
            <ns4:r>
              <ns4:t>Поэтому прямая слева и парабола справа не противоречат друг другу. Одна картинка показывает работу модели, другая — качество разных моделей. Справа сдвиг всё ещё закреплён равным единице. На полном обучении у функции ошибки два входа: вес и сдвиг.</ns4:t>
            </ns4:r>
          </ns4:p>
          <ns5:p xmlns:ns5="http://schemas.openxmlformats.org/drawingml/2006/main">
            <ns5:r>
              <ns5:t>ПОКАЗАТЬ И СПРОСИТЬ</ns5:t>
            </ns5:r>
          </ns5:p>
          <ns6:p xmlns:ns6="http://schemas.openxmlformats.org/drawingml/2006/main">
            <ns6:r>
              <ns6:t>Дайте два действия: «получить прогноз на новом x» и «выбрать более удачный w». Попросите показать, к какому графику относится каждое действие.</ns6:t>
            </ns6:r>
          </ns6:p>
          <ns7:p xmlns:ns7="http://schemas.openxmlformats.org/drawingml/2006/main">
            <ns7:r>
              <ns7:t>НЕ ЗАБЫТЬ</ns7:t>
            </ns7:r>
          </ns7:p>
          <ns8:p xmlns:ns8="http://schemas.openxmlformats.org/drawingml/2006/main">
            <ns8:r>
              <ns8:t>Это ключевой переход. Не двигайтесь дальше, пока слушатели не различают вход модели x и аргументы функции потерь w, b.</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12. Производная как локальный наклон. Первая пара: 28–35 мин.</ns0:t>
            </ns0:r>
          </ns0:p>
          <ns1:p xmlns:ns1="http://schemas.openxmlformats.org/drawingml/2006/main">
            <ns1:r>
              <ns1:t>ТЕКСТ РАССКАЗА</ns1:t>
            </ns1:r>
          </ns1:p>
          <ns2:p xmlns:ns2="http://schemas.openxmlformats.org/drawingml/2006/main">
            <ns2:r>
              <ns2:t>Нужен способ понять, в какую сторону менять параметр. Для этого вводится производная. Возьмём точку тэ, сдвинемся на небольшое ненулевое число аш и посмотрим, на сколько изменилось значение функции. Разделим изменение функции на изменение аргумента. Это средний наклон на коротком участке.</ns2:t>
            </ns2:r>
          </ns2:p>
          <ns3:p xmlns:ns3="http://schemas.openxmlformats.org/drawingml/2006/main">
            <ns3:r>
              <ns3:t>Теперь будем брать аш всё ближе к нулю. Если отношение приближается к определённому числу, его называют производной в данной точке. Предел — название этого приближения. Нельзя просто подставить аш, равное нулю, в исходную дробь: там будет деление на ноль.</ns3:t>
            </ns3:r>
          </ns3:p>
          <ns4:p xmlns:ns4="http://schemas.openxmlformats.org/drawingml/2006/main">
            <ns4:r>
              <ns4:t>Для нашей параболы вычисление получается коротким. Разность квадратов после раскрытия даёт два умножить на тэ минус три, умножить на аш, плюс аш в квадрате. Делим на ненулевое аш: остаётся два умножить на тэ минус три плюс аш. В пределе последнее слагаемое исчезает.</ns4:t>
            </ns4:r>
          </ns4:p>
          <ns5:p xmlns:ns5="http://schemas.openxmlformats.org/drawingml/2006/main">
            <ns5:r>
              <ns5:t>Итак, производная равна двум умножить на тэ минус три. Она сообщает локальный наклон, а не само значение функции. Слева от вершины наклон отрицательный, справа положительный.</ns5:t>
            </ns5:r>
          </ns5:p>
          <ns6:p xmlns:ns6="http://schemas.openxmlformats.org/drawingml/2006/main">
            <ns6:r>
              <ns6:t>ПОКАЗАТЬ И СПРОСИТЬ</ns6:t>
            </ns6:r>
          </ns6:p>
          <ns7:p xmlns:ns7="http://schemas.openxmlformats.org/drawingml/2006/main">
            <ns7:r>
              <ns7:t>На доске последовательно запишите q(t + h) − q(t) = 2(t − 3)h + h², затем разделите на h. Подставьте t = 0 и t = 4: производные −6 и 2. Нарисуйте короткие секущие, приближающиеся к касательной.</ns7:t>
            </ns7:r>
          </ns7:p>
          <ns8:p xmlns:ns8="http://schemas.openxmlformats.org/drawingml/2006/main">
            <ns8:r>
              <ns8:t>НЕ ЗАБЫТЬ</ns8:t>
            </ns8:r>
          </ns8:p>
          <ns9:p xmlns:ns9="http://schemas.openxmlformats.org/drawingml/2006/main">
            <ns9:r>
              <ns9:t>Поскольку производная может быть новой темой, не ссылайтесь только на таблицу производных. Покажите происхождение формулы из школьного раскрытия квадратов.</ns9:t>
            </ns9:r>
          </ns9:p>
          <ns10:p xmlns:ns10="http://schemas.openxmlformats.org/drawingml/2006/main">
            <ns10:r>
              <ns10:t>Автор: Банцевич Максим. Основа: хендбук Яндекса. Источники: https://contest.yandex.ru/tracks/ml/supervised-learning/linear-models ; https://contest.yandex.ru/tracks/ml/optimization-in-machine-learning/optimization-in-machine-learning</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13. Знак производной и минимум. Первая пара: 35–38 мин.</ns0:t>
            </ns0:r>
          </ns0:p>
          <ns1:p xmlns:ns1="http://schemas.openxmlformats.org/drawingml/2006/main">
            <ns1:r>
              <ns1:t>ТЕКСТ РАССКАЗА</ns1:t>
            </ns1:r>
          </ns1:p>
          <ns2:p xmlns:ns2="http://schemas.openxmlformats.org/drawingml/2006/main">
            <ns2:r>
              <ns2:t>Если производная положительна, при небольшом движении вправо функция растёт. Чтобы уменьшать её, разумно двигаться влево. Если производная отрицательна, небольшое движение вправо уменьшает значение функции.</ns2:t>
            </ns2:r>
          </ns2:p>
          <ns3:p xmlns:ns3="http://schemas.openxmlformats.org/drawingml/2006/main">
            <ns3:r>
              <ns3:t>У нашей параболы в точке три производная равна нулю. Здесь мы уже знаем по выделению квадрата, что это минимум. Но для произвольной функции из нулевой производной минимум не следует. Например, у минус тэ в квадрате производная в нуле тоже нулевая, а там максимум. У тэ в кубе нулевая производная в нуле вообще не даёт экстремума.</ns3:t>
            </ns3:r>
          </ns3:p>
          <ns4:p xmlns:ns4="http://schemas.openxmlformats.org/drawingml/2006/main">
            <ns4:r>
              <ns4:t>Сегодня будем использовать знак производной для движения и отдельное свойство квадратичной ошибки для гарантии минимума.</ns4:t>
            </ns4:r>
          </ns4:p>
          <ns5:p xmlns:ns5="http://schemas.openxmlformats.org/drawingml/2006/main">
            <ns5:r>
              <ns5:t>ПОКАЗАТЬ И СПРОСИТЬ</ns5:t>
            </ns5:r>
          </ns5:p>
          <ns6:p xmlns:ns6="http://schemas.openxmlformats.org/drawingml/2006/main">
            <ns6:r>
              <ns6:t>Попросите выбрать направление движения из t = 0 и из t = 5. Ответы: вправо и влево. Для контрпримеров достаточно маленьких эскизов.</ns6:t>
            </ns6:r>
          </ns6:p>
          <ns7:p xmlns:ns7="http://schemas.openxmlformats.org/drawingml/2006/main">
            <ns7:r>
              <ns7:t>НЕ ЗАБЫТЬ</ns7:t>
            </ns7:r>
          </ns7:p>
          <ns8:p xmlns:ns8="http://schemas.openxmlformats.org/drawingml/2006/main">
            <ns8:r>
              <ns8:t>Говорите про локальное изменение. Один очень большой шаг может перескочить через минимум и увеличить функцию.</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14. Итерационный поиск минимума. Первая пара: 38–41 мин.</ns0:t>
            </ns0:r>
          </ns0:p>
          <ns1:p xmlns:ns1="http://schemas.openxmlformats.org/drawingml/2006/main">
            <ns1:r>
              <ns1:t>ТЕКСТ РАССКАЗА</ns1:t>
            </ns1:r>
          </ns1:p>
          <ns2:p xmlns:ns2="http://schemas.openxmlformats.org/drawingml/2006/main">
            <ns2:r>
              <ns2:t>Соберём направление движения в правило. Берём текущее тэ, вычитаем производную в этой точке, умноженную на положительный шаг эта. Получается новое тэ. Потом повторяем то же действие уже из новой точки.</ns2:t>
            </ns2:r>
          </ns2:p>
          <ns3:p xmlns:ns3="http://schemas.openxmlformats.org/drawingml/2006/main">
            <ns3:r>
              <ns3:t>Номер итерации обозначаем индексом ка. Это номер шага алгоритма, а не номер объекта выборки. Шаг эта задаёт, насколько решительно мы двигаемся. При положительной производной вычитание уменьшает аргумент. При отрицательной производной вычитание отрицательного числа увеличивает его.</ns3:t>
            </ns3:r>
          </ns3:p>
          <ns4:p xmlns:ns4="http://schemas.openxmlformats.org/drawingml/2006/main">
            <ns4:r>
              <ns4:t>Это градиентный спуск в одном измерении. Пока никакого случайного выбора объектов нет: мы просто многократно применяем одно правило.</ns4:t>
            </ns4:r>
          </ns4:p>
          <ns5:p xmlns:ns5="http://schemas.openxmlformats.org/drawingml/2006/main">
            <ns5:r>
              <ns5:t>ПОКАЗАТЬ И СПРОСИТЬ</ns5:t>
            </ns5:r>
          </ns5:p>
          <ns6:p xmlns:ns6="http://schemas.openxmlformats.org/drawingml/2006/main">
            <ns6:r>
              <ns6:t>Прочитайте формулу словами. Спросите, что произойдёт при отрицательной производной, и отдельно подчеркните роль минуса.</ns6:t>
            </ns6:r>
          </ns6:p>
          <ns7:p xmlns:ns7="http://schemas.openxmlformats.org/drawingml/2006/main">
            <ns7:r>
              <ns7:t>НЕ ЗАБЫТЬ</ns7:t>
            </ns7:r>
          </ns7:p>
          <ns8:p xmlns:ns8="http://schemas.openxmlformats.org/drawingml/2006/main">
            <ns8:r>
              <ns8:t>Параметр t меняется во время оптимизации. Шаг η выбираем мы. В задаче ML это пример различия параметров и гиперпараметров.</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15. Несколько шагов вручную. Первая пара: 41–48 мин.</ns0:t>
            </ns0:r>
          </ns0:p>
          <ns1:p xmlns:ns1="http://schemas.openxmlformats.org/drawingml/2006/main">
            <ns1:r>
              <ns1:t>ТЕКСТ РАССКАЗА</ns1:t>
            </ns1:r>
          </ns1:p>
          <ns2:p xmlns:ns2="http://schemas.openxmlformats.org/drawingml/2006/main">
            <ns2:r>
              <ns2:t>Теперь несколько шагов без компьютера. Начинаем из нуля, шаг равен четверти. Производная в нуле минус шесть. Новое значение: ноль минус четверть умножить на минус шесть, то есть полтора.</ns2:t>
            </ns2:r>
          </ns2:p>
          <ns3:p xmlns:ns3="http://schemas.openxmlformats.org/drawingml/2006/main">
            <ns3:r>
              <ns3:t>В точке полтора производная минус три. Следующее значение — 2,25. Теперь ваша очередь: производная минус полтора. Какое новое значение? Получаем 2,625. Ещё один шаг даёт 2,8125.</ns3:t>
            </ns3:r>
          </ns3:p>
          <ns4:p xmlns:ns4="http://schemas.openxmlformats.org/drawingml/2006/main">
            <ns4:r>
              <ns4:t>Мы каждый раз приближаемся к трём. Расстояния до точки минимума: три, полтора, 0,75, 0,375. Здесь расстояние уменьшается вдвое. Заметьте, алгоритму не требовалось заранее знать ответ три: для следующего шага хватало текущей точки и производной.</ns4:t>
            </ns4:r>
          </ns4:p>
          <ns5:p xmlns:ns5="http://schemas.openxmlformats.org/drawingml/2006/main">
            <ns5:r>
              <ns5:t>ПОКАЗАТЬ И СПРОСИТЬ</ns5:t>
            </ns5:r>
          </ns5:p>
          <ns6:p xmlns:ns6="http://schemas.openxmlformats.org/drawingml/2006/main">
            <ns6:r>
              <ns6:t>Дайте 60–90 секунд дописать две итерации. В оставшееся время попросите одного участника объяснить знак и другого — сравнить расстояния. Если группа считает быстро, сократите этот слайд и отдайте время производной.</ns6:t>
            </ns6:r>
          </ns6:p>
          <ns7:p xmlns:ns7="http://schemas.openxmlformats.org/drawingml/2006/main">
            <ns7:r>
              <ns7:t>НЕ ЗАБЫТЬ</ns7:t>
            </ns7:r>
          </ns7:p>
          <ns8:p xmlns:ns8="http://schemas.openxmlformats.org/drawingml/2006/main">
            <ns8:r>
              <ns8:t>Вычисления: t₃ = 2,625; t₄ = 2,8125. При η = 0,25 множитель расстояния равен 0,5.</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16. Как шаг влияет на сходимость. Первая пара: 48–52 мин.</ns0:t>
            </ns0:r>
          </ns0:p>
          <ns1:p xmlns:ns1="http://schemas.openxmlformats.org/drawingml/2006/main">
            <ns1:r>
              <ns1:t>ТЕКСТ РАССКАЗА</ns1:t>
            </ns1:r>
          </ns1:p>
          <ns2:p xmlns:ns2="http://schemas.openxmlformats.org/drawingml/2006/main">
            <ns2:r>
              <ns2:t>Почему размер шага так важен? Подставим производную в правило обновления и вычтем три из обеих частей. Получим: отклонение на новом шаге равно старому отклонению, умноженному на один минус две эта.</ns2:t>
            </ns2:r>
          </ns2:p>
          <ns3:p xmlns:ns3="http://schemas.openxmlformats.org/drawingml/2006/main">
            <ns3:r>
              <ns3:t>Если модуль множителя меньше единицы, отклонение с каждым шагом уменьшается. Положительный множитель сохраняет сторону относительно минимума. Отрицательный меняет сторону: мы перескакиваем через вершину. Такие перескоки могут быть вполне сходящимися.</ns3:t>
            </ns3:r>
          </ns3:p>
          <ns4:p xmlns:ns4="http://schemas.openxmlformats.org/drawingml/2006/main">
            <ns4:r>
              <ns4:t>При шаге 0,75 множитель минус половина: стороны чередуются, но расстояние убывает. При шаге один множитель минус единица: из нуля будем прыгать между нулём и шестью. При 1,1 расстояние растёт.</ns4:t>
            </ns4:r>
          </ns4:p>
          <ns5:p xmlns:ns5="http://schemas.openxmlformats.org/drawingml/2006/main">
            <ns5:r>
              <ns5:t>Для этой конкретной параболы сходимость из любой начальной точки получается при шаге между нулём и единицей. Для другой функции границы будут другими.</ns5:t>
            </ns5:r>
          </ns5:p>
          <ns6:p xmlns:ns6="http://schemas.openxmlformats.org/drawingml/2006/main">
            <ns6:r>
              <ns6:t>ПОКАЗАТЬ И СПРОСИТЬ</ns6:t>
            </ns6:r>
          </ns6:p>
          <ns7:p xmlns:ns7="http://schemas.openxmlformats.org/drawingml/2006/main">
            <ns7:r>
              <ns7:t>Сведите поведение к числам 0,8; −0,5; −1; −1,2. Можно дополнить устно: η = 0,5 приводит точно в минимум за один шаг.</ns7:t>
            </ns7:r>
          </ns7:p>
          <ns8:p xmlns:ns8="http://schemas.openxmlformats.org/drawingml/2006/main">
            <ns8:r>
              <ns8:t>НЕ ЗАБЫТЬ</ns8:t>
            </ns8:r>
          </ns8:p>
          <ns9:p xmlns:ns9="http://schemas.openxmlformats.org/drawingml/2006/main">
            <ns9:r>
              <ns9:t>Граница 0 &lt; η &lt; 1 относится только к q(t) = (t − 3)² + 2. Не используйте её как универсальный рецепт для линейной регрессии.</ns9:t>
            </ns9:r>
          </ns9:p>
          <ns10:p xmlns:ns10="http://schemas.openxmlformats.org/drawingml/2006/main">
            <ns10:r>
              <ns10:t>Автор: Банцевич Максим. Основа: хендбук Яндекса. Источники: https://contest.yandex.ru/tracks/ml/supervised-learning/linear-models ; https://contest.yandex.ru/tracks/ml/optimization-in-machine-learning/optimization-in-machine-learning</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17. Траектории при разных шагах. Первая пара: 52–55 мин.</ns0:t>
            </ns0:r>
          </ns0:p>
          <ns1:p xmlns:ns1="http://schemas.openxmlformats.org/drawingml/2006/main">
            <ns1:r>
              <ns1:t>ТЕКСТ РАССКАЗА</ns1:t>
            </ns1:r>
          </ns1:p>
          <ns2:p xmlns:ns2="http://schemas.openxmlformats.org/drawingml/2006/main">
            <ns2:r>
              <ns2:t>Здесь показаны значения тэ по итерациям, а не значения самой функции. Все алгоритмы стартуют из нуля и хотят прийти к трём. Различается только шаг.</ns2:t>
            </ns2:r>
          </ns2:p>
          <ns3:p xmlns:ns3="http://schemas.openxmlformats.org/drawingml/2006/main">
            <ns3:r>
              <ns3:t>Первая траектория медленно подползает к трём. Вторая перескакивает через три, но амплитуда колебаний уменьшается. Третья удаляется всё дальше. Поэтому само наличие колебаний ещё не позволяет поставить диагноз. Нужно смотреть, уменьшается ли расстояние до решения и что происходит с ошибкой.</ns3:t>
            </ns3:r>
          </ns3:p>
          <ns4:p xmlns:ns4="http://schemas.openxmlformats.org/drawingml/2006/main">
            <ns4:r>
              <ns4:t>В реальном обучении мы обычно не знаем правильные параметры заранее. Зато можем следить за функцией потерь.</ns4:t>
            </ns4:r>
          </ns4:p>
          <ns5:p xmlns:ns5="http://schemas.openxmlformats.org/drawingml/2006/main">
            <ns5:r>
              <ns5:t>ПОКАЗАТЬ И СПРОСИТЬ</ns5:t>
            </ns5:r>
          </ns5:p>
          <ns6:p xmlns:ns6="http://schemas.openxmlformats.org/drawingml/2006/main">
            <ns6:r>
              <ns6:t>Покажите каждую легенду и напомните значение горизонтальной линии t = 3. Попросите назвать сходящуюся колеблющуюся траекторию.</ns6:t>
            </ns6:r>
          </ns6:p>
          <ns7:p xmlns:ns7="http://schemas.openxmlformats.org/drawingml/2006/main">
            <ns7:r>
              <ns7:t>НЕ ЗАБЫТЬ</ns7:t>
            </ns7:r>
          </ns7:p>
          <ns8:p xmlns:ns8="http://schemas.openxmlformats.org/drawingml/2006/main">
            <ns8:r>
              <ns8:t>Из-за масштаба расходящейся траектории затухающие колебания выглядят небольшими. Объясните это словами, не пытайтесь оценивать точные значения по мелким делениям.</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18. Частные производные и градиент. Первая пара: 55–59 мин.</ns0:t>
            </ns0:r>
          </ns0:p>
          <ns1:p xmlns:ns1="http://schemas.openxmlformats.org/drawingml/2006/main">
            <ns1:r>
              <ns1:t>ТЕКСТ РАССКАЗА</ns1:t>
            </ns1:r>
          </ns1:p>
          <ns2:p xmlns:ns2="http://schemas.openxmlformats.org/drawingml/2006/main">
            <ns2:r>
              <ns2:t>Вернёмся к модели. Теперь ошибка зависит сразу от веса и сдвига. Чтобы изучить изменение по весу, на мгновение закрепим сдвиг. Получим обычную функцию одного переменного параметра и её производную. Это частная производная по весу.</ns2:t>
            </ns2:r>
          </ns2:p>
          <ns3:p xmlns:ns3="http://schemas.openxmlformats.org/drawingml/2006/main">
            <ns3:r>
              <ns3:t>Затем закрепим вес и посмотрим, что происходит при изменении сдвига. Получим вторую частную производную. Соберём оба числа в вектор — это градиент. Порядок координат важен: сначала производная по весу, затем по сдвигу.</ns3:t>
            </ns3:r>
          </ns3:p>
          <ns4:p xmlns:ns4="http://schemas.openxmlformats.org/drawingml/2006/main">
            <ns4:r>
              <ns4:t>Градиент указывает направление наиболее быстрого локального роста при обычном евклидовом измерении длины шага. Чтобы уменьшать функцию, берём противоположное направление. Как и раньше, слишком большой шаг способен испортить результат.</ns4:t>
            </ns4:r>
          </ns4:p>
          <ns5:p xmlns:ns5="http://schemas.openxmlformats.org/drawingml/2006/main">
            <ns5:r>
              <ns5:t>ПОКАЗАТЬ И СПРОСИТЬ</ns5:t>
            </ns5:r>
          </ns5:p>
          <ns6:p xmlns:ns6="http://schemas.openxmlformats.org/drawingml/2006/main">
            <ns6:r>
              <ns6:t>Нарисуйте вид сверху на чашу с двумя осями w и b. Сначала проведите движение вдоль одной оси, затем вдоль другой. Не требуйте пространственного рисунка от каждого.</ns6:t>
            </ns6:r>
          </ns6:p>
          <ns7:p xmlns:ns7="http://schemas.openxmlformats.org/drawingml/2006/main">
            <ns7:r>
              <ns7:t>НЕ ЗАБЫТЬ</ns7:t>
            </ns7:r>
          </ns7:p>
          <ns8:p xmlns:ns8="http://schemas.openxmlformats.org/drawingml/2006/main">
            <ns8:r>
              <ns8:t>Направление наискорейшего роста — локальное утверждение для дифференцируемой функции и евклидовой нормы, а не обещание кратчайшего пути к решению.</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19. Производная квадрата ошибки. Первая пара: 59–66 мин.</ns0:t>
            </ns0:r>
          </ns0:p>
          <ns1:p xmlns:ns1="http://schemas.openxmlformats.org/drawingml/2006/main">
            <ns1:r>
              <ns1:t>ТЕКСТ РАССКАЗА</ns1:t>
            </ns1:r>
          </ns1:p>
          <ns2:p xmlns:ns2="http://schemas.openxmlformats.org/drawingml/2006/main">
            <ns2:r>
              <ns2:t>Осталось понять, откуда берутся формулы для программы. Возьмём один объект. Его остаток — вэ икс плюс бэ минус игрек. Пока меняем вес на аш, икс и правильный ответ остаются неизменными. Новый остаток равен старому плюс аш икс.</ns2:t>
            </ns2:r>
          </ns2:p>
          <ns3:p xmlns:ns3="http://schemas.openxmlformats.org/drawingml/2006/main">
            <ns3:r>
              <ns3:t>Нас интересует квадрат остатка. Раскрываем квадрат суммы, вычитаем старый квадрат и делим на аш. Получается два остатка умножить на икс плюс аш умножить на икс в квадрате. Когда аш стремится к нулю, последнее слагаемое исчезает. Производная квадрата ошибки по весу — два икс умножить на остаток.</ns3:t>
            </ns3:r>
          </ns3:p>
          <ns4:p xmlns:ns4="http://schemas.openxmlformats.org/drawingml/2006/main">
            <ns4:r>
              <ns4:t>Для сдвига ещё проще: прибавка аш к бэ прибавляет аш к остатку. После такого же раскрытия получаем два остатка. Теперь видно, почему в одной формуле есть множитель икс, а в другой его нет. Это не условность и не правило, которое нужно выучить без объяснения.</ns4:t>
            </ns4:r>
          </ns4:p>
          <ns5:p xmlns:ns5="http://schemas.openxmlformats.org/drawingml/2006/main">
            <ns5:r>
              <ns5:t>ПОКАЗАТЬ И СПРОСИТЬ</ns5:t>
            </ns5:r>
          </ns5:p>
          <ns6:p xmlns:ns6="http://schemas.openxmlformats.org/drawingml/2006/main">
            <ns6:r>
              <ns6:t>Разберите левый столбец на доске, правый предложите закончить устно. Явно покажите, что eᵢ в вычислении означает исходный остаток при старых параметрах.</ns6:t>
            </ns6:r>
          </ns6:p>
          <ns7:p xmlns:ns7="http://schemas.openxmlformats.org/drawingml/2006/main">
            <ns7:r>
              <ns7:t>НЕ ЗАБЫТЬ</ns7:t>
            </ns7:r>
          </ns7:p>
          <ns8:p xmlns:ns8="http://schemas.openxmlformats.org/drawingml/2006/main">
            <ns8:r>
              <ns8:t>Производная по w содержит xᵢ, а не xᵢ². Квадрат xᵢ стоит только в исчезающем слагаемом с h. При h → 0 остаётся 2eᵢxᵢ.</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20. Градиент ошибки модели. Первая пара: 66–69 мин.</ns0:t>
            </ns0:r>
          </ns0:p>
          <ns1:p xmlns:ns1="http://schemas.openxmlformats.org/drawingml/2006/main">
            <ns1:r>
              <ns1:t>ТЕКСТ РАССКАЗА</ns1:t>
            </ns1:r>
          </ns1:p>
          <ns2:p xmlns:ns2="http://schemas.openxmlformats.org/drawingml/2006/main">
            <ns2:r>
              <ns2:t>MSE — среднее из квадратов остатков. Производная суммы равна сумме производных, а постоянный множитель одна энная остаётся. Поэтому производная по весу равна удвоенному среднему произведению икса на остаток. По сдвигу — удвоенному среднему остатку.</ns2:t>
            </ns2:r>
          </ns2:p>
          <ns3:p xmlns:ns3="http://schemas.openxmlformats.org/drawingml/2006/main">
            <ns3:r>
              <ns3:t>В этих формулах все объекты участвуют в каждом обновлении. Это полный градиентный спуск. Данные не меняются, а остатки пересчитываются после изменения параметров.</ns3:t>
            </ns3:r>
          </ns3:p>
          <ns4:p xmlns:ns4="http://schemas.openxmlformats.org/drawingml/2006/main">
            <ns4:r>
              <ns4:t>Есть важный порядок действий для кода. Сначала по старым вэ и бэ считаем весь массив ошибок. По одному и тому же массиву получаем обе производные. И только затем меняем параметры. Если пересчитать вторую производную уже после изменения веса, получится другой алгоритм.</ns4:t>
            </ns4:r>
          </ns4:p>
          <ns5:p xmlns:ns5="http://schemas.openxmlformats.org/drawingml/2006/main">
            <ns5:r>
              <ns5:t>ПОКАЗАТЬ И СПРОСИТЬ</ns5:t>
            </ns5:r>
          </ns5:p>
          <ns6:p xmlns:ns6="http://schemas.openxmlformats.org/drawingml/2006/main">
            <ns6:r>
              <ns6:t>Обведите общее выражение wxᵢ + b − yᵢ в двух формулах. Переведите 1/n Σ в знакомое np.mean.</ns6:t>
            </ns6:r>
          </ns6:p>
          <ns7:p xmlns:ns7="http://schemas.openxmlformats.org/drawingml/2006/main">
            <ns7:r>
              <ns7:t>НЕ ЗАБЫТЬ</ns7:t>
            </ns7:r>
          </ns7:p>
          <ns8:p xmlns:ns8="http://schemas.openxmlformats.org/drawingml/2006/main">
            <ns8:r>
              <ns8:t>Индекс i нумерует объекты, k — шаги. В NumPy x * errors означает поэлементное произведение массивов одинаковой формы.</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21. Один шаг обучения вручную. Первая пара: 69–73 мин.</ns0:t>
            </ns0:r>
          </ns0:p>
          <ns1:p xmlns:ns1="http://schemas.openxmlformats.org/drawingml/2006/main">
            <ns1:r>
              <ns1:t>ТЕКСТ РАССКАЗА</ns1:t>
            </ns1:r>
          </ns1:p>
          <ns2:p xmlns:ns2="http://schemas.openxmlformats.org/drawingml/2006/main">
            <ns2:r>
              <ns2:t>Проверим алгоритм на двух точках. Это отдельный небольшой расчёт, чтобы не складывать пять слагаемых. Вначале вес и сдвиг равны нулю, значит, оба прогноза нулевые. Остатки — минус один и минус три.</ns2:t>
            </ns2:r>
          </ns2:p>
          <ns3:p xmlns:ns3="http://schemas.openxmlformats.org/drawingml/2006/main">
            <ns3:r>
              <ns3:t>Множитель два, делённое на число объектов, здесь равен единице. Производная по весу: ноль умножить на минус один плюс один умножить на минус три. Получаем минус три. Производная по сдвигу — сумма остатков, минус четыре.</ns3:t>
            </ns3:r>
          </ns3:p>
          <ns4:p xmlns:ns4="http://schemas.openxmlformats.org/drawingml/2006/main">
            <ns4:r>
              <ns4:t>При шаге 0,1 новые параметры равны 0,3 и 0,4. Новые прогнозы — 0,4 и 0,7. Остатки — минус 0,6 и минус 2,3. Средний квадрат — половина суммы 0,36 и 5,29, то есть 2,825. Было пять: один шаг улучшил модель.</ns4:t>
            </ns4:r>
          </ns4:p>
          <ns5:p xmlns:ns5="http://schemas.openxmlformats.org/drawingml/2006/main">
            <ns5:r>
              <ns5:t>ПОКАЗАТЬ И СПРОСИТЬ</ns5:t>
            </ns5:r>
          </ns5:p>
          <ns6:p xmlns:ns6="http://schemas.openxmlformats.org/drawingml/2006/main">
            <ns6:r>
              <ns6:t>Пусть слушатели сами получат один из градиентов и итоговую MSE. Это удобный маленький пример для поиска ошибки в будущем коде.</ns6:t>
            </ns6:r>
          </ns6:p>
          <ns7:p xmlns:ns7="http://schemas.openxmlformats.org/drawingml/2006/main">
            <ns7:r>
              <ns7:t>НЕ ЗАБЫТЬ</ns7:t>
            </ns7:r>
          </ns7:p>
          <ns8:p xmlns:ns8="http://schemas.openxmlformats.org/drawingml/2006/main">
            <ns8:r>
              <ns8:t>Не смешивайте эти две точки с основным набором из пяти. Здесь другие коэффициенты и другой начальный loss.</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22. Цикл обучения. Первая пара: 73–76 мин.</ns0:t>
            </ns0:r>
          </ns0:p>
          <ns1:p xmlns:ns1="http://schemas.openxmlformats.org/drawingml/2006/main">
            <ns1:r>
              <ns1:t>ТЕКСТ РАССКАЗА</ns1:t>
            </ns1:r>
          </ns1:p>
          <ns2:p xmlns:ns2="http://schemas.openxmlformats.org/drawingml/2006/main">
            <ns2:r>
              <ns2:t>Теперь весь алгоритм помещается в один цикл. Вычислить прогнозы, вычесть правильные ответы, по остаткам посчитать обе производные, обновить параметры. Затем повторить.</ns2:t>
            </ns2:r>
          </ns2:p>
          <ns3:p xmlns:ns3="http://schemas.openxmlformats.org/drawingml/2006/main">
            <ns3:r>
              <ns3:t>Остановиться можно после заданного числа итераций. Можно добавить условие, что градиент стал достаточно мал, но ограничение числа шагов всё равно полезно. Для практики нам хватит фиксированного количества итераций.</ns3:t>
            </ns3:r>
          </ns3:p>
          <ns4:p xmlns:ns4="http://schemas.openxmlformats.org/drawingml/2006/main">
            <ns4:r>
              <ns4:t>Параметры вэ и бэ подбираются в ходе обучения. Шаг и число итераций мы задаём снаружи — это настройки алгоритма. Во время обучения сохраняем историю MSE, чтобы видеть, что происходит, а не смотреть только на последнее число.</ns4:t>
            </ns4:r>
          </ns4:p>
          <ns5:p xmlns:ns5="http://schemas.openxmlformats.org/drawingml/2006/main">
            <ns5:r>
              <ns5:t>ПОКАЗАТЬ И СПРОСИТЬ</ns5:t>
            </ns5:r>
          </ns5:p>
          <ns6:p xmlns:ns6="http://schemas.openxmlformats.org/drawingml/2006/main">
            <ns6:r>
              <ns6:t>Попросите назвать, какие две строки будут внутри цикла после вычисления градиентов. Обсудите, что в истории удобно хранить также ошибку до первого обновления.</ns6:t>
            </ns6:r>
          </ns6:p>
          <ns7:p xmlns:ns7="http://schemas.openxmlformats.org/drawingml/2006/main">
            <ns7:r>
              <ns7:t>НЕ ЗАБЫТЬ</ns7:t>
            </ns7:r>
          </ns7:p>
          <ns8:p xmlns:ns8="http://schemas.openxmlformats.org/drawingml/2006/main">
            <ns8:r>
              <ns8:t>При n_iter обновлениях история с начальной ошибкой имеет n_iter + 1 элемент. В ноутбуке используется именно это соглашение.</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23. Ошибка по ходу обучения. Первая пара: 76–79 мин.</ns0:t>
            </ns0:r>
          </ns0:p>
          <ns1:p xmlns:ns1="http://schemas.openxmlformats.org/drawingml/2006/main">
            <ns1:r>
              <ns1:t>ТЕКСТ РАССКАЗА</ns1:t>
            </ns1:r>
          </ns1:p>
          <ns2:p xmlns:ns2="http://schemas.openxmlformats.org/drawingml/2006/main">
            <ns2:r>
              <ns2:t>Перед нами ошибка нашей модели по итерациям. Вес и сдвиг начали с нулей, шаг равен 0,05. Сначала ошибка падает быстро, затем изменения становятся небольшими.</ns2:t>
            </ns2:r>
          </ns2:p>
          <ns3:p xmlns:ns3="http://schemas.openxmlformats.org/drawingml/2006/main">
            <ns3:r>
              <ns3:t>Она не обязана дойти до нуля: все пять точек не лежат на одной прямой. Для этого набора лучший результат — MSE 0,32. Позже мы получим его другим способом и убедимся, что программа приближается к правильному решению.</ns3:t>
            </ns3:r>
          </ns3:p>
          <ns4:p xmlns:ns4="http://schemas.openxmlformats.org/drawingml/2006/main">
            <ns4:r>
              <ns4:t>Если ошибка взлетает, надо проверить размер шага, масштаб входных чисел и формулы. Если она перестала заметно меняться выше нуля, это само по себе не говорит о баге. Возможно, достигли минимума выбранной модели.</ns4:t>
            </ns4:r>
          </ns4:p>
          <ns5:p xmlns:ns5="http://schemas.openxmlformats.org/drawingml/2006/main">
            <ns5:r>
              <ns5:t>ПОКАЗАТЬ И СПРОСИТЬ</ns5:t>
            </ns5:r>
          </ns5:p>
          <ns6:p xmlns:ns6="http://schemas.openxmlformats.org/drawingml/2006/main">
            <ns6:r>
              <ns6:t>Укажите на начало кривой и на плато. Напомните, что здесь вертикальная ось — ошибка, в отличие от траекторий t на слайде 17.</ns6:t>
            </ns6:r>
          </ns6:p>
          <ns7:p xmlns:ns7="http://schemas.openxmlformats.org/drawingml/2006/main">
            <ns7:r>
              <ns7:t>НЕ ЗАБЫТЬ</ns7:t>
            </ns7:r>
          </ns7:p>
          <ns8:p xmlns:ns8="http://schemas.openxmlformats.org/drawingml/2006/main">
            <ns8:r>
              <ns8:t>Убывание при этой настройке проверено. Не обещайте монотонное убывание при любом шаге и для любого алгоритма.</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24. Проверка на новых объектах. Первая пара: 79–82 мин.</ns0:t>
            </ns0:r>
          </ns0:p>
          <ns1:p xmlns:ns1="http://schemas.openxmlformats.org/drawingml/2006/main">
            <ns1:r>
              <ns1:t>ТЕКСТ РАССКАЗА</ns1:t>
            </ns1:r>
          </ns1:p>
          <ns2:p xmlns:ns2="http://schemas.openxmlformats.org/drawingml/2006/main">
            <ns2:r>
              <ns2:t>Но пока мы научились уменьшать ошибку на тех же объектах, по которым выбирали параметры. Реальная цель — хорошо предсказывать ответы для новых объектов. Это отдельная проверка.</ns2:t>
            </ns2:r>
          </ns2:p>
          <ns3:p xmlns:ns3="http://schemas.openxmlformats.org/drawingml/2006/main">
            <ns3:r>
              <ns3:t>Данные обычно разделяют. На train учим параметры, по validation выбираем настройки, test оставляем для финальной оценки. Если после просмотра test снова и снова подбирать модель, он перестаёт быть независимой проверкой.</ns3:t>
            </ns3:r>
          </ns3:p>
          <ns4:p xmlns:ns4="http://schemas.openxmlformats.org/drawingml/2006/main">
            <ns4:r>
              <ns4:t>Нужен и простой ориентир. Например, всем объектам предсказывать средний ответ на обучении. Среднее берём только по train. Даже если линейная модель лучше такого правила на обучении, это ещё не доказывает, что она будет лучше на новых данных.</ns4:t>
            </ns4:r>
          </ns4:p>
          <ns5:p xmlns:ns5="http://schemas.openxmlformats.org/drawingml/2006/main">
            <ns5:r>
              <ns5:t>В нашей короткой практике сравнение по известным точкам будет проверять реализацию. Для новых иксов без ответов мы сможем получить прогнозы, но не сможем вычислить их MSE.</ns5:t>
            </ns5:r>
          </ns5:p>
          <ns6:p xmlns:ns6="http://schemas.openxmlformats.org/drawingml/2006/main">
            <ns6:r>
              <ns6:t>ПОКАЗАТЬ И СПРОСИТЬ</ns6:t>
            </ns6:r>
          </ns6:p>
          <ns7:p xmlns:ns7="http://schemas.openxmlformats.org/drawingml/2006/main">
            <ns7:r>
              <ns7:t>Спросите, можно ли считать MSE, если известны только новые x. Ответ: нет, нужны правильные y. Не вводите кросс-валидацию на этом занятии.</ns7:t>
            </ns7:r>
          </ns7:p>
          <ns8:p xmlns:ns8="http://schemas.openxmlformats.org/drawingml/2006/main">
            <ns8:r>
              <ns8:t>НЕ ЗАБЫТЬ</ns8:t>
            </ns8:r>
          </ns8:p>
          <ns9:p xmlns:ns9="http://schemas.openxmlformats.org/drawingml/2006/main">
            <ns9:r>
              <ns9:t>Это ограничение учебного ноутбука: отдельного тестового набора там нет. Не выдавайте тренировочную MSE за оценку обобщения.</ns9:t>
            </ns9:r>
          </ns9:p>
          <ns10:p xmlns:ns10="http://schemas.openxmlformats.org/drawingml/2006/main">
            <ns10:r>
              <ns10:t>Автор: Банцевич Максим. Основа: хендбук Яндекса. Источники: https://contest.yandex.ru/tracks/ml/supervised-learning/linear-models ; https://contest.yandex.ru/tracks/ml/optimization-in-machine-learning/optimization-in-machine-learning</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25. Масштаб признаков и шаг. Первая пара: 82–85 мин.</ns0:t>
            </ns0:r>
          </ns0:p>
          <ns1:p xmlns:ns1="http://schemas.openxmlformats.org/drawingml/2006/main">
            <ns1:r>
              <ns1:t>ТЕКСТ РАССКАЗА</ns1:t>
            </ns1:r>
          </ns1:p>
          <ns2:p xmlns:ns2="http://schemas.openxmlformats.org/drawingml/2006/main">
            <ns2:r>
              <ns2:t>Ещё одна причина сложностей — масштаб признака. Если вместо километров взять метры, сами маршруты не изменятся, но числа икс станут в тысячу раз больше. В производной по весу есть икс, поэтому прежний шаг может оказаться слишком большим.</ns2:t>
            </ns2:r>
          </ns2:p>
          <ns3:p xmlns:ns3="http://schemas.openxmlformats.org/drawingml/2006/main">
            <ns3:r>
              <ns3:t>Часто признак стандартизируют: вычитают среднее и делят на стандартное отклонение. Эти два числа вычисляем на обучающей части. Для новых объектов применяем те же среднее и масштаб. Иначе модель получит другой смысл входа.</ns3:t>
            </ns3:r>
          </ns3:p>
          <ns4:p xmlns:ns4="http://schemas.openxmlformats.org/drawingml/2006/main">
            <ns4:r>
              <ns4:t>После такой замены вес относится уже к стандартизованному признаку. Сравнивать его напрямую со старым весом нельзя. Если признак постоянный, стандартное отклонение нулевое: такой столбец нужно отдельно обработать, а не делить на ноль.</ns4:t>
            </ns4:r>
          </ns4:p>
          <ns5:p xmlns:ns5="http://schemas.openxmlformats.org/drawingml/2006/main">
            <ns5:r>
              <ns5:t>ПОКАЗАТЬ И СПРОСИТЬ</ns5:t>
            </ns5:r>
          </ns5:p>
          <ns6:p xmlns:ns6="http://schemas.openxmlformats.org/drawingml/2006/main">
            <ns6:r>
              <ns6:t>Свяжите с уже знакомой нормализацией признаков. Закончите основную часть первой пары к 85-й минуте. Последние пять минут — вопросы по прямой, ошибке и обновлению параметров.</ns6:t>
            </ns6:r>
          </ns6:p>
          <ns7:p xmlns:ns7="http://schemas.openxmlformats.org/drawingml/2006/main">
            <ns7:r>
              <ns7:t>НЕ ЗАБЫТЬ</ns7:t>
            </ns7:r>
          </ns7:p>
          <ns8:p xmlns:ns8="http://schemas.openxmlformats.org/drawingml/2006/main">
            <ns8:r>
              <ns8:t>В новой обязательной практике опыта с x × 1000 нет. Не обещайте его как следующее задание. На вторую пару оставляем СЛАУ и код.</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26. Что такое СЛАУ. Вторая пара: 0–3 мин.</ns0:t>
            </ns0:r>
          </ns0:p>
          <ns1:p xmlns:ns1="http://schemas.openxmlformats.org/drawingml/2006/main">
            <ns1:r>
              <ns1:t>ТЕКСТ РАССКАЗА</ns1:t>
            </ns1:r>
          </ns1:p>
          <ns2:p xmlns:ns2="http://schemas.openxmlformats.org/drawingml/2006/main">
            <ns2:r>
              <ns2:t>Продолжим с вопроса: можно ли найти хорошие параметры без сотен улучшений? Для линейной регрессии это возможно. Нам понадобится система линейных алгебраических уравнений, сокращённо СЛАУ.</ns2:t>
            </ns2:r>
          </ns2:p>
          <ns3:p xmlns:ns3="http://schemas.openxmlformats.org/drawingml/2006/main">
            <ns3:r>
              <ns3:t>Система — несколько уравнений, которые должны выполняться одновременно для одного и того же набора неизвестных. Линейность означает, что неизвестные входят в первой степени с известными коэффициентами: нет их произведений между собой, квадратов, деления на неизвестное.</ns3:t>
            </ns3:r>
          </ns3:p>
          <ns4:p xmlns:ns4="http://schemas.openxmlformats.org/drawingml/2006/main">
            <ns4:r>
              <ns4:t>В примере неизвестны у и вэ. Пара два и один должна удовлетворять обоим равенствам: два умножить на два плюс один равно пяти; два минус один равно одному. Подобрать число, которое подходит только первому уравнению, недостаточно.</ns4:t>
            </ns4:r>
          </ns4:p>
          <ns5:p xmlns:ns5="http://schemas.openxmlformats.org/drawingml/2006/main">
            <ns5:r>
              <ns5:t>ПОКАЗАТЬ И СПРОСИТЬ</ns5:t>
            </ns5:r>
          </ns5:p>
          <ns6:p xmlns:ns6="http://schemas.openxmlformats.org/drawingml/2006/main">
            <ns6:r>
              <ns6:t>В начале второй пары кратко напомните цель: подобрать w и b. Прочитайте систему как два одновременных условия. Для школьников называйте неизвестные «u и v», чтобы не путать v с весом w.</ns6:t>
            </ns6:r>
          </ns6:p>
          <ns7:p xmlns:ns7="http://schemas.openxmlformats.org/drawingml/2006/main">
            <ns7:r>
              <ns7:t>НЕ ЗАБЫТЬ</ns7:t>
            </ns7:r>
          </ns7:p>
          <ns8:p xmlns:ns8="http://schemas.openxmlformats.org/drawingml/2006/main">
            <ns8:r>
              <ns8:t>Буквы u и v здесь временные. В задаче регрессии неизвестными снова будут w и b. Коэффициент при некоторой неизвестной может быть нулевым.</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27. Метод исключения неизвестной. Вторая пара: 3–6 мин.</ns0:t>
            </ns0:r>
          </ns0:p>
          <ns1:p xmlns:ns1="http://schemas.openxmlformats.org/drawingml/2006/main">
            <ns1:r>
              <ns1:t>ТЕКСТ РАССКАЗА</ns1:t>
            </ns1:r>
          </ns1:p>
          <ns2:p xmlns:ns2="http://schemas.openxmlformats.org/drawingml/2006/main">
            <ns2:r>
              <ns2:t>Решим систему школьным способом. В первом уравнении есть плюс вэ, во втором минус вэ. Если сложить левые и правые части, вэ сократится. Останется три у равно шести, откуда у равно двум.</ns2:t>
            </ns2:r>
          </ns2:p>
          <ns3:p xmlns:ns3="http://schemas.openxmlformats.org/drawingml/2006/main">
            <ns3:r>
              <ns3:t>Подставим у в одно из исходных уравнений. Из у минус вэ равно одному получаем вэ равно у минус один, то есть единице. Проверим оба исходных равенства, чтобы не потерять знак.</ns3:t>
            </ns3:r>
          </ns3:p>
          <ns4:p xmlns:ns4="http://schemas.openxmlformats.org/drawingml/2006/main">
            <ns4:r>
              <ns4:t>Почему это работает? Мы заменяем одно условие суммой двух условий и сохраняем другое. Так исходную систему можно восстановить, поэтому множество решений не меняется. Одной суммы без второго уравнения было бы недостаточно: мы потеряли бы часть информации.</ns4:t>
            </ns4:r>
          </ns4:p>
          <ns5:p xmlns:ns5="http://schemas.openxmlformats.org/drawingml/2006/main">
            <ns5:r>
              <ns5:t>В больших системах идея последовательного исключения развивается в метод Гаусса. Сегодня нам достаточно понять её на двух неизвестных.</ns5:t>
            </ns5:r>
          </ns5:p>
          <ns6:p xmlns:ns6="http://schemas.openxmlformats.org/drawingml/2006/main">
            <ns6:r>
              <ns6:t>ПОКАЗАТЬ И СПРОСИТЬ</ns6:t>
            </ns6:r>
          </ns6:p>
          <ns7:p xmlns:ns7="http://schemas.openxmlformats.org/drawingml/2006/main">
            <ns7:r>
              <ns7:t>Пишите операции между целыми уравнениями. Дайте классу выполнить обратную подстановку.</ns7:t>
            </ns7:r>
          </ns7:p>
          <ns8:p xmlns:ns8="http://schemas.openxmlformats.org/drawingml/2006/main">
            <ns8:r>
              <ns8:t>НЕ ЗАБЫТЬ</ns8:t>
            </ns8:r>
          </ns8:p>
          <ns9:p xmlns:ns9="http://schemas.openxmlformats.org/drawingml/2006/main">
            <ns9:r>
              <ns9:t>Не говорите, что сумму уравнений можно оставить вместо всей системы. Чтобы преобразование было равносильным, второе независимое условие нужно сохранить.</ns9:t>
            </ns9:r>
          </ns9:p>
          <ns10:p xmlns:ns10="http://schemas.openxmlformats.org/drawingml/2006/main">
            <ns10:r>
              <ns10:t>Автор: Банцевич Максим. Основа: хендбук Яндекса. Источники: https://contest.yandex.ru/tracks/ml/supervised-learning/linear-models ; https://contest.yandex.ru/tracks/ml/optimization-in-machine-learning/optimization-in-machine-learning</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28. Сколько решений может быть. Вторая пара: 6–9 мин.</ns0:t>
            </ns0:r>
          </ns0:p>
          <ns1:p xmlns:ns1="http://schemas.openxmlformats.org/drawingml/2006/main">
            <ns1:r>
              <ns1:t>ТЕКСТ РАССКАЗА</ns1:t>
            </ns1:r>
          </ns1:p>
          <ns2:p xmlns:ns2="http://schemas.openxmlformats.org/drawingml/2006/main">
            <ns2:r>
              <ns2:t>Два уравнения и две неизвестные ещё не гарантируют единственного решения. Первый пример уже решили: две независимые прямые пересекаются в одной точке.</ns2:t>
            </ns2:r>
          </ns2:p>
          <ns3:p xmlns:ns3="http://schemas.openxmlformats.org/drawingml/2006/main">
            <ns3:r>
              <ns3:t>Во втором примере одна и та же сумма должна равняться и двум, и трём. Это невозможно: решений нет. Геометрически это параллельные различные прямые.</ns3:t>
            </ns3:r>
          </ns3:p>
          <ns4:p xmlns:ns4="http://schemas.openxmlformats.org/drawingml/2006/main">
            <ns4:r>
              <ns4:t>В третьем примере второе уравнение получилось умножением первого на два. Нового ограничения оно не добавляет. Любая пара с суммой два подходит: например, ноль и два, один и один. Решений бесконечно много; геометрически прямые совпадают.</ns4:t>
            </ns4:r>
          </ns4:p>
          <ns5:p xmlns:ns5="http://schemas.openxmlformats.org/drawingml/2006/main">
            <ns5:r>
              <ns5:t>Нам важно это различие, потому что в регрессии тоже может оказаться, что разные параметры дают одинаково хорошее качество.</ns5:t>
            </ns5:r>
          </ns5:p>
          <ns6:p xmlns:ns6="http://schemas.openxmlformats.org/drawingml/2006/main">
            <ns6:r>
              <ns6:t>ПОКАЗАТЬ И СПРОСИТЬ</ns6:t>
            </ns6:r>
          </ns6:p>
          <ns7:p xmlns:ns7="http://schemas.openxmlformats.org/drawingml/2006/main">
            <ns7:r>
              <ns7:t>Попросите предложить две разные пары для третьей системы. При необходимости нарисуйте три случая взаимного положения прямых.</ns7:t>
            </ns7:r>
          </ns7:p>
          <ns8:p xmlns:ns8="http://schemas.openxmlformats.org/drawingml/2006/main">
            <ns8:r>
              <ns8:t>НЕ ЗАБЫТЬ</ns8:t>
            </ns8:r>
          </ns8:p>
          <ns9:p xmlns:ns9="http://schemas.openxmlformats.org/drawingml/2006/main">
            <ns9:r>
              <ns9:t>Не путайте несовместимость исходных условий «попасть во все точки» с нормальными уравнениями МНК. У нормальных уравнений решение существует даже при положительной минимальной ошибке.</ns9:t>
            </ns9:r>
          </ns9:p>
          <ns10:p xmlns:ns10="http://schemas.openxmlformats.org/drawingml/2006/main">
            <ns10:r>
              <ns10:t>Автор: Банцевич Максим. Основа: хендбук Яндекса. Источники: https://contest.yandex.ru/tracks/ml/supervised-learning/linear-models ; https://contest.yandex.ru/tracks/ml/optimization-in-machine-learning/optimization-in-machine-learning</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29. Матричная запись системы. Вторая пара: 9–12 мин.</ns0:t>
            </ns0:r>
          </ns0:p>
          <ns1:p xmlns:ns1="http://schemas.openxmlformats.org/drawingml/2006/main">
            <ns1:r>
              <ns1:t>ТЕКСТ РАССКАЗА</ns1:t>
            </ns1:r>
          </ns1:p>
          <ns2:p xmlns:ns2="http://schemas.openxmlformats.org/drawingml/2006/main">
            <ns2:r>
              <ns2:t>Матричная запись не добавляет нового ограничения. Она упаковывает те же уравнения. В каждой строке матрицы стоят коэффициенты одного уравнения: сначала при у, потом при вэ. Рядом столбец неизвестных, справа столбец известных правых частей.</ns2:t>
            </ns2:r>
          </ns2:p>
          <ns3:p xmlns:ns3="http://schemas.openxmlformats.org/drawingml/2006/main">
            <ns3:r>
              <ns3:t>Умножение первой строки на столбец даёт два у плюс вэ. Вторая строка даёт у минус вэ. Равенство столбцов означает, что соответствующие строки равны. Это и есть исходная система.</ns3:t>
            </ns3:r>
          </ns3:p>
          <ns4:p xmlns:ns4="http://schemas.openxmlformats.org/drawingml/2006/main">
            <ns4:r>
              <ns4:t>Общая запись — A умножить на тэта равно цэ. Буква тэта обозначает весь вектор неизвестных. У матрицы может быть эм строк и пэ столбцов: число уравнений не обязано совпадать с числом неизвестных.</ns4:t>
            </ns4:r>
          </ns4:p>
          <ns5:p xmlns:ns5="http://schemas.openxmlformats.org/drawingml/2006/main">
            <ns5:r>
              <ns5:t>ПОКАЗАТЬ И СПРОСИТЬ</ns5:t>
            </ns5:r>
          </ns5:p>
          <ns6:p xmlns:ns6="http://schemas.openxmlformats.org/drawingml/2006/main">
            <ns6:r>
              <ns6:t>Раскройте матричное произведение по строкам. Спросите размеры: в примере A — 2 × 2, θ и c — столбцы по два элемента.</ns6:t>
            </ns6:r>
          </ns6:p>
          <ns7:p xmlns:ns7="http://schemas.openxmlformats.org/drawingml/2006/main">
            <ns7:r>
              <ns7:t>НЕ ЗАБЫТЬ</ns7:t>
            </ns7:r>
          </ns7:p>
          <ns8:p xmlns:ns8="http://schemas.openxmlformats.org/drawingml/2006/main">
            <ns8:r>
              <ns8:t>Здесь A — матрица коэффициентов системы, а не таблица исходных маршрутов. В следующем примере у неё будет другой численный состав.</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30. Минимум MSE линейной модели. Вторая пара: 12–15 мин.</ns0:t>
            </ns0:r>
          </ns0:p>
          <ns1:p xmlns:ns1="http://schemas.openxmlformats.org/drawingml/2006/main">
            <ns1:r>
              <ns1:t>ТЕКСТ РАССКАЗА</ns1:t>
            </ns1:r>
          </ns1:p>
          <ns2:p xmlns:ns2="http://schemas.openxmlformats.org/drawingml/2006/main">
            <ns2:r>
              <ns2:t>Для нашей MSE нулевой градиент действительно даёт глобальный минимум. Сначала разберём смысл, а затем посмотрим на проверку. Пусть нашли параметры, при которых обе частные производные равны нулю. Из формул градиента следует: сумма остатков ноль и сумма произведений иксов на остатки тоже ноль.</ns2:t>
            </ns2:r>
          </ns2:p>
          <ns3:p xmlns:ns3="http://schemas.openxmlformats.org/drawingml/2006/main">
            <ns3:r>
              <ns3:t>Теперь сдвинем найденные параметры на произвольные величины дельта вэ и дельта бэ. Каждый остаток изменится на дельта вэ умножить на икс плюс дельта бэ. При раскрытии квадратов появляются смешанные слагаемые со старым остатком. Их сумма исчезает как раз из-за двух условий сверху.</ns3:t>
            </ns3:r>
          </ns3:p>
          <ns4:p xmlns:ns4="http://schemas.openxmlformats.org/drawingml/2006/main">
            <ns4:r>
              <ns4:t>Остаётся сумма квадратов изменений, делённая на число объектов. Она неотрицательна. Значит, никакой другой набор параметров не даёт меньшую ошибку. Это обоснование глобального минимума, а не догадка по картинке.</ns4:t>
            </ns4:r>
          </ns4:p>
          <ns5:p xmlns:ns5="http://schemas.openxmlformats.org/drawingml/2006/main">
            <ns5:r>
              <ns5:t>ПОКАЗАТЬ И СПРОСИТЬ</ns5:t>
            </ns5:r>
          </ns5:p>
          <ns6:p xmlns:ns6="http://schemas.openxmlformats.org/drawingml/2006/main">
            <ns6:r>
              <ns6:t>На доске используйте короткое обозначение dᵢ = Δw xᵢ + Δb. Разность квадратов равна 2eᵢdᵢ + dᵢ². Если аудитория устала, проговорите идею и сохраните подробное раскрытие для вопроса.</ns6:t>
            </ns6:r>
          </ns6:p>
          <ns7:p xmlns:ns7="http://schemas.openxmlformats.org/drawingml/2006/main">
            <ns7:r>
              <ns7:t>НЕ ЗАБЫТЬ</ns7:t>
            </ns7:r>
          </ns7:p>
          <ns8:p xmlns:ns8="http://schemas.openxmlformats.org/drawingml/2006/main">
            <ns8:r>
              <ns8:t>Звёздочка у параметра означает найденную стационарную точку. Не переносите это доказательство на любую функцию потерь или нелинейную модель.</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31. Вывод нормальных уравнений. Вторая пара: 15–18 мин.</ns0:t>
            </ns0:r>
          </ns0:p>
          <ns1:p xmlns:ns1="http://schemas.openxmlformats.org/drawingml/2006/main">
            <ns1:r>
              <ns1:t>ТЕКСТ РАССКАЗА</ns1:t>
            </ns1:r>
          </ns1:p>
          <ns2:p xmlns:ns2="http://schemas.openxmlformats.org/drawingml/2006/main">
            <ns2:r>
              <ns2:t>Найдём параметры, при которых градиент нулевой. В производной по весу стоит множитель два, делённое на число объектов. Он положителен и не равен нулю, поэтому при приравнивании к нулю его можно убрать.</ns2:t>
            </ns2:r>
          </ns2:p>
          <ns3:p xmlns:ns3="http://schemas.openxmlformats.org/drawingml/2006/main">
            <ns3:r>
              <ns3:t>Раскрываем скобки под суммой. Вес и сдвиг одинаковы для всех объектов: их можно вынести за знак суммы. Получается вэ умножить на сумму иксов в квадрате плюс бэ умножить на сумму иксов минус сумма произведений иксов и игреков равно нулю.</ns3:t>
            </ns3:r>
          </ns3:p>
          <ns4:p xmlns:ns4="http://schemas.openxmlformats.org/drawingml/2006/main">
            <ns4:r>
              <ns4:t>Со второй производной делаем то же самое. Сумма слагаемых бэ состоит из эн одинаковых чисел, поэтому даёт эн бэ. Все суммы по данным мы можем посчитать заранее. Неизвестными останутся только два параметра.</ns4:t>
            </ns4:r>
          </ns4:p>
          <ns5:p xmlns:ns5="http://schemas.openxmlformats.org/drawingml/2006/main">
            <ns5:r>
              <ns5:t>ПОКАЗАТЬ И СПРОСИТЬ</ns5:t>
            </ns5:r>
          </ns5:p>
          <ns6:p xmlns:ns6="http://schemas.openxmlformats.org/drawingml/2006/main">
            <ns6:r>
              <ns6:t>Проведите стрелки между тремя слагаемыми до и после вынесения. Попросите объяснить, почему сумма b равна nb, а не просто b.</ns6:t>
            </ns6:r>
          </ns6:p>
          <ns7:p xmlns:ns7="http://schemas.openxmlformats.org/drawingml/2006/main">
            <ns7:r>
              <ns7:t>НЕ ЗАБЫТЬ</ns7:t>
            </ns7:r>
          </ns7:p>
          <ns8:p xmlns:ns8="http://schemas.openxmlformats.org/drawingml/2006/main">
            <ns8:r>
              <ns8:t>Сумма xᵢ² и квадрат суммы xᵢ — разные величины. На наших данных это 30 и 100 соответственно.</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32. Минимум ошибки как СЛАУ. Вторая пара: 18–21 мин.</ns0:t>
            </ns0:r>
          </ns0:p>
          <ns1:p xmlns:ns1="http://schemas.openxmlformats.org/drawingml/2006/main">
            <ns1:r>
              <ns1:t>ТЕКСТ РАССКАЗА</ns1:t>
            </ns1:r>
          </ns1:p>
          <ns2:p xmlns:ns2="http://schemas.openxmlformats.org/drawingml/2006/main">
            <ns2:r>
              <ns2:t>Переносим известные слагаемые в правую часть и получаем систему двух линейных уравнений для веса и сдвига. Их называют нормальными уравнениями метода наименьших квадратов.</ns2:t>
            </ns2:r>
          </ns2:p>
          <ns3:p xmlns:ns3="http://schemas.openxmlformats.org/drawingml/2006/main">
            <ns3:r>
              <ns3:t>Обратите внимание: исходная задача требовала хорошо приблизить пять ответов. Мы не выписываем пять требований попасть в каждую точку точно. Вместо этого получили два условия оптимальности общей ошибки. Поэтому положительная минимальная ошибка не мешает системе иметь решение.</ns3:t>
            </ns3:r>
          </ns3:p>
          <ns4:p xmlns:ns4="http://schemas.openxmlformats.org/drawingml/2006/main">
            <ns4:r>
              <ns4:t>Все коэффициенты — суммы по известной выборке. Только вэ и бэ неизвестны. Здесь уже можно применить школьное исключение, которое только что разобрали.</ns4:t>
            </ns4:r>
          </ns4:p>
          <ns5:p xmlns:ns5="http://schemas.openxmlformats.org/drawingml/2006/main">
            <ns5:r>
              <ns5:t>ПОКАЗАТЬ И СПРОСИТЬ</ns5:t>
            </ns5:r>
          </ns5:p>
          <ns6:p xmlns:ns6="http://schemas.openxmlformats.org/drawingml/2006/main">
            <ns6:r>
              <ns6:t>Попросите назвать неизвестные и известные величины в системе. Свяжите коэффициенты с таблицей данных.</ns6:t>
            </ns6:r>
          </ns6:p>
          <ns7:p xmlns:ns7="http://schemas.openxmlformats.org/drawingml/2006/main">
            <ns7:r>
              <ns7:t>НЕ ЗАБЫТЬ</ns7:t>
            </ns7:r>
          </ns7:p>
          <ns8:p xmlns:ns8="http://schemas.openxmlformats.org/drawingml/2006/main">
            <ns8:r>
              <ns8:t>Нормальные уравнения для обычного МНК всегда совместны, но параметры могут быть неединственными. Условие единственности обсудим на слайде 35.</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33. Точное решение на пяти точках. Вторая пара: 21–24 мин.</ns0:t>
            </ns0:r>
          </ns0:p>
          <ns1:p xmlns:ns1="http://schemas.openxmlformats.org/drawingml/2006/main">
            <ns1:r>
              <ns1:t>ТЕКСТ РАССКАЗА</ns1:t>
            </ns1:r>
          </ns1:p>
          <ns2:p xmlns:ns2="http://schemas.openxmlformats.org/drawingml/2006/main">
            <ns2:r>
              <ns2:t>Посчитаем четыре суммы для наших пяти точек. Сумма иксов десять, игреков двадцать пять, квадратов иксов тридцать, произведений икс на игрек — семьдесят два. Подставляем их в систему.</ns2:t>
            </ns2:r>
          </ns2:p>
          <ns3:p xmlns:ns3="http://schemas.openxmlformats.org/drawingml/2006/main">
            <ns3:r>
              <ns3:t>Умножим второе уравнение на два: получим двадцать вэ плюс десять бэ равно пятидесяти. Вычитаем его из первого. Остаётся десять вэ равно двадцати двум, поэтому вес 2,2. Из второго уравнения получаем сдвиг 0,6.</ns3:t>
            </ns3:r>
          </ns3:p>
          <ns4:p xmlns:ns4="http://schemas.openxmlformats.org/drawingml/2006/main">
            <ns4:r>
              <ns4:t>Остатки такой прямой: минус 0,4; минус 0,2; один; 0,2; минус 0,6. Их квадраты в сумме дают 1,6. Делим на пять и получаем MSE 0,32. Именно к этому значению стремилась кривая обучения.</ns4:t>
            </ns4:r>
          </ns4:p>
          <ns5:p xmlns:ns5="http://schemas.openxmlformats.org/drawingml/2006/main">
            <ns5:r>
              <ns5:t>Получили независимую проверку итерационного алгоритма: совершенно другой расчёт привёл к тем же параметрам.</ns5:t>
            </ns5:r>
          </ns5:p>
          <ns6:p xmlns:ns6="http://schemas.openxmlformats.org/drawingml/2006/main">
            <ns6:r>
              <ns6:t>ПОКАЗАТЬ И СПРОСИТЬ</ns6:t>
            </ns6:r>
          </ns6:p>
          <ns7:p xmlns:ns7="http://schemas.openxmlformats.org/drawingml/2006/main">
            <ns7:r>
              <ns7:t>Проверьте одну сумму по точкам и проведите исключение на доске. Напомните, что исходная A с параметрами 2 и 1 давала 0,4, то есть ещё не была лучшей.</ns7:t>
            </ns7:r>
          </ns7:p>
          <ns8:p xmlns:ns8="http://schemas.openxmlformats.org/drawingml/2006/main">
            <ns8:r>
              <ns8:t>НЕ ЗАБЫТЬ</ns8:t>
            </ns8:r>
          </ns8:p>
          <ns9:p xmlns:ns9="http://schemas.openxmlformats.org/drawingml/2006/main">
            <ns9:r>
              <ns9:t>Остатки суммируются в ноль, но каждый из них не обязан быть нулём. Это полезно связать со слайдом 5.</ns9:t>
            </ns9:r>
          </ns9:p>
          <ns10:p xmlns:ns10="http://schemas.openxmlformats.org/drawingml/2006/main">
            <ns10:r>
              <ns10:t>Автор: Банцевич Максим. Основа: хендбук Яндекса. Источники: https://contest.yandex.ru/tracks/ml/supervised-learning/linear-models ; https://contest.yandex.ru/tracks/ml/optimization-in-machine-learning/optimization-in-machine-learning</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34. Итерационное решение той же СЛАУ. Вторая пара: 24–27 мин.</ns0:t>
            </ns0:r>
          </ns0:p>
          <ns1:p xmlns:ns1="http://schemas.openxmlformats.org/drawingml/2006/main">
            <ns1:r>
              <ns1:t>ТЕКСТ РАССКАЗА</ns1:t>
            </ns1:r>
          </ns1:p>
          <ns2:p xmlns:ns2="http://schemas.openxmlformats.org/drawingml/2006/main">
            <ns2:r>
              <ns2:t>Теперь свяжем оба способа. Матрица A хранит коэффициенты нормальных уравнений, вектор цэ — правые части. Для текущего вектора параметров произведение A тэта минус цэ показывает, насколько нарушены эти два уравнения. Это невязка системы.</ns2:t>
            </ns2:r>
          </ns2:p>
          <ns3:p xmlns:ns3="http://schemas.openxmlformats.org/drawingml/2006/main">
            <ns3:r>
              <ns3:t>В нашей задаче градиент MSE равен этой невязке, умноженной на две пятых. Поэтому правило градиентного спуска можно записать через матрицу: из текущего вектора параметров вычитаем шаг, умноженный на градиент.</ns3:t>
            </ns3:r>
          </ns3:p>
          <ns4:p xmlns:ns4="http://schemas.openxmlformats.org/drawingml/2006/main">
            <ns4:r>
              <ns4:t>Значит, мы не выучили два несвязанных метода. Нормальные уравнения описывают, каким должен быть ответ, а итерации постепенно приближают нас к этому ответу. Но такая формула не гарантирует решение произвольной системы: здесь она работает благодаря специальному виду матрицы и подходящему шагу.</ns4:t>
            </ns4:r>
          </ns4:p>
          <ns5:p xmlns:ns5="http://schemas.openxmlformats.org/drawingml/2006/main">
            <ns5:r>
              <ns5:t>ПОКАЗАТЬ И СПРОСИТЬ</ns5:t>
            </ns5:r>
          </ns5:p>
          <ns6:p xmlns:ns6="http://schemas.openxmlformats.org/drawingml/2006/main">
            <ns6:r>
              <ns6:t>Сопоставьте два компонента Aθ − c с развёрнутыми формулами градиента. Не вычисляйте собственные значения перед классом.</ns6:t>
            </ns6:r>
          </ns6:p>
          <ns7:p xmlns:ns7="http://schemas.openxmlformats.org/drawingml/2006/main">
            <ns7:r>
              <ns7:t>НЕ ЗАБЫТЬ</ns7:t>
            </ns7:r>
          </ns7:p>
          <ns8:p xmlns:ns8="http://schemas.openxmlformats.org/drawingml/2006/main">
            <ns8:r>
              <ns8:t>Невязка системы имеет два компонента, остатки прогнозов — пять. Для общей A метод θ ← θ − α(Aθ − c) не гарантирован; при минимизации квадрата невязки общей системы градиент содержит Aᵀ.</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35. Когда решение не единственно. Вторая пара: 27–29 мин.</ns0:t>
            </ns0:r>
          </ns0:p>
          <ns1:p xmlns:ns1="http://schemas.openxmlformats.org/drawingml/2006/main">
            <ns1:r>
              <ns1:t>ТЕКСТ РАССКАЗА</ns1:t>
            </ns1:r>
          </ns1:p>
          <ns2:p xmlns:ns2="http://schemas.openxmlformats.org/drawingml/2006/main">
            <ns2:r>
              <ns2:t>Когда параметров может быть несколько? Пусть у всех объектов икс равен двум, а ответы — три и пять. Любая наша прямая на этих объектах предсказывает одно и то же число: два вэ плюс бэ.</ns2:t>
            </ns2:r>
          </ns2:p>
          <ns3:p xmlns:ns3="http://schemas.openxmlformats.org/drawingml/2006/main">
            <ns3:r>
              <ns3:t>Лучший постоянный прогноз для квадратов ошибки — среднее, то есть четыре. Значит, нам нужно только условие два вэ плюс бэ равно четырём. Ноль и четыре, один и два, два и ноль — разные пары параметров, которые дают этот прогноз. И это лишь три примера из бесконечного множества.</ns3:t>
            </ns3:r>
          </ns3:p>
          <ns4:p xmlns:ns4="http://schemas.openxmlformats.org/drawingml/2006/main">
            <ns4:r>
              <ns4:t>Ошибка при прогнозе четыре равна единице: оба остатка по модулю один. Минимальное значение ошибки определено, но восстановить наклон отдельно от сдвига по таким данным нельзя. Мы ни разу не увидели, что происходит при другом иксе.</ns4:t>
            </ns4:r>
          </ns4:p>
          <ns5:p xmlns:ns5="http://schemas.openxmlformats.org/drawingml/2006/main">
            <ns5:r>
              <ns5:t>ПОКАЗАТЬ И СПРОСИТЬ</ns5:t>
            </ns5:r>
          </ns5:p>
          <ns6:p xmlns:ns6="http://schemas.openxmlformats.org/drawingml/2006/main">
            <ns6:r>
              <ns6:t>Покажите две разные прямые, проходящие через точку (2, 4). Они совпадают по прогнозам при x = 2, но могут сильно расходиться на новых x.</ns6:t>
            </ns6:r>
          </ns6:p>
          <ns7:p xmlns:ns7="http://schemas.openxmlformats.org/drawingml/2006/main">
            <ns7:r>
              <ns7:t>НЕ ЗАБЫТЬ</ns7:t>
            </ns7:r>
          </ns7:p>
          <ns8:p xmlns:ns8="http://schemas.openxmlformats.org/drawingml/2006/main">
            <ns8:r>
              <ns8:t>Одинаковые оптимальные прогнозы на обучении не означают одинаковые прогнозы вне этих значений x. Для одного признака и свободного члена два разных x обеспечивают единственность решения МНК.</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36. Несколько признаков. Вторая пара: 29–32 мин.</ns0:t>
            </ns0:r>
          </ns0:p>
          <ns1:p xmlns:ns1="http://schemas.openxmlformats.org/drawingml/2006/main">
            <ns1:r>
              <ns1:t>ТЕКСТ РАССКАЗА</ns1:t>
            </ns1:r>
          </ns1:p>
          <ns2:p xmlns:ns2="http://schemas.openxmlformats.org/drawingml/2006/main">
            <ns2:r>
              <ns2:t>В реальной задаче у объекта обычно несколько признаков: например, длина маршрута, число светофоров и время суток в подходящем числовом представлении. Перед каждым признаком ставим свой вес, складываем вклады и добавляем свободный коэффициент.</ns2:t>
            </ns2:r>
          </ns2:p>
          <ns3:p xmlns:ns3="http://schemas.openxmlformats.org/drawingml/2006/main">
            <ns3:r>
              <ns3:t>В матрице X одна строка соответствует объекту, один столбец — признаку. У X эн строк и дэ столбцов. У вектора весов дэ элементов. Произведение X на вектор весов даёт эн прогнозов. К каждому добавляем бэ.</ns3:t>
            </ns3:r>
          </ns3:p>
          <ns4:p xmlns:ns4="http://schemas.openxmlformats.org/drawingml/2006/main">
            <ns4:r>
              <ns4:t>Чтобы включить бэ в общую запись, допишем в X столбец единиц. Умножение единицы на последний параметр как раз прибавит свободный коэффициент. После этого нормальные уравнения имеют ту же идею: матрица коэффициентов умножить на параметры равно правой части. Формула стала компактнее, задача осталась прежней.</ns4:t>
            </ns4:r>
          </ns4:p>
          <ns5:p xmlns:ns5="http://schemas.openxmlformats.org/drawingml/2006/main">
            <ns5:r>
              <ns5:t>ПОКАЗАТЬ И СПРОСИТЬ</ns5:t>
            </ns5:r>
          </ns5:p>
          <ns6:p xmlns:ns6="http://schemas.openxmlformats.org/drawingml/2006/main">
            <ns6:r>
              <ns6:t>Проверьте вслух размеры Xw и Xᵀ(Xw + b1 − y). Не проводите полный вывод матричного дифференцирования. Этот слайд — перенос знакомой идеи, а не новая большая тема.</ns6:t>
            </ns6:r>
          </ns6:p>
          <ns7:p xmlns:ns7="http://schemas.openxmlformats.org/drawingml/2006/main">
            <ns7:r>
              <ns7:t>НЕ ЗАБЫТЬ</ns7:t>
            </ns7:r>
          </ns7:p>
          <ns8:p xmlns:ns8="http://schemas.openxmlformats.org/drawingml/2006/main">
            <ns8:r>
              <ns8:t>В NumPy одномерные массивы часто имеют shape (n,), хотя на слайде показаны столбцы. После добавления единиц матрица имеет d + 1 столбец. Не рекомендуйте вычислять обратную матрицу вручную: для МНК есть np.linalg.lstsq.</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Слайд 37. Формулы в NumPy. Вторая пара: 32–35 мин.</ns0:t>
            </ns0:r>
          </ns0:p>
          <ns1:p xmlns:ns1="http://schemas.openxmlformats.org/drawingml/2006/main">
            <ns1:r>
              <ns1:t>ТЕКСТ РАССКАЗА</ns1:t>
            </ns1:r>
          </ns1:p>
          <ns2:p xmlns:ns2="http://schemas.openxmlformats.org/drawingml/2006/main">
            <ns2:r>
              <ns2:t>Осталось перевести математику в Python. Икс и игрек — массивы одной длины. Выражение вэ умножить на икс плюс бэ сразу считает все прогнозы. Вычитание массива ответов даёт все остатки.</ns2:t>
            </ns2:r>
          </ns2:p>
          <ns3:p xmlns:ns3="http://schemas.openxmlformats.org/drawingml/2006/main">
            <ns3:r>
              <ns3:t>Умножение икс на остатки поэлементное, а mean считает среднее. Поэтому обе формулы градиента превращаются в короткие строки. Сначала создаём массив ошибок и обе производные, потом обновляем два параметра. Если массив ошибок уже сохранён, последовательные присваивания вэ и бэ корректны: обе производные всё равно посчитаны по старым значениям.</ns3:t>
            </ns3:r>
          </ns3:p>
          <ns4:p xmlns:ns4="http://schemas.openxmlformats.org/drawingml/2006/main">
            <ns4:r>
              <ns4:t>Сейчас откроем ноутбук. Сначала вместе построим прямую и посчитаем ошибку, затем один участник допишет цикл обучения у моего компьютера. После этого у каждого будет двадцать пять минут на собственную работу с новыми точками.</ns4:t>
            </ns4:r>
          </ns4:p>
          <ns5:p xmlns:ns5="http://schemas.openxmlformats.org/drawingml/2006/main">
            <ns5:r>
              <ns5:t>ПОКАЗАТЬ И СПРОСИТЬ</ns5:t>
            </ns5:r>
          </ns5:p>
          <ns6:p xmlns:ns6="http://schemas.openxmlformats.org/drawingml/2006/main">
            <ns6:r>
              <ns6:t>Переключитесь на ученический ноутбук. У преподавателя дополнительно открыта версия с решениями. Не показывайте её как стартовый материал для копирования.</ns6:t>
            </ns6:r>
          </ns6:p>
          <ns7:p xmlns:ns7="http://schemas.openxmlformats.org/drawingml/2006/main">
            <ns7:r>
              <ns7:t>НЕ ЗАБЫТЬ</ns7:t>
            </ns7:r>
          </ns7:p>
          <ns8:p xmlns:ns8="http://schemas.openxmlformats.org/drawingml/2006/main">
            <ns8:r>
              <ns8:t>Наша функция train_line возвращает три объекта: w, b и историю MSE. Класс с fit и predict в актуальном ноутбуке не используется.</ns8:t>
            </ns8:r>
          </ns8:p>
          <ns9:p xmlns:ns9="http://schemas.openxmlformats.org/drawingml/2006/main">
            <ns9:r>
              <ns9:t>Автор: Банцевич Максим. Основа: хендбук Яндекса. Источники: https://contest.yandex.ru/tracks/ml/supervised-learning/linear-models ; https://contest.yandex.ru/tracks/ml/optimization-in-machine-learning/optimization-in-machine-learning</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4b3c9f154f41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7668cbf8f049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7a474273c148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8e19f3a9fb416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89f945196047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8379d3138741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86B551-21D7-49C9-B083-C096ABEC9315}"/>
              </a:ext>
            </a:extLst>
          </p:cNvPr>
          <p:cNvSpPr>
            <a:spLocks xmlns:a="http://schemas.openxmlformats.org/drawingml/2006/main" noGrp="1"/>
          </p:cNvSpPr>
          <p:nvPr>
            <p:ph type="title" idx="0"/>
          </p:nvPr>
        </p:nvSpPr>
        <p:spPr>
          <a:xfrm xmlns:a="http://schemas.openxmlformats.org/drawingml/2006/main">
            <a:off x="1219200" y="3454400"/>
            <a:ext cx="9753600" cy="132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4AE8AAF-406A-42D6-A010-6F883D855C22}"/>
              </a:ext>
            </a:extLst>
          </p:cNvPr>
          <p:cNvSpPr>
            <a:spLocks xmlns:a="http://schemas.openxmlformats.org/drawingml/2006/main" noGrp="1"/>
          </p:cNvSpPr>
          <p:nvPr>
            <p:ph type="subTitle" idx="1"/>
          </p:nvPr>
        </p:nvSpPr>
        <p:spPr>
          <a:xfrm xmlns:a="http://schemas.openxmlformats.org/drawingml/2006/main">
            <a:off x="1828800" y="5029200"/>
            <a:ext cx="8534400" cy="101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9505F2-FF0E-4754-80E1-52EAD18EE1C5}"/>
              </a:ext>
            </a:extLst>
          </p:cNvPr>
          <p:cNvSpPr>
            <a:spLocks xmlns:a="http://schemas.openxmlformats.org/drawingml/2006/main" noGrp="1"/>
          </p:cNvSpPr>
          <p:nvPr>
            <p:ph type="title" idx="0"/>
          </p:nvPr>
        </p:nvSpPr>
        <p:spPr>
          <a:xfrm xmlns:a="http://schemas.openxmlformats.org/drawingml/2006/main">
            <a:off x="1219200" y="3810000"/>
            <a:ext cx="9753600" cy="15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92985D-A726-4E15-AC28-4E855F6FB78C}"/>
              </a:ext>
            </a:extLst>
          </p:cNvPr>
          <p:cNvSpPr>
            <a:spLocks xmlns:a="http://schemas.openxmlformats.org/drawingml/2006/main" noGrp="1"/>
          </p:cNvSpPr>
          <p:nvPr>
            <p:ph type="title" idx="0"/>
          </p:nvPr>
        </p:nvSpPr>
        <p:spPr>
          <a:xfrm xmlns:a="http://schemas.openxmlformats.org/drawingml/2006/main">
            <a:off x="685800" y="711200"/>
            <a:ext cx="108204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12695C-3661-468F-B1AD-FEE3FCE335BF}"/>
              </a:ext>
            </a:extLst>
          </p:cNvPr>
          <p:cNvSpPr>
            <a:spLocks xmlns:a="http://schemas.openxmlformats.org/drawingml/2006/main" noGrp="1"/>
          </p:cNvSpPr>
          <p:nvPr>
            <p:ph type="body" idx="1"/>
          </p:nvPr>
        </p:nvSpPr>
        <p:spPr>
          <a:xfrm xmlns:a="http://schemas.openxmlformats.org/drawingml/2006/main">
            <a:off x="685800" y="2540000"/>
            <a:ext cx="108204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B93D308-9C5A-4272-8B77-FB303456CB77}"/>
              </a:ext>
            </a:extLst>
          </p:cNvPr>
          <p:cNvSpPr>
            <a:spLocks xmlns:a="http://schemas.openxmlformats.org/drawingml/2006/main" noGrp="1"/>
          </p:cNvSpPr>
          <p:nvPr>
            <p:ph type="title" idx="0"/>
          </p:nvPr>
        </p:nvSpPr>
        <p:spPr>
          <a:xfrm xmlns:a="http://schemas.openxmlformats.org/drawingml/2006/main">
            <a:off x="685800" y="711200"/>
            <a:ext cx="108204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B7E258-DD81-4FE2-B49E-D4480B376564}"/>
              </a:ext>
            </a:extLst>
          </p:cNvPr>
          <p:cNvSpPr>
            <a:spLocks xmlns:a="http://schemas.openxmlformats.org/drawingml/2006/main" noGrp="1"/>
          </p:cNvSpPr>
          <p:nvPr>
            <p:ph type="body" idx="1"/>
          </p:nvPr>
        </p:nvSpPr>
        <p:spPr>
          <a:xfrm xmlns:a="http://schemas.openxmlformats.org/drawingml/2006/main">
            <a:off x="685800" y="2540000"/>
            <a:ext cx="50292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B935A1-4B9F-4392-A7F9-9CE70FDAC002}"/>
              </a:ext>
            </a:extLst>
          </p:cNvPr>
          <p:cNvSpPr>
            <a:spLocks xmlns:a="http://schemas.openxmlformats.org/drawingml/2006/main" noGrp="1"/>
          </p:cNvSpPr>
          <p:nvPr>
            <p:ph type="body" idx="2"/>
          </p:nvPr>
        </p:nvSpPr>
        <p:spPr>
          <a:xfrm xmlns:a="http://schemas.openxmlformats.org/drawingml/2006/main">
            <a:off x="6477000" y="2540000"/>
            <a:ext cx="50292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C712C9-4F7A-4FC6-92D9-9F77F8623DFE}"/>
              </a:ext>
            </a:extLst>
          </p:cNvPr>
          <p:cNvSpPr>
            <a:spLocks xmlns:a="http://schemas.openxmlformats.org/drawingml/2006/main" noGrp="1"/>
          </p:cNvSpPr>
          <p:nvPr>
            <p:ph type="title" idx="0"/>
          </p:nvPr>
        </p:nvSpPr>
        <p:spPr>
          <a:xfrm xmlns:a="http://schemas.openxmlformats.org/drawingml/2006/main">
            <a:off x="685800" y="711200"/>
            <a:ext cx="1082040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B41CDE-B464-4C87-A001-936D0E003242}"/>
              </a:ext>
            </a:extLst>
          </p:cNvPr>
          <p:cNvSpPr>
            <a:spLocks xmlns:a="http://schemas.openxmlformats.org/drawingml/2006/main" noGrp="1"/>
          </p:cNvSpPr>
          <p:nvPr>
            <p:ph type="body" idx="1"/>
          </p:nvPr>
        </p:nvSpPr>
        <p:spPr>
          <a:xfrm xmlns:a="http://schemas.openxmlformats.org/drawingml/2006/main">
            <a:off x="685800" y="2540000"/>
            <a:ext cx="5029200" cy="568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133e6fe6a8430e" /><Relationship Type="http://schemas.openxmlformats.org/officeDocument/2006/relationships/slideLayout" Target="/ppt/slideLayouts/slideLayout1.xml" Id="Ra6d7d3fbc1344e75" /><Relationship Type="http://schemas.openxmlformats.org/officeDocument/2006/relationships/slideLayout" Target="/ppt/slideLayouts/slideLayout2.xml" Id="R218ea096de654abf" /><Relationship Type="http://schemas.openxmlformats.org/officeDocument/2006/relationships/slideLayout" Target="/ppt/slideLayouts/slideLayout3.xml" Id="R99b13106bdcd43ce" /><Relationship Type="http://schemas.openxmlformats.org/officeDocument/2006/relationships/slideLayout" Target="/ppt/slideLayouts/slideLayout4.xml" Id="R5a820919bc0c45ba" /><Relationship Type="http://schemas.openxmlformats.org/officeDocument/2006/relationships/slideLayout" Target="/ppt/slideLayouts/slideLayout5.xml" Id="R431ad8315eca4dfb" /><Relationship Type="http://schemas.openxmlformats.org/officeDocument/2006/relationships/slideLayout" Target="/ppt/slideLayouts/slideLayout6.xml" Id="R0b2576507b0e48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d7d3fbc1344e75"/>
    <p:sldLayoutId xmlns:r="http://schemas.openxmlformats.org/officeDocument/2006/relationships" id="2147483650" r:id="R218ea096de654abf"/>
    <p:sldLayoutId xmlns:r="http://schemas.openxmlformats.org/officeDocument/2006/relationships" id="2147483651" r:id="R99b13106bdcd43ce"/>
    <p:sldLayoutId xmlns:r="http://schemas.openxmlformats.org/officeDocument/2006/relationships" id="2147483652" r:id="R5a820919bc0c45ba"/>
    <p:sldLayoutId xmlns:r="http://schemas.openxmlformats.org/officeDocument/2006/relationships" id="2147483653" r:id="R431ad8315eca4dfb"/>
    <p:sldLayoutId xmlns:r="http://schemas.openxmlformats.org/officeDocument/2006/relationships" id="2147483654" r:id="R0b2576507b0e48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94001a22644450" /><Relationship Type="http://schemas.openxmlformats.org/officeDocument/2006/relationships/notesSlide" Target="/ppt/notesSlides/notesSlide1.xml" Id="R3c632273ed1240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92b6775dae4948" /><Relationship Type="http://schemas.openxmlformats.org/officeDocument/2006/relationships/chart" Target="/ppt/slides/charts/chart1.xml" Id="Rc2cc96d08ff24c4f" /><Relationship Type="http://schemas.openxmlformats.org/officeDocument/2006/relationships/notesSlide" Target="/ppt/notesSlides/notesSlide2.xml" Id="Reaba4a8f52714e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d55026136e4e34" /><Relationship Type="http://schemas.openxmlformats.org/officeDocument/2006/relationships/image" Target="/ppt/media/image.png" Id="R788168df842e441c" /><Relationship Type="http://schemas.openxmlformats.org/officeDocument/2006/relationships/image" Target="/ppt/media/image.svg" Id="R20306be2424c429f" /><Relationship Type="http://schemas.openxmlformats.org/officeDocument/2006/relationships/notesSlide" Target="/ppt/notesSlides/notesSlide3.xml" Id="Rf9682f8fd70d43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dbc93c68c749a4" /><Relationship Type="http://schemas.openxmlformats.org/officeDocument/2006/relationships/image" Target="/ppt/media/image2.png" Id="R53ef2691939744b0" /><Relationship Type="http://schemas.openxmlformats.org/officeDocument/2006/relationships/image" Target="/ppt/media/image2.svg" Id="R66b95c0b8f344fd8" /><Relationship Type="http://schemas.openxmlformats.org/officeDocument/2006/relationships/image" Target="/ppt/media/image3.png" Id="R0e7eb984e6bf4f23" /><Relationship Type="http://schemas.openxmlformats.org/officeDocument/2006/relationships/image" Target="/ppt/media/image3.svg" Id="R9bc9b2c451b541fa" /><Relationship Type="http://schemas.openxmlformats.org/officeDocument/2006/relationships/notesSlide" Target="/ppt/notesSlides/notesSlide4.xml" Id="R5ca7e426465643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90efc82b334935" /><Relationship Type="http://schemas.openxmlformats.org/officeDocument/2006/relationships/image" Target="/ppt/media/image4.png" Id="Rf28d1daf4ce545a1" /><Relationship Type="http://schemas.openxmlformats.org/officeDocument/2006/relationships/image" Target="/ppt/media/image4.svg" Id="R2fb1a309e80e41df" /><Relationship Type="http://schemas.openxmlformats.org/officeDocument/2006/relationships/notesSlide" Target="/ppt/notesSlides/notesSlide5.xml" Id="R688a5e5bd0054f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b90778fd3f4c26" /><Relationship Type="http://schemas.openxmlformats.org/officeDocument/2006/relationships/image" Target="/ppt/media/image5.png" Id="R86aca8a50e8847c4" /><Relationship Type="http://schemas.openxmlformats.org/officeDocument/2006/relationships/image" Target="/ppt/media/image5.svg" Id="R25f45c0305194641" /><Relationship Type="http://schemas.openxmlformats.org/officeDocument/2006/relationships/notesSlide" Target="/ppt/notesSlides/notesSlide6.xml" Id="R96bc13d290ea4d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ad017752a3e4f11" /><Relationship Type="http://schemas.openxmlformats.org/officeDocument/2006/relationships/image" Target="/ppt/media/image6.png" Id="R789cf901ef2b4628" /><Relationship Type="http://schemas.openxmlformats.org/officeDocument/2006/relationships/image" Target="/ppt/media/image6.svg" Id="R50835c7b411041be" /><Relationship Type="http://schemas.openxmlformats.org/officeDocument/2006/relationships/image" Target="/ppt/media/image7.png" Id="R6289319396844851" /><Relationship Type="http://schemas.openxmlformats.org/officeDocument/2006/relationships/image" Target="/ppt/media/image7.svg" Id="R6c82b3335ef348a7" /><Relationship Type="http://schemas.openxmlformats.org/officeDocument/2006/relationships/notesSlide" Target="/ppt/notesSlides/notesSlide7.xml" Id="R86993fb063664d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032b5cf66ee43b2" /><Relationship Type="http://schemas.openxmlformats.org/officeDocument/2006/relationships/image" Target="/ppt/media/image8.png" Id="R073a46562ab84d77" /><Relationship Type="http://schemas.openxmlformats.org/officeDocument/2006/relationships/image" Target="/ppt/media/image8.svg" Id="R236e357e38f741fe" /><Relationship Type="http://schemas.openxmlformats.org/officeDocument/2006/relationships/image" Target="/ppt/media/image9.png" Id="R9d2261302bf14cbd" /><Relationship Type="http://schemas.openxmlformats.org/officeDocument/2006/relationships/image" Target="/ppt/media/image9.svg" Id="Raeb366e6f63a45b9" /><Relationship Type="http://schemas.openxmlformats.org/officeDocument/2006/relationships/chart" Target="/ppt/slides/charts/chart2.xml" Id="R8c84d73b89664d67" /><Relationship Type="http://schemas.openxmlformats.org/officeDocument/2006/relationships/notesSlide" Target="/ppt/notesSlides/notesSlide8.xml" Id="R8f2dcf001fec44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21be0b938874129" /><Relationship Type="http://schemas.openxmlformats.org/officeDocument/2006/relationships/image" Target="/ppt/media/image10.png" Id="R38eedc51f2494761" /><Relationship Type="http://schemas.openxmlformats.org/officeDocument/2006/relationships/image" Target="/ppt/media/image10.svg" Id="R26c61e27fdd0494b" /><Relationship Type="http://schemas.openxmlformats.org/officeDocument/2006/relationships/notesSlide" Target="/ppt/notesSlides/notesSlide9.xml" Id="R6182aac960454b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1f223e64b3744af" /><Relationship Type="http://schemas.openxmlformats.org/officeDocument/2006/relationships/image" Target="/ppt/media/image11.png" Id="R40e85b9892494df3" /><Relationship Type="http://schemas.openxmlformats.org/officeDocument/2006/relationships/image" Target="/ppt/media/image11.svg" Id="R92f9a2986f744ab7" /><Relationship Type="http://schemas.openxmlformats.org/officeDocument/2006/relationships/image" Target="/ppt/media/image12.png" Id="R6fd17cd05d214bb1" /><Relationship Type="http://schemas.openxmlformats.org/officeDocument/2006/relationships/image" Target="/ppt/media/image12.svg" Id="Re019ef8d5aab4c8a" /><Relationship Type="http://schemas.openxmlformats.org/officeDocument/2006/relationships/notesSlide" Target="/ppt/notesSlides/notesSlide10.xml" Id="Re5a5108912f841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1c8354fe88f4e9a" /><Relationship Type="http://schemas.openxmlformats.org/officeDocument/2006/relationships/chart" Target="/ppt/slides/charts/chart3.xml" Id="R021a1c69cd054457" /><Relationship Type="http://schemas.openxmlformats.org/officeDocument/2006/relationships/notesSlide" Target="/ppt/notesSlides/notesSlide11.xml" Id="R26f2b800f3d54a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3b203d791c404d" /><Relationship Type="http://schemas.openxmlformats.org/officeDocument/2006/relationships/image" Target="/ppt/media/image13.png" Id="R1f966c3a89cc4a61" /><Relationship Type="http://schemas.openxmlformats.org/officeDocument/2006/relationships/image" Target="/ppt/media/image13.svg" Id="R957aa538f214441b" /><Relationship Type="http://schemas.openxmlformats.org/officeDocument/2006/relationships/image" Target="/ppt/media/image14.png" Id="R9d97fa6e6d7b4abc" /><Relationship Type="http://schemas.openxmlformats.org/officeDocument/2006/relationships/image" Target="/ppt/media/image14.svg" Id="R16387305fda54d03" /><Relationship Type="http://schemas.openxmlformats.org/officeDocument/2006/relationships/image" Target="/ppt/media/image15.png" Id="R0b920206cac9489c" /><Relationship Type="http://schemas.openxmlformats.org/officeDocument/2006/relationships/image" Target="/ppt/media/image15.svg" Id="Rde0624f096be4243" /><Relationship Type="http://schemas.openxmlformats.org/officeDocument/2006/relationships/notesSlide" Target="/ppt/notesSlides/notesSlide12.xml" Id="Rb400303fa4e24c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cbe3f818aea481b" /><Relationship Type="http://schemas.openxmlformats.org/officeDocument/2006/relationships/image" Target="/ppt/media/image16.png" Id="R25984fa2588e4f81" /><Relationship Type="http://schemas.openxmlformats.org/officeDocument/2006/relationships/image" Target="/ppt/media/image16.svg" Id="R6a7f5e729191461d" /><Relationship Type="http://schemas.openxmlformats.org/officeDocument/2006/relationships/notesSlide" Target="/ppt/notesSlides/notesSlide13.xml" Id="Rb5a875e048b84f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fc13edd2f1d45f4" /><Relationship Type="http://schemas.openxmlformats.org/officeDocument/2006/relationships/image" Target="/ppt/media/image17.png" Id="Rf9eb93d0a9654421" /><Relationship Type="http://schemas.openxmlformats.org/officeDocument/2006/relationships/image" Target="/ppt/media/image17.svg" Id="Rc38c6d30a5844cc0" /><Relationship Type="http://schemas.openxmlformats.org/officeDocument/2006/relationships/notesSlide" Target="/ppt/notesSlides/notesSlide14.xml" Id="R6ce1df4a00f141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7f73e55bb9849c3" /><Relationship Type="http://schemas.openxmlformats.org/officeDocument/2006/relationships/image" Target="/ppt/media/image18.png" Id="R25ded66667b34464" /><Relationship Type="http://schemas.openxmlformats.org/officeDocument/2006/relationships/image" Target="/ppt/media/image18.svg" Id="Rfd9ab5c191da4f18" /><Relationship Type="http://schemas.openxmlformats.org/officeDocument/2006/relationships/notesSlide" Target="/ppt/notesSlides/notesSlide15.xml" Id="Rbece9477957647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adb503ea9d94f4b" /><Relationship Type="http://schemas.openxmlformats.org/officeDocument/2006/relationships/image" Target="/ppt/media/image19.png" Id="R0b0c7f46fc0b4a29" /><Relationship Type="http://schemas.openxmlformats.org/officeDocument/2006/relationships/image" Target="/ppt/media/image19.svg" Id="R8f0c054d5ee1410a" /><Relationship Type="http://schemas.openxmlformats.org/officeDocument/2006/relationships/notesSlide" Target="/ppt/notesSlides/notesSlide16.xml" Id="Rb2d0b89668ed43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c4f4dfae5fb4f0a" /><Relationship Type="http://schemas.openxmlformats.org/officeDocument/2006/relationships/chart" Target="/ppt/slides/charts/chart4.xml" Id="R98fcc3e44a2749e0" /><Relationship Type="http://schemas.openxmlformats.org/officeDocument/2006/relationships/notesSlide" Target="/ppt/notesSlides/notesSlide17.xml" Id="R52d24d5496564e8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ed0abef23c64d6f" /><Relationship Type="http://schemas.openxmlformats.org/officeDocument/2006/relationships/image" Target="/ppt/media/image20.png" Id="R2f507cab0b704f61" /><Relationship Type="http://schemas.openxmlformats.org/officeDocument/2006/relationships/image" Target="/ppt/media/image20.svg" Id="R448b6dd951334bb8" /><Relationship Type="http://schemas.openxmlformats.org/officeDocument/2006/relationships/image" Target="/ppt/media/image21.png" Id="Rbd4984b15e724705" /><Relationship Type="http://schemas.openxmlformats.org/officeDocument/2006/relationships/image" Target="/ppt/media/image21.svg" Id="R6056ee499800452c" /><Relationship Type="http://schemas.openxmlformats.org/officeDocument/2006/relationships/image" Target="/ppt/media/image22.png" Id="R246697b2b24e4053" /><Relationship Type="http://schemas.openxmlformats.org/officeDocument/2006/relationships/image" Target="/ppt/media/image22.svg" Id="R2ece72243ac84e43" /><Relationship Type="http://schemas.openxmlformats.org/officeDocument/2006/relationships/notesSlide" Target="/ppt/notesSlides/notesSlide18.xml" Id="R56b9534add444b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2057e499efa4f6d" /><Relationship Type="http://schemas.openxmlformats.org/officeDocument/2006/relationships/image" Target="/ppt/media/image23.png" Id="R14be551df3bb4c9b" /><Relationship Type="http://schemas.openxmlformats.org/officeDocument/2006/relationships/image" Target="/ppt/media/image23.svg" Id="Re8d306bd7275431c" /><Relationship Type="http://schemas.openxmlformats.org/officeDocument/2006/relationships/image" Target="/ppt/media/image24.png" Id="Rce2c5b1e8f3942a0" /><Relationship Type="http://schemas.openxmlformats.org/officeDocument/2006/relationships/image" Target="/ppt/media/image24.svg" Id="Rd0ee08e9d3d340ee" /><Relationship Type="http://schemas.openxmlformats.org/officeDocument/2006/relationships/image" Target="/ppt/media/image25.png" Id="Rc554643fe06f45aa" /><Relationship Type="http://schemas.openxmlformats.org/officeDocument/2006/relationships/image" Target="/ppt/media/image25.svg" Id="R7ae62f633acb4429" /><Relationship Type="http://schemas.openxmlformats.org/officeDocument/2006/relationships/image" Target="/ppt/media/image26.png" Id="Rd5adcee8e99744bf" /><Relationship Type="http://schemas.openxmlformats.org/officeDocument/2006/relationships/image" Target="/ppt/media/image26.svg" Id="Ra2eebda2234a4386" /><Relationship Type="http://schemas.openxmlformats.org/officeDocument/2006/relationships/image" Target="/ppt/media/image27.png" Id="Rcc56ef4bb3bd493e" /><Relationship Type="http://schemas.openxmlformats.org/officeDocument/2006/relationships/image" Target="/ppt/media/image27.svg" Id="Rfbdd3cc9093c4469" /><Relationship Type="http://schemas.openxmlformats.org/officeDocument/2006/relationships/notesSlide" Target="/ppt/notesSlides/notesSlide19.xml" Id="R24a3007290b345b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4b42e5751444aae" /><Relationship Type="http://schemas.openxmlformats.org/officeDocument/2006/relationships/image" Target="/ppt/media/image28.png" Id="R607a75254f224a41" /><Relationship Type="http://schemas.openxmlformats.org/officeDocument/2006/relationships/image" Target="/ppt/media/image28.svg" Id="R6cca3d9c75e3425c" /><Relationship Type="http://schemas.openxmlformats.org/officeDocument/2006/relationships/image" Target="/ppt/media/image29.png" Id="R973ce533e3da43f9" /><Relationship Type="http://schemas.openxmlformats.org/officeDocument/2006/relationships/image" Target="/ppt/media/image29.svg" Id="R2c2fdd8324a34af5" /><Relationship Type="http://schemas.openxmlformats.org/officeDocument/2006/relationships/notesSlide" Target="/ppt/notesSlides/notesSlide20.xml" Id="Rab7f1aa1d6df40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1a66eecf57145a5" /><Relationship Type="http://schemas.openxmlformats.org/officeDocument/2006/relationships/image" Target="/ppt/media/image30.png" Id="Rebc9fc1b9d544078" /><Relationship Type="http://schemas.openxmlformats.org/officeDocument/2006/relationships/image" Target="/ppt/media/image30.svg" Id="Rc3f0543f6a2e4a7d" /><Relationship Type="http://schemas.openxmlformats.org/officeDocument/2006/relationships/image" Target="/ppt/media/image31.png" Id="Re5571dd59c6c4841" /><Relationship Type="http://schemas.openxmlformats.org/officeDocument/2006/relationships/image" Target="/ppt/media/image31.svg" Id="Rb67131f3167449a6" /><Relationship Type="http://schemas.openxmlformats.org/officeDocument/2006/relationships/image" Target="/ppt/media/image32.png" Id="R3355098dc20e4bce" /><Relationship Type="http://schemas.openxmlformats.org/officeDocument/2006/relationships/image" Target="/ppt/media/image32.svg" Id="R1fe568b0a5f24722" /><Relationship Type="http://schemas.openxmlformats.org/officeDocument/2006/relationships/image" Target="/ppt/media/image33.png" Id="R65142d6791fe4a51" /><Relationship Type="http://schemas.openxmlformats.org/officeDocument/2006/relationships/image" Target="/ppt/media/image33.svg" Id="Rc087eb4c6ae345aa" /><Relationship Type="http://schemas.openxmlformats.org/officeDocument/2006/relationships/notesSlide" Target="/ppt/notesSlides/notesSlide21.xml" Id="R3d8e5a82ae4a441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b2446802b9d4f41" /><Relationship Type="http://schemas.openxmlformats.org/officeDocument/2006/relationships/image" Target="/ppt/media/image34.png" Id="R27922e963cc54d6b" /><Relationship Type="http://schemas.openxmlformats.org/officeDocument/2006/relationships/image" Target="/ppt/media/image34.svg" Id="Rccf5bdf5c46443ae" /><Relationship Type="http://schemas.openxmlformats.org/officeDocument/2006/relationships/notesSlide" Target="/ppt/notesSlides/notesSlide22.xml" Id="Rb751230a2d674c9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3a99c8e454a46a5" /><Relationship Type="http://schemas.openxmlformats.org/officeDocument/2006/relationships/image" Target="/ppt/media/image35.png" Id="R5b02fdafd2ce4896" /><Relationship Type="http://schemas.openxmlformats.org/officeDocument/2006/relationships/image" Target="/ppt/media/image35.svg" Id="R5bb0952e026b4379" /><Relationship Type="http://schemas.openxmlformats.org/officeDocument/2006/relationships/chart" Target="/ppt/slides/charts/chart5.xml" Id="R315c74669f55474d" /><Relationship Type="http://schemas.openxmlformats.org/officeDocument/2006/relationships/notesSlide" Target="/ppt/notesSlides/notesSlide23.xml" Id="R2c7a4e8270a94e4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87eb223680547ea" /><Relationship Type="http://schemas.openxmlformats.org/officeDocument/2006/relationships/image" Target="/ppt/media/image36.png" Id="R87d01c5523274062" /><Relationship Type="http://schemas.openxmlformats.org/officeDocument/2006/relationships/image" Target="/ppt/media/image36.svg" Id="Rb848ed6b700f44a9" /><Relationship Type="http://schemas.openxmlformats.org/officeDocument/2006/relationships/notesSlide" Target="/ppt/notesSlides/notesSlide24.xml" Id="R874e71941bc8458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df4aeeb15474b59" /><Relationship Type="http://schemas.openxmlformats.org/officeDocument/2006/relationships/image" Target="/ppt/media/image37.png" Id="Rae250eb994e140bf" /><Relationship Type="http://schemas.openxmlformats.org/officeDocument/2006/relationships/image" Target="/ppt/media/image37.svg" Id="Rd07cec900c9e421e" /><Relationship Type="http://schemas.openxmlformats.org/officeDocument/2006/relationships/notesSlide" Target="/ppt/notesSlides/notesSlide25.xml" Id="Rbb9105c7697e44f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ccfee57eb614afa" /><Relationship Type="http://schemas.openxmlformats.org/officeDocument/2006/relationships/image" Target="/ppt/media/image38.png" Id="Re3ab97c1f8614dcc" /><Relationship Type="http://schemas.openxmlformats.org/officeDocument/2006/relationships/image" Target="/ppt/media/image38.svg" Id="R422b4ebd230f4217" /><Relationship Type="http://schemas.openxmlformats.org/officeDocument/2006/relationships/image" Target="/ppt/media/image39.png" Id="R75d539cd9aed48b6" /><Relationship Type="http://schemas.openxmlformats.org/officeDocument/2006/relationships/image" Target="/ppt/media/image39.svg" Id="R93f59320282840a8" /><Relationship Type="http://schemas.openxmlformats.org/officeDocument/2006/relationships/notesSlide" Target="/ppt/notesSlides/notesSlide26.xml" Id="R5d54d6c916954b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0e0efe30da34893" /><Relationship Type="http://schemas.openxmlformats.org/officeDocument/2006/relationships/image" Target="/ppt/media/image40.png" Id="R8aa79105715c4656" /><Relationship Type="http://schemas.openxmlformats.org/officeDocument/2006/relationships/image" Target="/ppt/media/image40.svg" Id="R5a920b8fc47641f6" /><Relationship Type="http://schemas.openxmlformats.org/officeDocument/2006/relationships/image" Target="/ppt/media/image41.png" Id="Rb13749709ec44c32" /><Relationship Type="http://schemas.openxmlformats.org/officeDocument/2006/relationships/image" Target="/ppt/media/image41.svg" Id="R1191318f647c4766" /><Relationship Type="http://schemas.openxmlformats.org/officeDocument/2006/relationships/image" Target="/ppt/media/image42.png" Id="Rfe22bbef2ffa4a95" /><Relationship Type="http://schemas.openxmlformats.org/officeDocument/2006/relationships/image" Target="/ppt/media/image42.svg" Id="R7912860cf6ef4cd1" /><Relationship Type="http://schemas.openxmlformats.org/officeDocument/2006/relationships/image" Target="/ppt/media/image43.png" Id="Rdaa8389e04864293" /><Relationship Type="http://schemas.openxmlformats.org/officeDocument/2006/relationships/image" Target="/ppt/media/image43.svg" Id="R50433927c3554a8f" /><Relationship Type="http://schemas.openxmlformats.org/officeDocument/2006/relationships/notesSlide" Target="/ppt/notesSlides/notesSlide27.xml" Id="R361bf62d5f5f414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88d33f603fa4dbd" /><Relationship Type="http://schemas.openxmlformats.org/officeDocument/2006/relationships/image" Target="/ppt/media/image44.png" Id="R0ab923c6dfcd40f6" /><Relationship Type="http://schemas.openxmlformats.org/officeDocument/2006/relationships/image" Target="/ppt/media/image44.svg" Id="Rbaabf9b3fb304c15" /><Relationship Type="http://schemas.openxmlformats.org/officeDocument/2006/relationships/image" Target="/ppt/media/image45.png" Id="R56bbcd326ecb4f8b" /><Relationship Type="http://schemas.openxmlformats.org/officeDocument/2006/relationships/image" Target="/ppt/media/image45.svg" Id="Ra714ea80a6e14e79" /><Relationship Type="http://schemas.openxmlformats.org/officeDocument/2006/relationships/image" Target="/ppt/media/image46.png" Id="Re09dd618ded14a3d" /><Relationship Type="http://schemas.openxmlformats.org/officeDocument/2006/relationships/image" Target="/ppt/media/image46.svg" Id="R87b85dd7d3294e3f" /><Relationship Type="http://schemas.openxmlformats.org/officeDocument/2006/relationships/notesSlide" Target="/ppt/notesSlides/notesSlide28.xml" Id="R0f4f6c603980422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c32eeb0e2364ddc" /><Relationship Type="http://schemas.openxmlformats.org/officeDocument/2006/relationships/image" Target="/ppt/media/image47.png" Id="R99facd9ea4464d9f" /><Relationship Type="http://schemas.openxmlformats.org/officeDocument/2006/relationships/image" Target="/ppt/media/image47.svg" Id="Rb2398319269948e0" /><Relationship Type="http://schemas.openxmlformats.org/officeDocument/2006/relationships/image" Target="/ppt/media/image48.png" Id="Rdfb12c3040044c4d" /><Relationship Type="http://schemas.openxmlformats.org/officeDocument/2006/relationships/image" Target="/ppt/media/image48.svg" Id="R46cd5d5d1a944907" /><Relationship Type="http://schemas.openxmlformats.org/officeDocument/2006/relationships/notesSlide" Target="/ppt/notesSlides/notesSlide29.xml" Id="Ra74bd4d8cf404a2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7e9c55703fc48e9" /><Relationship Type="http://schemas.openxmlformats.org/officeDocument/2006/relationships/image" Target="/ppt/media/image49.png" Id="R55f1626681374fe6" /><Relationship Type="http://schemas.openxmlformats.org/officeDocument/2006/relationships/image" Target="/ppt/media/image49.svg" Id="R05c544fea47343da" /><Relationship Type="http://schemas.openxmlformats.org/officeDocument/2006/relationships/image" Target="/ppt/media/image50.png" Id="Rcf359d2a25974794" /><Relationship Type="http://schemas.openxmlformats.org/officeDocument/2006/relationships/image" Target="/ppt/media/image50.svg" Id="R9122e3bb7c794c87" /><Relationship Type="http://schemas.openxmlformats.org/officeDocument/2006/relationships/notesSlide" Target="/ppt/notesSlides/notesSlide30.xml" Id="Rfbf4bfb209064e5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c7ddc03bd8d4a79" /><Relationship Type="http://schemas.openxmlformats.org/officeDocument/2006/relationships/image" Target="/ppt/media/image51.png" Id="R84f330f829674d8e" /><Relationship Type="http://schemas.openxmlformats.org/officeDocument/2006/relationships/image" Target="/ppt/media/image51.svg" Id="R5cd24f4869664f47" /><Relationship Type="http://schemas.openxmlformats.org/officeDocument/2006/relationships/image" Target="/ppt/media/image52.png" Id="Re1186f30a6c245cc" /><Relationship Type="http://schemas.openxmlformats.org/officeDocument/2006/relationships/image" Target="/ppt/media/image52.svg" Id="Rfbed43b850534d8e" /><Relationship Type="http://schemas.openxmlformats.org/officeDocument/2006/relationships/image" Target="/ppt/media/image53.png" Id="R7e88cd6a234b4c06" /><Relationship Type="http://schemas.openxmlformats.org/officeDocument/2006/relationships/image" Target="/ppt/media/image53.svg" Id="R6276e57569b6459b" /><Relationship Type="http://schemas.openxmlformats.org/officeDocument/2006/relationships/notesSlide" Target="/ppt/notesSlides/notesSlide31.xml" Id="R714f88ac86a94f3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1960420d5434c64" /><Relationship Type="http://schemas.openxmlformats.org/officeDocument/2006/relationships/image" Target="/ppt/media/image54.png" Id="R0697f6d0417f478c" /><Relationship Type="http://schemas.openxmlformats.org/officeDocument/2006/relationships/image" Target="/ppt/media/image54.svg" Id="Rc4606f50865e48c6" /><Relationship Type="http://schemas.openxmlformats.org/officeDocument/2006/relationships/notesSlide" Target="/ppt/notesSlides/notesSlide32.xml" Id="R0582a46992fc467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f1538e989d54d66" /><Relationship Type="http://schemas.openxmlformats.org/officeDocument/2006/relationships/image" Target="/ppt/media/image55.png" Id="Rfaf813704a34478b" /><Relationship Type="http://schemas.openxmlformats.org/officeDocument/2006/relationships/image" Target="/ppt/media/image55.svg" Id="Rfe557ba318da4938" /><Relationship Type="http://schemas.openxmlformats.org/officeDocument/2006/relationships/image" Target="/ppt/media/image56.png" Id="R16f9fbe0da974ed6" /><Relationship Type="http://schemas.openxmlformats.org/officeDocument/2006/relationships/image" Target="/ppt/media/image56.svg" Id="Ra1042cd78ff34413" /><Relationship Type="http://schemas.openxmlformats.org/officeDocument/2006/relationships/image" Target="/ppt/media/image57.png" Id="R7fb4992d40b442a6" /><Relationship Type="http://schemas.openxmlformats.org/officeDocument/2006/relationships/image" Target="/ppt/media/image57.svg" Id="R37b350923b1c4c55" /><Relationship Type="http://schemas.openxmlformats.org/officeDocument/2006/relationships/image" Target="/ppt/media/image58.png" Id="R55f13b3bbe4741b1" /><Relationship Type="http://schemas.openxmlformats.org/officeDocument/2006/relationships/image" Target="/ppt/media/image58.svg" Id="R866abe541eaa4e4a" /><Relationship Type="http://schemas.openxmlformats.org/officeDocument/2006/relationships/notesSlide" Target="/ppt/notesSlides/notesSlide33.xml" Id="R096ca0f923ce44e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e89e3cc58154efe" /><Relationship Type="http://schemas.openxmlformats.org/officeDocument/2006/relationships/image" Target="/ppt/media/image59.png" Id="R9bd7840937fa419e" /><Relationship Type="http://schemas.openxmlformats.org/officeDocument/2006/relationships/image" Target="/ppt/media/image59.svg" Id="R3f8ec3b638c24768" /><Relationship Type="http://schemas.openxmlformats.org/officeDocument/2006/relationships/image" Target="/ppt/media/image60.png" Id="R88eb72043732438c" /><Relationship Type="http://schemas.openxmlformats.org/officeDocument/2006/relationships/image" Target="/ppt/media/image60.svg" Id="Rfddf0aaf77d44035" /><Relationship Type="http://schemas.openxmlformats.org/officeDocument/2006/relationships/image" Target="/ppt/media/image61.png" Id="R959a2860d1404c62" /><Relationship Type="http://schemas.openxmlformats.org/officeDocument/2006/relationships/image" Target="/ppt/media/image61.svg" Id="R07dad98dac7a4fc5" /><Relationship Type="http://schemas.openxmlformats.org/officeDocument/2006/relationships/notesSlide" Target="/ppt/notesSlides/notesSlide34.xml" Id="Rfc7c929d3ffd4e0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8c13896f5df43a7" /><Relationship Type="http://schemas.openxmlformats.org/officeDocument/2006/relationships/image" Target="/ppt/media/image62.png" Id="R158bbe7c9da94ade" /><Relationship Type="http://schemas.openxmlformats.org/officeDocument/2006/relationships/image" Target="/ppt/media/image62.svg" Id="R27b2b47842e44914" /><Relationship Type="http://schemas.openxmlformats.org/officeDocument/2006/relationships/image" Target="/ppt/media/image63.png" Id="Ra6a182a9e4af423f" /><Relationship Type="http://schemas.openxmlformats.org/officeDocument/2006/relationships/image" Target="/ppt/media/image63.svg" Id="R19315bdd49e94bce" /><Relationship Type="http://schemas.openxmlformats.org/officeDocument/2006/relationships/notesSlide" Target="/ppt/notesSlides/notesSlide35.xml" Id="R974c228f05954f1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11f05bf77954686" /><Relationship Type="http://schemas.openxmlformats.org/officeDocument/2006/relationships/image" Target="/ppt/media/image64.png" Id="R081e5f3173114332" /><Relationship Type="http://schemas.openxmlformats.org/officeDocument/2006/relationships/image" Target="/ppt/media/image64.svg" Id="Rbe111867bc4545c6" /><Relationship Type="http://schemas.openxmlformats.org/officeDocument/2006/relationships/image" Target="/ppt/media/image65.png" Id="Rf9eee13453f74e20" /><Relationship Type="http://schemas.openxmlformats.org/officeDocument/2006/relationships/image" Target="/ppt/media/image65.svg" Id="R365c1d3bb83c43fa" /><Relationship Type="http://schemas.openxmlformats.org/officeDocument/2006/relationships/image" Target="/ppt/media/image66.png" Id="R4754bd7e10a94ecd" /><Relationship Type="http://schemas.openxmlformats.org/officeDocument/2006/relationships/image" Target="/ppt/media/image66.svg" Id="Re70d16dccf934d51" /><Relationship Type="http://schemas.openxmlformats.org/officeDocument/2006/relationships/image" Target="/ppt/media/image67.png" Id="Re903f404615a4d77" /><Relationship Type="http://schemas.openxmlformats.org/officeDocument/2006/relationships/image" Target="/ppt/media/image67.svg" Id="Rd975e2d23a2c4426" /><Relationship Type="http://schemas.openxmlformats.org/officeDocument/2006/relationships/image" Target="/ppt/media/image68.png" Id="Rd4b8c2956d4a4809" /><Relationship Type="http://schemas.openxmlformats.org/officeDocument/2006/relationships/image" Target="/ppt/media/image68.svg" Id="R419b8f89026f45f8" /><Relationship Type="http://schemas.openxmlformats.org/officeDocument/2006/relationships/notesSlide" Target="/ppt/notesSlides/notesSlide36.xml" Id="Rb1f4015d8d6942e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505b836fad54f98" /><Relationship Type="http://schemas.openxmlformats.org/officeDocument/2006/relationships/notesSlide" Target="/ppt/notesSlides/notesSlide37.xml" Id="Rfd216117d70d4add" /></Relationships>
</file>

<file path=ppt/slides/charts/chart1.xml><?xml version="1.0" encoding="utf-8"?>
<c:chartSpace xmlns:c="http://schemas.openxmlformats.org/drawingml/2006/chart">
  <c:lang val="en-US"/>
  <c:chart>
    <c:plotArea>
      <c:scatterChart>
        <c:scatterStyle val="lineMarker"/>
        <c:varyColors val="0"/>
        <c:ser>
          <c:idx val="0"/>
          <c:order val="0"/>
          <c:tx>
            <c:v>Данные</c:v>
          </c:tx>
          <c:spPr>
            <a:ln xmlns:a="http://schemas.openxmlformats.org/drawingml/2006/main" w="0">
              <a:solidFill>
                <a:srgbClr val="3532B5"/>
              </a:solidFill>
            </a:ln>
          </c:spPr>
          <c:marker>
            <c:symbol val="circle"/>
            <c:size val="9"/>
            <c:spPr>
              <a:solidFill xmlns:a="http://schemas.openxmlformats.org/drawingml/2006/main">
                <a:srgbClr val="3532B5"/>
              </a:solidFill>
            </c:spPr>
          </c:marker>
          <c:xVal>
            <c:numLit>
              <c:formatCode>General</c:formatCode>
              <c:ptCount val="5"/>
              <c:pt idx="0">
                <c:v>0</c:v>
              </c:pt>
              <c:pt idx="1">
                <c:v>1</c:v>
              </c:pt>
              <c:pt idx="2">
                <c:v>2</c:v>
              </c:pt>
              <c:pt idx="3">
                <c:v>3</c:v>
              </c:pt>
              <c:pt idx="4">
                <c:v>4</c:v>
              </c:pt>
            </c:numLit>
          </c:xVal>
          <c:yVal>
            <c:numLit>
              <c:formatCode>0.0</c:formatCode>
              <c:ptCount val="5"/>
              <c:pt idx="0">
                <c:v>1</c:v>
              </c:pt>
              <c:pt idx="1">
                <c:v>3</c:v>
              </c:pt>
              <c:pt idx="2">
                <c:v>4</c:v>
              </c:pt>
              <c:pt idx="3">
                <c:v>7</c:v>
              </c:pt>
              <c:pt idx="4">
                <c:v>10</c:v>
              </c:pt>
            </c:numLit>
          </c:y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1"/>
          <c:min val="0"/>
        </c:scaling>
        <c:delete val="0"/>
        <c:axPos val="l"/>
        <c:majorGridlines>
          <c:spPr>
            <a:ln xmlns:a="http://schemas.openxmlformats.org/drawingml/2006/main" w="9525">
              <a:solidFill>
                <a:srgbClr val="DFDFE9"/>
              </a:solidFill>
            </a:ln>
          </c:spPr>
        </c:majorGridlines>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Время</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iberation Sans"/>
                <a:ea typeface="Liberation Sans"/>
                <a:cs typeface="Liberation Sans"/>
              </a:defRPr>
            </a:pPr>
          </a:p>
        </c:txPr>
        <c:crossAx val="48650112"/>
      </c:valAx>
      <c:valAx>
        <c:axId val="48650112"/>
        <c:scaling>
          <c:orientation val="minMax"/>
          <c:max val="4"/>
          <c:min val="0"/>
        </c:scaling>
        <c:delete val="0"/>
        <c:axPos val="b"/>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Длина</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iberation Sans"/>
                <a:ea typeface="Liberation Sans"/>
                <a:cs typeface="Liberation Sans"/>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scatterChart>
        <c:scatterStyle val="lineMarker"/>
        <c:varyColors val="0"/>
        <c:ser>
          <c:idx val="0"/>
          <c:order val="0"/>
          <c:tx>
            <c:v>q(t)</c:v>
          </c:tx>
          <c:spPr>
            <a:ln xmlns:a="http://schemas.openxmlformats.org/drawingml/2006/main" w="28575">
              <a:solidFill>
                <a:srgbClr val="3532B5"/>
              </a:solidFill>
            </a:ln>
          </c:spPr>
          <c:marker>
            <c:symbol val="none"/>
            <c:size val="9"/>
            <c:spPr>
              <a:solidFill xmlns:a="http://schemas.openxmlformats.org/drawingml/2006/main">
                <a:srgbClr val="3532B5"/>
              </a:solidFill>
            </c:spPr>
          </c:marker>
          <c:xVal>
            <c:numLit>
              <c:formatCode>General</c:formatCode>
              <c:ptCount val="49"/>
              <c:pt idx="0">
                <c:v>0</c:v>
              </c:pt>
              <c:pt idx="1">
                <c:v>0.125</c:v>
              </c:pt>
              <c:pt idx="2">
                <c:v>0.25</c:v>
              </c:pt>
              <c:pt idx="3">
                <c:v>0.375</c:v>
              </c:pt>
              <c:pt idx="4">
                <c:v>0.5</c:v>
              </c:pt>
              <c:pt idx="5">
                <c:v>0.625</c:v>
              </c:pt>
              <c:pt idx="6">
                <c:v>0.75</c:v>
              </c:pt>
              <c:pt idx="7">
                <c:v>0.875</c:v>
              </c:pt>
              <c:pt idx="8">
                <c:v>1</c:v>
              </c:pt>
              <c:pt idx="9">
                <c:v>1.125</c:v>
              </c:pt>
              <c:pt idx="10">
                <c:v>1.25</c:v>
              </c:pt>
              <c:pt idx="11">
                <c:v>1.375</c:v>
              </c:pt>
              <c:pt idx="12">
                <c:v>1.5</c:v>
              </c:pt>
              <c:pt idx="13">
                <c:v>1.625</c:v>
              </c:pt>
              <c:pt idx="14">
                <c:v>1.75</c:v>
              </c:pt>
              <c:pt idx="15">
                <c:v>1.875</c:v>
              </c:pt>
              <c:pt idx="16">
                <c:v>2</c:v>
              </c:pt>
              <c:pt idx="17">
                <c:v>2.125</c:v>
              </c:pt>
              <c:pt idx="18">
                <c:v>2.25</c:v>
              </c:pt>
              <c:pt idx="19">
                <c:v>2.375</c:v>
              </c:pt>
              <c:pt idx="20">
                <c:v>2.5</c:v>
              </c:pt>
              <c:pt idx="21">
                <c:v>2.625</c:v>
              </c:pt>
              <c:pt idx="22">
                <c:v>2.75</c:v>
              </c:pt>
              <c:pt idx="23">
                <c:v>2.875</c:v>
              </c:pt>
              <c:pt idx="24">
                <c:v>3</c:v>
              </c:pt>
              <c:pt idx="25">
                <c:v>3.125</c:v>
              </c:pt>
              <c:pt idx="26">
                <c:v>3.25</c:v>
              </c:pt>
              <c:pt idx="27">
                <c:v>3.375</c:v>
              </c:pt>
              <c:pt idx="28">
                <c:v>3.5</c:v>
              </c:pt>
              <c:pt idx="29">
                <c:v>3.625</c:v>
              </c:pt>
              <c:pt idx="30">
                <c:v>3.75</c:v>
              </c:pt>
              <c:pt idx="31">
                <c:v>3.875</c:v>
              </c:pt>
              <c:pt idx="32">
                <c:v>4</c:v>
              </c:pt>
              <c:pt idx="33">
                <c:v>4.125</c:v>
              </c:pt>
              <c:pt idx="34">
                <c:v>4.25</c:v>
              </c:pt>
              <c:pt idx="35">
                <c:v>4.375</c:v>
              </c:pt>
              <c:pt idx="36">
                <c:v>4.5</c:v>
              </c:pt>
              <c:pt idx="37">
                <c:v>4.625</c:v>
              </c:pt>
              <c:pt idx="38">
                <c:v>4.75</c:v>
              </c:pt>
              <c:pt idx="39">
                <c:v>4.875</c:v>
              </c:pt>
              <c:pt idx="40">
                <c:v>5</c:v>
              </c:pt>
              <c:pt idx="41">
                <c:v>5.125</c:v>
              </c:pt>
              <c:pt idx="42">
                <c:v>5.25</c:v>
              </c:pt>
              <c:pt idx="43">
                <c:v>5.375</c:v>
              </c:pt>
              <c:pt idx="44">
                <c:v>5.5</c:v>
              </c:pt>
              <c:pt idx="45">
                <c:v>5.625</c:v>
              </c:pt>
              <c:pt idx="46">
                <c:v>5.75</c:v>
              </c:pt>
              <c:pt idx="47">
                <c:v>5.875</c:v>
              </c:pt>
              <c:pt idx="48">
                <c:v>6</c:v>
              </c:pt>
            </c:numLit>
          </c:xVal>
          <c:yVal>
            <c:numLit>
              <c:formatCode>0.0</c:formatCode>
              <c:ptCount val="49"/>
              <c:pt idx="0">
                <c:v>11</c:v>
              </c:pt>
              <c:pt idx="1">
                <c:v>10.265625</c:v>
              </c:pt>
              <c:pt idx="2">
                <c:v>9.5625</c:v>
              </c:pt>
              <c:pt idx="3">
                <c:v>8.890625</c:v>
              </c:pt>
              <c:pt idx="4">
                <c:v>8.25</c:v>
              </c:pt>
              <c:pt idx="5">
                <c:v>7.640625</c:v>
              </c:pt>
              <c:pt idx="6">
                <c:v>7.0625</c:v>
              </c:pt>
              <c:pt idx="7">
                <c:v>6.515625</c:v>
              </c:pt>
              <c:pt idx="8">
                <c:v>6</c:v>
              </c:pt>
              <c:pt idx="9">
                <c:v>5.515625</c:v>
              </c:pt>
              <c:pt idx="10">
                <c:v>5.0625</c:v>
              </c:pt>
              <c:pt idx="11">
                <c:v>4.640625</c:v>
              </c:pt>
              <c:pt idx="12">
                <c:v>4.25</c:v>
              </c:pt>
              <c:pt idx="13">
                <c:v>3.890625</c:v>
              </c:pt>
              <c:pt idx="14">
                <c:v>3.5625</c:v>
              </c:pt>
              <c:pt idx="15">
                <c:v>3.265625</c:v>
              </c:pt>
              <c:pt idx="16">
                <c:v>3</c:v>
              </c:pt>
              <c:pt idx="17">
                <c:v>2.765625</c:v>
              </c:pt>
              <c:pt idx="18">
                <c:v>2.5625</c:v>
              </c:pt>
              <c:pt idx="19">
                <c:v>2.390625</c:v>
              </c:pt>
              <c:pt idx="20">
                <c:v>2.25</c:v>
              </c:pt>
              <c:pt idx="21">
                <c:v>2.140625</c:v>
              </c:pt>
              <c:pt idx="22">
                <c:v>2.0625</c:v>
              </c:pt>
              <c:pt idx="23">
                <c:v>2.015625</c:v>
              </c:pt>
              <c:pt idx="24">
                <c:v>2</c:v>
              </c:pt>
              <c:pt idx="25">
                <c:v>2.015625</c:v>
              </c:pt>
              <c:pt idx="26">
                <c:v>2.0625</c:v>
              </c:pt>
              <c:pt idx="27">
                <c:v>2.140625</c:v>
              </c:pt>
              <c:pt idx="28">
                <c:v>2.25</c:v>
              </c:pt>
              <c:pt idx="29">
                <c:v>2.390625</c:v>
              </c:pt>
              <c:pt idx="30">
                <c:v>2.5625</c:v>
              </c:pt>
              <c:pt idx="31">
                <c:v>2.765625</c:v>
              </c:pt>
              <c:pt idx="32">
                <c:v>3</c:v>
              </c:pt>
              <c:pt idx="33">
                <c:v>3.265625</c:v>
              </c:pt>
              <c:pt idx="34">
                <c:v>3.5625</c:v>
              </c:pt>
              <c:pt idx="35">
                <c:v>3.890625</c:v>
              </c:pt>
              <c:pt idx="36">
                <c:v>4.25</c:v>
              </c:pt>
              <c:pt idx="37">
                <c:v>4.640625</c:v>
              </c:pt>
              <c:pt idx="38">
                <c:v>5.0625</c:v>
              </c:pt>
              <c:pt idx="39">
                <c:v>5.515625</c:v>
              </c:pt>
              <c:pt idx="40">
                <c:v>6</c:v>
              </c:pt>
              <c:pt idx="41">
                <c:v>6.515625</c:v>
              </c:pt>
              <c:pt idx="42">
                <c:v>7.0625</c:v>
              </c:pt>
              <c:pt idx="43">
                <c:v>7.640625</c:v>
              </c:pt>
              <c:pt idx="44">
                <c:v>8.25</c:v>
              </c:pt>
              <c:pt idx="45">
                <c:v>8.890625</c:v>
              </c:pt>
              <c:pt idx="46">
                <c:v>9.5625</c:v>
              </c:pt>
              <c:pt idx="47">
                <c:v>10.265625</c:v>
              </c:pt>
              <c:pt idx="48">
                <c:v>11</c:v>
              </c:pt>
            </c:numLit>
          </c:y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DFDFE9"/>
              </a:solidFill>
            </a:ln>
          </c:spPr>
        </c:majorGridlines>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q(t)</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iberation Sans"/>
                <a:ea typeface="Liberation Sans"/>
                <a:cs typeface="Liberation Sans"/>
              </a:defRPr>
            </a:pPr>
          </a:p>
        </c:txPr>
        <c:crossAx val="48650112"/>
      </c:valAx>
      <c:valAx>
        <c:axId val="48650112"/>
        <c:scaling>
          <c:orientation val="minMax"/>
          <c:max val="6"/>
          <c:min val="0"/>
        </c:scaling>
        <c:delete val="0"/>
        <c:axPos val="b"/>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t</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iberation Sans"/>
                <a:ea typeface="Liberation Sans"/>
                <a:cs typeface="Liberation Sans"/>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scatterChart>
        <c:scatterStyle val="lineMarker"/>
        <c:varyColors val="0"/>
        <c:ser>
          <c:idx val="0"/>
          <c:order val="0"/>
          <c:tx>
            <c:v>L(w,1)</c:v>
          </c:tx>
          <c:spPr>
            <a:ln xmlns:a="http://schemas.openxmlformats.org/drawingml/2006/main" w="28575">
              <a:solidFill>
                <a:srgbClr val="3532B5"/>
              </a:solidFill>
            </a:ln>
          </c:spPr>
          <c:marker>
            <c:symbol val="none"/>
            <c:size val="9"/>
            <c:spPr>
              <a:solidFill xmlns:a="http://schemas.openxmlformats.org/drawingml/2006/main">
                <a:srgbClr val="3532B5"/>
              </a:solidFill>
            </c:spPr>
          </c:marker>
          <c:xVal>
            <c:numLit>
              <c:formatCode>General</c:formatCode>
              <c:ptCount val="49"/>
              <c:pt idx="0">
                <c:v>0</c:v>
              </c:pt>
              <c:pt idx="1">
                <c:v>0.08333333333333333</c:v>
              </c:pt>
              <c:pt idx="2">
                <c:v>0.16666666666666666</c:v>
              </c:pt>
              <c:pt idx="3">
                <c:v>0.25</c:v>
              </c:pt>
              <c:pt idx="4">
                <c:v>0.3333333333333333</c:v>
              </c:pt>
              <c:pt idx="5">
                <c:v>0.4166666666666667</c:v>
              </c:pt>
              <c:pt idx="6">
                <c:v>0.5</c:v>
              </c:pt>
              <c:pt idx="7">
                <c:v>0.5833333333333334</c:v>
              </c:pt>
              <c:pt idx="8">
                <c:v>0.6666666666666666</c:v>
              </c:pt>
              <c:pt idx="9">
                <c:v>0.75</c:v>
              </c:pt>
              <c:pt idx="10">
                <c:v>0.8333333333333334</c:v>
              </c:pt>
              <c:pt idx="11">
                <c:v>0.9166666666666666</c:v>
              </c:pt>
              <c:pt idx="12">
                <c:v>1</c:v>
              </c:pt>
              <c:pt idx="13">
                <c:v>1.0833333333333333</c:v>
              </c:pt>
              <c:pt idx="14">
                <c:v>1.1666666666666667</c:v>
              </c:pt>
              <c:pt idx="15">
                <c:v>1.25</c:v>
              </c:pt>
              <c:pt idx="16">
                <c:v>1.3333333333333333</c:v>
              </c:pt>
              <c:pt idx="17">
                <c:v>1.4166666666666667</c:v>
              </c:pt>
              <c:pt idx="18">
                <c:v>1.5</c:v>
              </c:pt>
              <c:pt idx="19">
                <c:v>1.5833333333333333</c:v>
              </c:pt>
              <c:pt idx="20">
                <c:v>1.6666666666666667</c:v>
              </c:pt>
              <c:pt idx="21">
                <c:v>1.75</c:v>
              </c:pt>
              <c:pt idx="22">
                <c:v>1.8333333333333333</c:v>
              </c:pt>
              <c:pt idx="23">
                <c:v>1.9166666666666667</c:v>
              </c:pt>
              <c:pt idx="24">
                <c:v>2</c:v>
              </c:pt>
              <c:pt idx="25">
                <c:v>2.0833333333333335</c:v>
              </c:pt>
              <c:pt idx="26">
                <c:v>2.1666666666666665</c:v>
              </c:pt>
              <c:pt idx="27">
                <c:v>2.25</c:v>
              </c:pt>
              <c:pt idx="28">
                <c:v>2.3333333333333335</c:v>
              </c:pt>
              <c:pt idx="29">
                <c:v>2.4166666666666665</c:v>
              </c:pt>
              <c:pt idx="30">
                <c:v>2.5</c:v>
              </c:pt>
              <c:pt idx="31">
                <c:v>2.5833333333333335</c:v>
              </c:pt>
              <c:pt idx="32">
                <c:v>2.6666666666666665</c:v>
              </c:pt>
              <c:pt idx="33">
                <c:v>2.75</c:v>
              </c:pt>
              <c:pt idx="34">
                <c:v>2.8333333333333335</c:v>
              </c:pt>
              <c:pt idx="35">
                <c:v>2.9166666666666665</c:v>
              </c:pt>
              <c:pt idx="36">
                <c:v>3</c:v>
              </c:pt>
              <c:pt idx="37">
                <c:v>3.0833333333333335</c:v>
              </c:pt>
              <c:pt idx="38">
                <c:v>3.1666666666666665</c:v>
              </c:pt>
              <c:pt idx="39">
                <c:v>3.25</c:v>
              </c:pt>
              <c:pt idx="40">
                <c:v>3.3333333333333335</c:v>
              </c:pt>
              <c:pt idx="41">
                <c:v>3.4166666666666665</c:v>
              </c:pt>
              <c:pt idx="42">
                <c:v>3.5</c:v>
              </c:pt>
              <c:pt idx="43">
                <c:v>3.5833333333333335</c:v>
              </c:pt>
              <c:pt idx="44">
                <c:v>3.6666666666666665</c:v>
              </c:pt>
              <c:pt idx="45">
                <c:v>3.75</c:v>
              </c:pt>
              <c:pt idx="46">
                <c:v>3.8333333333333335</c:v>
              </c:pt>
              <c:pt idx="47">
                <c:v>3.9166666666666665</c:v>
              </c:pt>
              <c:pt idx="48">
                <c:v>4</c:v>
              </c:pt>
            </c:numLit>
          </c:xVal>
          <c:yVal>
            <c:numLit>
              <c:formatCode>0.0</c:formatCode>
              <c:ptCount val="49"/>
              <c:pt idx="0">
                <c:v>26</c:v>
              </c:pt>
              <c:pt idx="1">
                <c:v>23.975</c:v>
              </c:pt>
              <c:pt idx="2">
                <c:v>22.033333333333335</c:v>
              </c:pt>
              <c:pt idx="3">
                <c:v>20.175</c:v>
              </c:pt>
              <c:pt idx="4">
                <c:v>18.400000000000002</c:v>
              </c:pt>
              <c:pt idx="5">
                <c:v>16.708333333333332</c:v>
              </c:pt>
              <c:pt idx="6">
                <c:v>15.1</c:v>
              </c:pt>
              <c:pt idx="7">
                <c:v>13.575</c:v>
              </c:pt>
              <c:pt idx="8">
                <c:v>12.133333333333335</c:v>
              </c:pt>
              <c:pt idx="9">
                <c:v>10.774999999999999</c:v>
              </c:pt>
              <c:pt idx="10">
                <c:v>9.5</c:v>
              </c:pt>
              <c:pt idx="11">
                <c:v>8.30833333333333</c:v>
              </c:pt>
              <c:pt idx="12">
                <c:v>7.199999999999999</c:v>
              </c:pt>
              <c:pt idx="13">
                <c:v>6.174999999999997</c:v>
              </c:pt>
              <c:pt idx="14">
                <c:v>5.233333333333331</c:v>
              </c:pt>
              <c:pt idx="15">
                <c:v>4.375</c:v>
              </c:pt>
              <c:pt idx="16">
                <c:v>3.6000000000000014</c:v>
              </c:pt>
              <c:pt idx="17">
                <c:v>2.908333333333335</c:v>
              </c:pt>
              <c:pt idx="18">
                <c:v>2.299999999999997</c:v>
              </c:pt>
              <c:pt idx="19">
                <c:v>1.7749999999999986</c:v>
              </c:pt>
              <c:pt idx="20">
                <c:v>1.3333333333333321</c:v>
              </c:pt>
              <c:pt idx="21">
                <c:v>0.9750000000000014</c:v>
              </c:pt>
              <c:pt idx="22">
                <c:v>0.6999999999999957</c:v>
              </c:pt>
              <c:pt idx="23">
                <c:v>0.5083333333333293</c:v>
              </c:pt>
              <c:pt idx="24">
                <c:v>0.3999999999999986</c:v>
              </c:pt>
              <c:pt idx="25">
                <c:v>0.37499999999999645</c:v>
              </c:pt>
              <c:pt idx="26">
                <c:v>0.43333333333333</c:v>
              </c:pt>
              <c:pt idx="27">
                <c:v>0.5749999999999957</c:v>
              </c:pt>
              <c:pt idx="28">
                <c:v>0.7999999999999972</c:v>
              </c:pt>
              <c:pt idx="29">
                <c:v>1.1083333333333343</c:v>
              </c:pt>
              <c:pt idx="30">
                <c:v>1.5</c:v>
              </c:pt>
              <c:pt idx="31">
                <c:v>1.9749999999999943</c:v>
              </c:pt>
              <c:pt idx="32">
                <c:v>2.5333333333333385</c:v>
              </c:pt>
              <c:pt idx="33">
                <c:v>3.174999999999997</c:v>
              </c:pt>
              <c:pt idx="34">
                <c:v>3.9000000000000057</c:v>
              </c:pt>
              <c:pt idx="35">
                <c:v>4.708333333333336</c:v>
              </c:pt>
              <c:pt idx="36">
                <c:v>5.599999999999994</c:v>
              </c:pt>
              <c:pt idx="37">
                <c:v>6.575000000000003</c:v>
              </c:pt>
              <c:pt idx="38">
                <c:v>7.633333333333333</c:v>
              </c:pt>
              <c:pt idx="39">
                <c:v>8.774999999999991</c:v>
              </c:pt>
              <c:pt idx="40">
                <c:v>10</c:v>
              </c:pt>
              <c:pt idx="41">
                <c:v>11.308333333333323</c:v>
              </c:pt>
              <c:pt idx="42">
                <c:v>12.700000000000003</c:v>
              </c:pt>
              <c:pt idx="43">
                <c:v>14.174999999999997</c:v>
              </c:pt>
              <c:pt idx="44">
                <c:v>15.73333333333332</c:v>
              </c:pt>
              <c:pt idx="45">
                <c:v>17.375</c:v>
              </c:pt>
              <c:pt idx="46">
                <c:v>19.099999999999994</c:v>
              </c:pt>
              <c:pt idx="47">
                <c:v>20.90833333333333</c:v>
              </c:pt>
              <c:pt idx="48">
                <c:v>22.799999999999997</c:v>
              </c:pt>
            </c:numLit>
          </c:y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0"/>
        </c:scaling>
        <c:delete val="0"/>
        <c:axPos val="l"/>
        <c:majorGridlines>
          <c:spPr>
            <a:ln xmlns:a="http://schemas.openxmlformats.org/drawingml/2006/main" w="9525">
              <a:solidFill>
                <a:srgbClr val="DFDFE9"/>
              </a:solidFill>
            </a:ln>
          </c:spPr>
        </c:majorGridlines>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MSE</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iberation Sans"/>
                <a:ea typeface="Liberation Sans"/>
                <a:cs typeface="Liberation Sans"/>
              </a:defRPr>
            </a:pPr>
          </a:p>
        </c:txPr>
        <c:crossAx val="48650112"/>
      </c:valAx>
      <c:valAx>
        <c:axId val="48650112"/>
        <c:scaling>
          <c:orientation val="minMax"/>
          <c:max val="4"/>
          <c:min val="0"/>
        </c:scaling>
        <c:delete val="0"/>
        <c:axPos val="b"/>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w</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iberation Sans"/>
                <a:ea typeface="Liberation Sans"/>
                <a:cs typeface="Liberation Sans"/>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scatterChart>
        <c:scatterStyle val="lineMarker"/>
        <c:varyColors val="0"/>
        <c:ser>
          <c:idx val="0"/>
          <c:order val="0"/>
          <c:tx>
            <c:v>η = 0,1</c:v>
          </c:tx>
          <c:spPr>
            <a:ln xmlns:a="http://schemas.openxmlformats.org/drawingml/2006/main" w="28575">
              <a:solidFill>
                <a:srgbClr val="3532B5"/>
              </a:solidFill>
            </a:ln>
          </c:spPr>
          <c:marker>
            <c:symbol val="none"/>
            <c:size val="9"/>
            <c:spPr>
              <a:solidFill xmlns:a="http://schemas.openxmlformats.org/drawingml/2006/main">
                <a:srgbClr val="3532B5"/>
              </a:solidFill>
            </c:spPr>
          </c:marker>
          <c:xVal>
            <c:numLit>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Lit>
          </c:xVal>
          <c:yVal>
            <c:numLit>
              <c:formatCode>0.0</c:formatCode>
              <c:ptCount val="13"/>
              <c:pt idx="0">
                <c:v>0</c:v>
              </c:pt>
              <c:pt idx="1">
                <c:v>0.5999999999999996</c:v>
              </c:pt>
              <c:pt idx="2">
                <c:v>1.0799999999999996</c:v>
              </c:pt>
              <c:pt idx="3">
                <c:v>1.4639999999999995</c:v>
              </c:pt>
              <c:pt idx="4">
                <c:v>1.7711999999999999</c:v>
              </c:pt>
              <c:pt idx="5">
                <c:v>2.0169599999999996</c:v>
              </c:pt>
              <c:pt idx="6">
                <c:v>2.2135679999999995</c:v>
              </c:pt>
              <c:pt idx="7">
                <c:v>2.3708544</c:v>
              </c:pt>
              <c:pt idx="8">
                <c:v>2.4966835199999995</c:v>
              </c:pt>
              <c:pt idx="9">
                <c:v>2.597346816</c:v>
              </c:pt>
              <c:pt idx="10">
                <c:v>2.6778774528</c:v>
              </c:pt>
              <c:pt idx="11">
                <c:v>2.74230196224</c:v>
              </c:pt>
              <c:pt idx="12">
                <c:v>2.793841569792</c:v>
              </c:pt>
            </c:numLit>
          </c:yVal>
          <c:smooth val="0"/>
        </c:ser>
        <c:ser>
          <c:idx val="1"/>
          <c:order val="1"/>
          <c:tx>
            <c:v>η = 0,75</c:v>
          </c:tx>
          <c:spPr>
            <a:ln xmlns:a="http://schemas.openxmlformats.org/drawingml/2006/main" w="28575">
              <a:solidFill>
                <a:srgbClr val="3565AC"/>
              </a:solidFill>
            </a:ln>
          </c:spPr>
          <c:marker>
            <c:symbol val="none"/>
            <c:size val="9"/>
            <c:spPr>
              <a:solidFill xmlns:a="http://schemas.openxmlformats.org/drawingml/2006/main">
                <a:srgbClr val="3565AC"/>
              </a:solidFill>
            </c:spPr>
          </c:marker>
          <c:xVal>
            <c:numLit>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Lit>
          </c:xVal>
          <c:yVal>
            <c:numLit>
              <c:formatCode>0.0</c:formatCode>
              <c:ptCount val="13"/>
              <c:pt idx="0">
                <c:v>0</c:v>
              </c:pt>
              <c:pt idx="1">
                <c:v>4.5</c:v>
              </c:pt>
              <c:pt idx="2">
                <c:v>2.25</c:v>
              </c:pt>
              <c:pt idx="3">
                <c:v>3.375</c:v>
              </c:pt>
              <c:pt idx="4">
                <c:v>2.8125</c:v>
              </c:pt>
              <c:pt idx="5">
                <c:v>3.09375</c:v>
              </c:pt>
              <c:pt idx="6">
                <c:v>2.953125</c:v>
              </c:pt>
              <c:pt idx="7">
                <c:v>3.0234375</c:v>
              </c:pt>
              <c:pt idx="8">
                <c:v>2.98828125</c:v>
              </c:pt>
              <c:pt idx="9">
                <c:v>3.005859375</c:v>
              </c:pt>
              <c:pt idx="10">
                <c:v>2.9970703125</c:v>
              </c:pt>
              <c:pt idx="11">
                <c:v>3.00146484375</c:v>
              </c:pt>
              <c:pt idx="12">
                <c:v>2.999267578125</c:v>
              </c:pt>
            </c:numLit>
          </c:yVal>
          <c:smooth val="0"/>
        </c:ser>
        <c:ser>
          <c:idx val="2"/>
          <c:order val="2"/>
          <c:tx>
            <c:v>η = 1,1</c:v>
          </c:tx>
          <c:spPr>
            <a:ln xmlns:a="http://schemas.openxmlformats.org/drawingml/2006/main" w="28575">
              <a:solidFill>
                <a:srgbClr val="C87529"/>
              </a:solidFill>
            </a:ln>
          </c:spPr>
          <c:marker>
            <c:symbol val="none"/>
            <c:size val="9"/>
            <c:spPr>
              <a:solidFill xmlns:a="http://schemas.openxmlformats.org/drawingml/2006/main">
                <a:srgbClr val="C87529"/>
              </a:solidFill>
            </c:spPr>
          </c:marker>
          <c:xVal>
            <c:numLit>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Lit>
          </c:xVal>
          <c:yVal>
            <c:numLit>
              <c:formatCode>0.0</c:formatCode>
              <c:ptCount val="13"/>
              <c:pt idx="0">
                <c:v>0</c:v>
              </c:pt>
              <c:pt idx="1">
                <c:v>6.6</c:v>
              </c:pt>
              <c:pt idx="2">
                <c:v>-1.3200000000000003</c:v>
              </c:pt>
              <c:pt idx="3">
                <c:v>8.184</c:v>
              </c:pt>
              <c:pt idx="4">
                <c:v>-3.2207999999999997</c:v>
              </c:pt>
              <c:pt idx="5">
                <c:v>10.464959999999998</c:v>
              </c:pt>
              <c:pt idx="6">
                <c:v>-5.957951999999999</c:v>
              </c:pt>
              <c:pt idx="7">
                <c:v>13.749542399999997</c:v>
              </c:pt>
              <c:pt idx="8">
                <c:v>-9.899450879999996</c:v>
              </c:pt>
              <c:pt idx="9">
                <c:v>18.479341055999996</c:v>
              </c:pt>
              <c:pt idx="10">
                <c:v>-15.575209267199991</c:v>
              </c:pt>
              <c:pt idx="11">
                <c:v>25.29025112063999</c:v>
              </c:pt>
              <c:pt idx="12">
                <c:v>-23.748301344767988</c:v>
              </c:pt>
            </c:numLit>
          </c:y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27"/>
        </c:scaling>
        <c:delete val="0"/>
        <c:axPos val="l"/>
        <c:majorGridlines>
          <c:spPr>
            <a:ln xmlns:a="http://schemas.openxmlformats.org/drawingml/2006/main" w="9525">
              <a:solidFill>
                <a:srgbClr val="DFDFE9"/>
              </a:solidFill>
            </a:ln>
          </c:spPr>
        </c:majorGridlines>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tₖ</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iberation Sans"/>
                <a:ea typeface="Liberation Sans"/>
                <a:cs typeface="Liberation Sans"/>
              </a:defRPr>
            </a:pPr>
          </a:p>
        </c:txPr>
        <c:crossAx val="48650112"/>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Итерация</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iberation Sans"/>
                <a:ea typeface="Liberation Sans"/>
                <a:cs typeface="Liberation Sans"/>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Liberation Sans"/>
              <a:ea typeface="Liberation Sans"/>
              <a:cs typeface="Liberation Sans"/>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scatterChart>
        <c:scatterStyle val="lineMarker"/>
        <c:varyColors val="0"/>
        <c:ser>
          <c:idx val="0"/>
          <c:order val="0"/>
          <c:tx>
            <c:v>MSE</c:v>
          </c:tx>
          <c:spPr>
            <a:ln xmlns:a="http://schemas.openxmlformats.org/drawingml/2006/main" w="28575">
              <a:solidFill>
                <a:srgbClr val="3532B5"/>
              </a:solidFill>
            </a:ln>
          </c:spPr>
          <c:marker>
            <c:symbol val="none"/>
            <c:size val="9"/>
            <c:spPr>
              <a:solidFill xmlns:a="http://schemas.openxmlformats.org/drawingml/2006/main">
                <a:srgbClr val="3532B5"/>
              </a:solidFill>
            </c:spPr>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0.0</c:formatCode>
              <c:ptCount val="101"/>
              <c:pt idx="0">
                <c:v>35</c:v>
              </c:pt>
              <c:pt idx="1">
                <c:v>4.099599999999999</c:v>
              </c:pt>
              <c:pt idx="2">
                <c:v>0.7373479999999996</c:v>
              </c:pt>
              <c:pt idx="3">
                <c:v>0.3711843599999997</c:v>
              </c:pt>
              <c:pt idx="4">
                <c:v>0.3310071428000001</c:v>
              </c:pt>
              <c:pt idx="5">
                <c:v>0.3263162214759999</c:v>
              </c:pt>
              <c:pt idx="6">
                <c:v>0.32550490112708025</c:v>
              </c:pt>
              <c:pt idx="7">
                <c:v>0.32513336510429197</c:v>
              </c:pt>
              <c:pt idx="8">
                <c:v>0.32482633148409307</c:v>
              </c:pt>
              <c:pt idx="9">
                <c:v>0.3245419914716187</c:v>
              </c:pt>
              <c:pt idx="10">
                <c:v>0.32427487470122807</c:v>
              </c:pt>
              <c:pt idx="11">
                <c:v>0.32402351850959576</c:v>
              </c:pt>
              <c:pt idx="12">
                <c:v>0.32378694726566987</c:v>
              </c:pt>
              <c:pt idx="13">
                <c:v>0.32356428633357076</c:v>
              </c:pt>
              <c:pt idx="14">
                <c:v>0.323354717250245</c:v>
              </c:pt>
              <c:pt idx="15">
                <c:v>0.32315747019219954</c:v>
              </c:pt>
              <c:pt idx="16">
                <c:v>0.32297182065538405</c:v>
              </c:pt>
              <c:pt idx="17">
                <c:v>0.32279708674047247</c:v>
              </c:pt>
              <c:pt idx="18">
                <c:v>0.32263262664238457</c:v>
              </c:pt>
              <c:pt idx="19">
                <c:v>0.3224778362922794</c:v>
              </c:pt>
              <c:pt idx="20">
                <c:v>0.32233214713871317</c:v>
              </c:pt>
              <c:pt idx="21">
                <c:v>0.3221950240593191</c:v>
              </c:pt>
              <c:pt idx="22">
                <c:v>0.3220659633952812</c:v>
              </c:pt>
              <c:pt idx="23">
                <c:v>0.3219444911013708</c:v>
              </c:pt>
              <c:pt idx="24">
                <c:v>0.32183016100476236</c:v>
              </c:pt>
              <c:pt idx="25">
                <c:v>0.3217225531662201</c:v>
              </c:pt>
              <c:pt idx="26">
                <c:v>0.3216212723376434</c:v>
              </c:pt>
              <c:pt idx="27">
                <c:v>0.3215259465103052</c:v>
              </c:pt>
              <c:pt idx="28">
                <c:v>0.32143622554844553</c:v>
              </c:pt>
              <c:pt idx="29">
                <c:v>0.3213517799032123</c:v>
              </c:pt>
              <c:pt idx="30">
                <c:v>0.32127229940221236</c:v>
              </c:pt>
              <c:pt idx="31">
                <c:v>0.3211974921102343</c:v>
              </c:pt>
              <c:pt idx="32">
                <c:v>0.3211270832569588</c:v>
              </c:pt>
              <c:pt idx="33">
                <c:v>0.32106081422771937</c:v>
              </c:pt>
              <c:pt idx="34">
                <c:v>0.32099844161359237</c:v>
              </c:pt>
              <c:pt idx="35">
                <c:v>0.32093973631735356</c:v>
              </c:pt>
              <c:pt idx="36">
                <c:v>0.3208844827119895</c:v>
              </c:pt>
              <c:pt idx="37">
                <c:v>0.3208324778486917</c:v>
              </c:pt>
              <c:pt idx="38">
                <c:v>0.3207835307114188</c:v>
              </c:pt>
              <c:pt idx="39">
                <c:v>0.3207374615152837</c:v>
              </c:pt>
              <c:pt idx="40">
                <c:v>0.3206941010461985</c:v>
              </c:pt>
              <c:pt idx="41">
                <c:v>0.3206532900393436</c:v>
              </c:pt>
              <c:pt idx="42">
                <c:v>0.3206148785941798</c:v>
              </c:pt>
              <c:pt idx="43">
                <c:v>0.32057872562386036</c:v>
              </c:pt>
              <c:pt idx="44">
                <c:v>0.3205446983370092</c:v>
              </c:pt>
              <c:pt idx="45">
                <c:v>0.3205126717499763</c:v>
              </c:pt>
              <c:pt idx="46">
                <c:v>0.3204825282277654</c:v>
              </c:pt>
              <c:pt idx="47">
                <c:v>0.32045415705195585</c:v>
              </c:pt>
              <c:pt idx="48">
                <c:v>0.32042745401403083</c:v>
              </c:pt>
              <c:pt idx="49">
                <c:v>0.32040232103261157</c:v>
              </c:pt>
              <c:pt idx="50">
                <c:v>0.32037866579320584</c:v>
              </c:pt>
              <c:pt idx="51">
                <c:v>0.3203564014091268</c:v>
              </c:pt>
              <c:pt idx="52">
                <c:v>0.3203354461023589</c:v>
              </c:pt>
              <c:pt idx="53">
                <c:v>0.320315722903182</c:v>
              </c:pt>
              <c:pt idx="54">
                <c:v>0.32029715936745984</c:v>
              </c:pt>
              <c:pt idx="55">
                <c:v>0.3202796873105468</c:v>
              </c:pt>
              <c:pt idx="56">
                <c:v>0.3202632425568462</c:v>
              </c:pt>
              <c:pt idx="57">
                <c:v>0.3202477647040884</c:v>
              </c:pt>
              <c:pt idx="58">
                <c:v>0.3202331969014721</c:v>
              </c:pt>
              <c:pt idx="59">
                <c:v>0.32021948564084657</c:v>
              </c:pt>
              <c:pt idx="60">
                <c:v>0.32020658056017826</c:v>
              </c:pt>
              <c:pt idx="61">
                <c:v>0.3201944342585644</c:v>
              </c:pt>
              <c:pt idx="62">
                <c:v>0.3201830021221307</c:v>
              </c:pt>
              <c:pt idx="63">
                <c:v>0.32017224216016016</c:v>
              </c:pt>
              <c:pt idx="64">
                <c:v>0.3201621148508619</c:v>
              </c:pt>
              <c:pt idx="65">
                <c:v>0.32015258299620497</c:v>
              </c:pt>
              <c:pt idx="66">
                <c:v>0.32014361158528687</c:v>
              </c:pt>
              <c:pt idx="67">
                <c:v>0.3201351676657399</c:v>
              </c:pt>
              <c:pt idx="68">
                <c:v>0.3201272202226932</c:v>
              </c:pt>
              <c:pt idx="69">
                <c:v>0.3201197400648559</c:v>
              </c:pt>
              <c:pt idx="70">
                <c:v>0.3201126997172953</c:v>
              </c:pt>
              <c:pt idx="71">
                <c:v>0.3201060733205186</c:v>
              </c:pt>
              <c:pt idx="72">
                <c:v>0.3200998365354936</c:v>
              </c:pt>
              <c:pt idx="73">
                <c:v>0.3200939664542472</c:v>
              </c:pt>
              <c:pt idx="74">
                <c:v>0.32008844151572496</c:v>
              </c:pt>
              <c:pt idx="75">
                <c:v>0.3200832414265963</c:v>
              </c:pt>
              <c:pt idx="76">
                <c:v>0.3200783470867159</c:v>
              </c:pt>
              <c:pt idx="77">
                <c:v>0.320073740518968</c:v>
              </c:pt>
              <c:pt idx="78">
                <c:v>0.32006940480323676</c:v>
              </c:pt>
              <c:pt idx="79">
                <c:v>0.32006532401425647</c:v>
              </c:pt>
              <c:pt idx="80">
                <c:v>0.32006148316311755</c:v>
              </c:pt>
              <c:pt idx="81">
                <c:v>0.3200578681422141</c:v>
              </c:pt>
              <c:pt idx="82">
                <c:v>0.3200544656734213</c:v>
              </c:pt>
              <c:pt idx="83">
                <c:v>0.32005126325932953</c:v>
              </c:pt>
              <c:pt idx="84">
                <c:v>0.32004824913733776</c:v>
              </c:pt>
              <c:pt idx="85">
                <c:v>0.32004541223644906</c:v>
              </c:pt>
              <c:pt idx="86">
                <c:v>0.32004274213660816</c:v>
              </c:pt>
              <c:pt idx="87">
                <c:v>0.32004022903042634</c:v>
              </c:pt>
              <c:pt idx="88">
                <c:v>0.3200378636871587</c:v>
              </c:pt>
              <c:pt idx="89">
                <c:v>0.3200356374188012</c:v>
              </c:pt>
              <c:pt idx="90">
                <c:v>0.32003354204817624</c:v>
              </c:pt>
              <c:pt idx="91">
                <c:v>0.3200315698789001</c:v>
              </c:pt>
              <c:pt idx="92">
                <c:v>0.3200297136671115</c:v>
              </c:pt>
              <c:pt idx="93">
                <c:v>0.32002796659486765</c:v>
              </c:pt>
              <c:pt idx="94">
                <c:v>0.3200263222450991</c:v>
              </c:pt>
              <c:pt idx="95">
                <c:v>0.3200247745780392</c:v>
              </c:pt>
              <c:pt idx="96">
                <c:v>0.3200233179090432</c:v>
              </c:pt>
              <c:pt idx="97">
                <c:v>0.320021946887704</c:v>
              </c:pt>
              <c:pt idx="98">
                <c:v>0.32002065647820344</c:v>
              </c:pt>
              <c:pt idx="99">
                <c:v>0.32001944194081294</c:v>
              </c:pt>
              <c:pt idx="100">
                <c:v>0.320018298814485</c:v>
              </c:pt>
            </c:numLit>
          </c:yVal>
          <c:smooth val="0"/>
        </c:ser>
        <c:dLbls>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0"/>
        </c:scaling>
        <c:delete val="0"/>
        <c:axPos val="l"/>
        <c:majorGridlines>
          <c:spPr>
            <a:ln xmlns:a="http://schemas.openxmlformats.org/drawingml/2006/main" w="9525">
              <a:solidFill>
                <a:srgbClr val="DFDFE9"/>
              </a:solidFill>
            </a:ln>
          </c:spPr>
        </c:majorGridlines>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MSE</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iberation Sans"/>
                <a:ea typeface="Liberation Sans"/>
                <a:cs typeface="Liberation Sans"/>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Liberation Sans"/>
                    <a:ea typeface="Liberation Sans"/>
                    <a:cs typeface="Liberation Sans"/>
                  </a:rPr>
                  <a:t>Итерация</a:t>
                </a:r>
              </a:p>
            </c:rich>
          </c:tx>
          <c:overlay val="0"/>
          <c:txPr>
            <a:bodyPr xmlns:a="http://schemas.openxmlformats.org/drawingml/2006/main" anchorCtr="1"/>
            <a:lstStyle xmlns:a="http://schemas.openxmlformats.org/drawingml/2006/main"/>
            <a:p xmlns:a="http://schemas.openxmlformats.org/drawingml/2006/main">
              <a:pPr>
                <a:defRPr>
                  <a:latin typeface="Liberation Sans"/>
                  <a:ea typeface="Liberation Sans"/>
                  <a:cs typeface="Liberation Sans"/>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Liberation Sans"/>
                <a:ea typeface="Liberation Sans"/>
                <a:cs typeface="Liberation Sans"/>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E24FA3CC-9268-4426-90A9-5A5BC5B71110}"/>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1D8FC8-52DA-4A21-A613-E28F3EA5094F}"/>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Линейная регрессия</a:t>
            </a:r>
          </a:p>
        </p:txBody>
      </p:sp>
      <p:sp>
        <p:nvSpPr>
          <p:cNvPr id="3" name="">
            <a:extLst xmlns:a="http://schemas.openxmlformats.org/drawingml/2006/main">
              <a:ext uri="{FF2B5EF4-FFF2-40B4-BE49-F238E27FC236}">
                <a16:creationId xmlns:a16="http://schemas.microsoft.com/office/drawing/2014/main" id="{AAA1F139-EF05-41F9-83B9-A355452D0D3C}"/>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4" name="">
            <a:extLst xmlns:a="http://schemas.openxmlformats.org/drawingml/2006/main">
              <a:ext uri="{FF2B5EF4-FFF2-40B4-BE49-F238E27FC236}">
                <a16:creationId xmlns:a16="http://schemas.microsoft.com/office/drawing/2014/main" id="{8A2B82F2-F91B-4C8B-B83C-B4A1D15E5C55}"/>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5" name="">
            <a:extLst xmlns:a="http://schemas.openxmlformats.org/drawingml/2006/main">
              <a:ext uri="{FF2B5EF4-FFF2-40B4-BE49-F238E27FC236}">
                <a16:creationId xmlns:a16="http://schemas.microsoft.com/office/drawing/2014/main" id="{DDB56075-E2B4-4AA0-9834-F58464AEC37D}"/>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6" name="">
            <a:extLst xmlns:a="http://schemas.openxmlformats.org/drawingml/2006/main">
              <a:ext uri="{FF2B5EF4-FFF2-40B4-BE49-F238E27FC236}">
                <a16:creationId xmlns:a16="http://schemas.microsoft.com/office/drawing/2014/main" id="{E2D4A09C-7868-4C1F-AC10-81CFC964009B}"/>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7" name="">
            <a:extLst xmlns:a="http://schemas.openxmlformats.org/drawingml/2006/main">
              <a:ext uri="{FF2B5EF4-FFF2-40B4-BE49-F238E27FC236}">
                <a16:creationId xmlns:a16="http://schemas.microsoft.com/office/drawing/2014/main" id="{B48049E0-CC37-4A3F-9637-E28F51F0DB0E}"/>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8" name="">
            <a:extLst xmlns:a="http://schemas.openxmlformats.org/drawingml/2006/main">
              <a:ext uri="{FF2B5EF4-FFF2-40B4-BE49-F238E27FC236}">
                <a16:creationId xmlns:a16="http://schemas.microsoft.com/office/drawing/2014/main" id="{CB388A75-A190-4085-ACBC-0FC4A19C82D9}"/>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CBA95DBF-1C82-469B-A800-4BC6E51A6C7C}"/>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4123F807-F8C6-4200-8213-9BD29119FA44}"/>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56A91D08-7F94-418B-93EB-9908021E747F}"/>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C94EB6B5-0C38-420F-8B52-BDD4578E73FF}"/>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21772014-D939-4FFB-9596-03A21BCA5911}"/>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C78EF445-0A34-4AC2-A2D5-9B061B6B027E}"/>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12628A99-9DA4-457C-B430-CD535CDAC336}"/>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047F80E4-273B-4F24-942D-B498277064AE}"/>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D90234C4-FD13-4B53-A4A7-9646FCC33EE4}"/>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F33B2A0F-7826-49E5-821F-3527ADEE1C58}"/>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C5D56A56-3532-4442-820D-DAE24F31552A}"/>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48E94BB6-D5F1-4340-ACD2-7038D186ADD8}"/>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F88A07F4-2585-4995-B706-F2D732A19AAF}"/>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7044CFF4-5196-4492-B41B-738733F105A1}"/>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02242E3C-2E12-44F7-AEC3-56D3D7E3801F}"/>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3EA70DE4-9500-4D8E-8340-E9FBF0910706}"/>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CDFFA984-2365-46E5-A8CE-E8AD03BA0908}"/>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5FEF2F24-3E85-46D3-BDB9-D9F1100A9F4F}"/>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533A034A-A7FC-4805-BB66-687B39993B65}"/>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A71C037C-89CC-4671-9C11-0D27937A82FF}"/>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7DCBB476-D607-4C32-81B5-5068E0F8DC34}"/>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078E5A0B-8D2E-44CD-A122-31253F35193D}"/>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5DC6E5A1-52C4-4B48-86AE-7289BE12B641}"/>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D54D143A-8549-4E07-A949-B71F83DC7DF8}"/>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F8339A9B-653E-4DE4-A9E9-665277B19C2A}"/>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F21957AF-C311-42A1-8699-B3C1BB493E44}"/>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87F83EF6-A53F-4977-8E90-0C80EB66096F}"/>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536D0722-A6FF-4610-B545-24565D8A9657}"/>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C65F2355-CF52-4AB7-8ED6-6AEA41A56AC2}"/>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108A329A-DCAE-48DB-A094-A42A61A7AA81}"/>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963D1BBE-77DF-4AFA-AFDB-DD8F3E5E3D04}"/>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CC15DCD9-7EB0-425A-A5D0-D6EB15938A30}"/>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C4ECF766-B446-49B1-81EA-82F7C500E88D}"/>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89ADDD77-7C7D-485F-AAF4-12435D6969F0}"/>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FD52BB7D-09DF-4004-BBF9-C60E6FB9E8BD}"/>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6643ED4-7CF9-4A3D-A52C-FE8A1CA0A03B}"/>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F5AB17B-98DC-4338-8D47-3B54EDD64593}"/>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6" name="">
            <a:extLst xmlns:a="http://schemas.openxmlformats.org/drawingml/2006/main">
              <a:ext uri="{FF2B5EF4-FFF2-40B4-BE49-F238E27FC236}">
                <a16:creationId xmlns:a16="http://schemas.microsoft.com/office/drawing/2014/main" id="{145C7235-B727-4507-83C6-6077C79A831A}"/>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7" name="">
            <a:extLst xmlns:a="http://schemas.openxmlformats.org/drawingml/2006/main">
              <a:ext uri="{FF2B5EF4-FFF2-40B4-BE49-F238E27FC236}">
                <a16:creationId xmlns:a16="http://schemas.microsoft.com/office/drawing/2014/main" id="{B0BEA652-DC85-43EC-869A-91B81C118F03}"/>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 / 37</a:t>
            </a:r>
          </a:p>
        </p:txBody>
      </p:sp>
      <p:sp>
        <p:nvSpPr>
          <p:cNvPr id="48" name="">
            <a:extLst xmlns:a="http://schemas.openxmlformats.org/drawingml/2006/main">
              <a:ext uri="{FF2B5EF4-FFF2-40B4-BE49-F238E27FC236}">
                <a16:creationId xmlns:a16="http://schemas.microsoft.com/office/drawing/2014/main" id="{CB7F3DE7-8C85-4784-84C7-F7615234D7CF}"/>
              </a:ext>
            </a:extLst>
          </p:cNvPr>
          <p:cNvSpPr>
            <a:spLocks xmlns:a="http://schemas.openxmlformats.org/drawingml/2006/main" noGrp="1"/>
          </p:cNvSpPr>
          <p:nvPr/>
        </p:nvSpPr>
        <p:spPr>
          <a:xfrm xmlns:a="http://schemas.openxmlformats.org/drawingml/2006/main">
            <a:off x="342900" y="2600325"/>
            <a:ext cx="11506200" cy="1190625"/>
          </a:xfrm>
          <a:prstGeom xmlns:a="http://schemas.openxmlformats.org/drawingml/2006/main" prst="roundRect">
            <a:avLst>
              <a:gd name="adj" fmla="val 6400"/>
            </a:avLst>
          </a:prstGeom>
          <a:solidFill xmlns:a="http://schemas.openxmlformats.org/drawingml/2006/main">
            <a:srgbClr val="3532B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A31CC7C-02AE-4580-9E47-E38EE3E61CA9}"/>
              </a:ext>
            </a:extLst>
          </p:cNvPr>
          <p:cNvSpPr>
            <a:spLocks xmlns:a="http://schemas.openxmlformats.org/drawingml/2006/main" noGrp="1"/>
          </p:cNvSpPr>
          <p:nvPr/>
        </p:nvSpPr>
        <p:spPr>
          <a:xfrm xmlns:a="http://schemas.openxmlformats.org/drawingml/2006/main">
            <a:off x="571500" y="29241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3675" b="0">
                <a:solidFill>
                  <a:srgbClr val="FFFFFF"/>
                </a:solidFill>
              </a:defRPr>
            </a:defPPr>
            <a:lvl1pPr algn="ctr">
              <a:defRPr sz="3675" b="0">
                <a:solidFill>
                  <a:srgbClr val="FFFFFF"/>
                </a:solidFill>
              </a:defRPr>
            </a:lvl1pPr>
            <a:lvl2pPr algn="ctr">
              <a:defRPr sz="3675" b="0">
                <a:solidFill>
                  <a:srgbClr val="FFFFFF"/>
                </a:solidFill>
              </a:defRPr>
            </a:lvl2pPr>
            <a:lvl3pPr algn="ctr">
              <a:defRPr sz="3675" b="0">
                <a:solidFill>
                  <a:srgbClr val="FFFFFF"/>
                </a:solidFill>
              </a:defRPr>
            </a:lvl3pPr>
            <a:lvl4pPr algn="ctr">
              <a:defRPr sz="3675" b="0">
                <a:solidFill>
                  <a:srgbClr val="FFFFFF"/>
                </a:solidFill>
              </a:defRPr>
            </a:lvl4pPr>
            <a:lvl5pPr algn="ctr">
              <a:defRPr sz="3675" b="0">
                <a:solidFill>
                  <a:srgbClr val="FFFFFF"/>
                </a:solidFill>
              </a:defRPr>
            </a:lvl5pPr>
            <a:lvl6pPr algn="ctr">
              <a:defRPr sz="3675" b="0">
                <a:solidFill>
                  <a:srgbClr val="FFFFFF"/>
                </a:solidFill>
              </a:defRPr>
            </a:lvl6pPr>
            <a:lvl7pPr algn="ctr">
              <a:defRPr sz="3675" b="0">
                <a:solidFill>
                  <a:srgbClr val="FFFFFF"/>
                </a:solidFill>
              </a:defRPr>
            </a:lvl7pPr>
            <a:lvl8pPr algn="ctr">
              <a:defRPr sz="3675" b="0">
                <a:solidFill>
                  <a:srgbClr val="FFFFFF"/>
                </a:solidFill>
              </a:defRPr>
            </a:lvl8pPr>
            <a:lvl9pPr algn="ctr">
              <a:defRPr sz="3675" b="0">
                <a:solidFill>
                  <a:srgbClr val="FFFFFF"/>
                </a:solidFill>
              </a:defRPr>
            </a:lvl9pPr>
          </a:lstStyle>
          <a:p xmlns:a="http://schemas.openxmlformats.org/drawingml/2006/main">
            <a:pPr algn="ctr">
              <a:defRPr sz="3675" b="0">
                <a:solidFill>
                  <a:srgbClr val="FFFFFF"/>
                </a:solidFill>
              </a:defRPr>
            </a:pPr>
            <a:r>
              <a:rPr sz="3675" b="0">
                <a:solidFill>
                  <a:srgbClr val="FFFFFF"/>
                </a:solidFill>
              </a:rPr>
              <a:t>Линейная регрессия</a:t>
            </a:r>
          </a:p>
        </p:txBody>
      </p:sp>
      <p:sp>
        <p:nvSpPr>
          <p:cNvPr id="50" name="">
            <a:extLst xmlns:a="http://schemas.openxmlformats.org/drawingml/2006/main">
              <a:ext uri="{FF2B5EF4-FFF2-40B4-BE49-F238E27FC236}">
                <a16:creationId xmlns:a16="http://schemas.microsoft.com/office/drawing/2014/main" id="{7EEF15C0-A2A3-4198-AB82-2585EE381D98}"/>
              </a:ext>
            </a:extLst>
          </p:cNvPr>
          <p:cNvSpPr>
            <a:spLocks xmlns:a="http://schemas.openxmlformats.org/drawingml/2006/main" noGrp="1"/>
          </p:cNvSpPr>
          <p:nvPr/>
        </p:nvSpPr>
        <p:spPr>
          <a:xfrm xmlns:a="http://schemas.openxmlformats.org/drawingml/2006/main">
            <a:off x="666750" y="4429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850" b="0">
                <a:solidFill>
                  <a:srgbClr val="111111"/>
                </a:solidFill>
              </a:defRPr>
            </a:defPPr>
            <a:lvl1pPr algn="ctr">
              <a:defRPr sz="2850" b="0">
                <a:solidFill>
                  <a:srgbClr val="111111"/>
                </a:solidFill>
              </a:defRPr>
            </a:lvl1pPr>
            <a:lvl2pPr algn="ctr">
              <a:defRPr sz="2850" b="0">
                <a:solidFill>
                  <a:srgbClr val="111111"/>
                </a:solidFill>
              </a:defRPr>
            </a:lvl2pPr>
            <a:lvl3pPr algn="ctr">
              <a:defRPr sz="2850" b="0">
                <a:solidFill>
                  <a:srgbClr val="111111"/>
                </a:solidFill>
              </a:defRPr>
            </a:lvl3pPr>
            <a:lvl4pPr algn="ctr">
              <a:defRPr sz="2850" b="0">
                <a:solidFill>
                  <a:srgbClr val="111111"/>
                </a:solidFill>
              </a:defRPr>
            </a:lvl4pPr>
            <a:lvl5pPr algn="ctr">
              <a:defRPr sz="2850" b="0">
                <a:solidFill>
                  <a:srgbClr val="111111"/>
                </a:solidFill>
              </a:defRPr>
            </a:lvl5pPr>
            <a:lvl6pPr algn="ctr">
              <a:defRPr sz="2850" b="0">
                <a:solidFill>
                  <a:srgbClr val="111111"/>
                </a:solidFill>
              </a:defRPr>
            </a:lvl6pPr>
            <a:lvl7pPr algn="ctr">
              <a:defRPr sz="2850" b="0">
                <a:solidFill>
                  <a:srgbClr val="111111"/>
                </a:solidFill>
              </a:defRPr>
            </a:lvl7pPr>
            <a:lvl8pPr algn="ctr">
              <a:defRPr sz="2850" b="0">
                <a:solidFill>
                  <a:srgbClr val="111111"/>
                </a:solidFill>
              </a:defRPr>
            </a:lvl8pPr>
            <a:lvl9pPr algn="ctr">
              <a:defRPr sz="2850" b="0">
                <a:solidFill>
                  <a:srgbClr val="111111"/>
                </a:solidFill>
              </a:defRPr>
            </a:lvl9pPr>
          </a:lstStyle>
          <a:p xmlns:a="http://schemas.openxmlformats.org/drawingml/2006/main">
            <a:pPr algn="ctr">
              <a:defRPr sz="2850" b="0">
                <a:solidFill>
                  <a:srgbClr val="111111"/>
                </a:solidFill>
              </a:defRPr>
            </a:pPr>
            <a:r>
              <a:rPr sz="2850" b="0">
                <a:solidFill>
                  <a:srgbClr val="111111"/>
                </a:solidFill>
              </a:rPr>
              <a:t>Минимум квадратичной функции</a:t>
            </a:r>
          </a:p>
        </p:txBody>
      </p:sp>
      <p:sp>
        <p:nvSpPr>
          <p:cNvPr id="51" name="">
            <a:extLst xmlns:a="http://schemas.openxmlformats.org/drawingml/2006/main">
              <a:ext uri="{FF2B5EF4-FFF2-40B4-BE49-F238E27FC236}">
                <a16:creationId xmlns:a16="http://schemas.microsoft.com/office/drawing/2014/main" id="{C8317135-E820-4E08-9CFA-DD8E2681E234}"/>
              </a:ext>
            </a:extLst>
          </p:cNvPr>
          <p:cNvSpPr>
            <a:spLocks xmlns:a="http://schemas.openxmlformats.org/drawingml/2006/main" noGrp="1"/>
          </p:cNvSpPr>
          <p:nvPr/>
        </p:nvSpPr>
        <p:spPr>
          <a:xfrm xmlns:a="http://schemas.openxmlformats.org/drawingml/2006/main">
            <a:off x="666750" y="528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400" b="0">
                <a:solidFill>
                  <a:srgbClr val="111111"/>
                </a:solidFill>
              </a:defRPr>
            </a:defPPr>
            <a:lvl1pPr algn="ctr">
              <a:defRPr sz="2400" b="0">
                <a:solidFill>
                  <a:srgbClr val="111111"/>
                </a:solidFill>
              </a:defRPr>
            </a:lvl1pPr>
            <a:lvl2pPr algn="ctr">
              <a:defRPr sz="2400" b="0">
                <a:solidFill>
                  <a:srgbClr val="111111"/>
                </a:solidFill>
              </a:defRPr>
            </a:lvl2pPr>
            <a:lvl3pPr algn="ctr">
              <a:defRPr sz="2400" b="0">
                <a:solidFill>
                  <a:srgbClr val="111111"/>
                </a:solidFill>
              </a:defRPr>
            </a:lvl3pPr>
            <a:lvl4pPr algn="ctr">
              <a:defRPr sz="2400" b="0">
                <a:solidFill>
                  <a:srgbClr val="111111"/>
                </a:solidFill>
              </a:defRPr>
            </a:lvl4pPr>
            <a:lvl5pPr algn="ctr">
              <a:defRPr sz="2400" b="0">
                <a:solidFill>
                  <a:srgbClr val="111111"/>
                </a:solidFill>
              </a:defRPr>
            </a:lvl5pPr>
            <a:lvl6pPr algn="ctr">
              <a:defRPr sz="2400" b="0">
                <a:solidFill>
                  <a:srgbClr val="111111"/>
                </a:solidFill>
              </a:defRPr>
            </a:lvl6pPr>
            <a:lvl7pPr algn="ctr">
              <a:defRPr sz="2400" b="0">
                <a:solidFill>
                  <a:srgbClr val="111111"/>
                </a:solidFill>
              </a:defRPr>
            </a:lvl7pPr>
            <a:lvl8pPr algn="ctr">
              <a:defRPr sz="2400" b="0">
                <a:solidFill>
                  <a:srgbClr val="111111"/>
                </a:solidFill>
              </a:defRPr>
            </a:lvl8pPr>
            <a:lvl9pPr algn="ctr">
              <a:defRPr sz="2400" b="0">
                <a:solidFill>
                  <a:srgbClr val="111111"/>
                </a:solidFill>
              </a:defRPr>
            </a:lvl9pPr>
          </a:lstStyle>
          <a:p xmlns:a="http://schemas.openxmlformats.org/drawingml/2006/main">
            <a:pPr algn="ctr">
              <a:defRPr sz="2400" b="0">
                <a:solidFill>
                  <a:srgbClr val="111111"/>
                </a:solidFill>
              </a:defRPr>
            </a:pPr>
            <a:r>
              <a:rPr sz="2400" b="0">
                <a:solidFill>
                  <a:srgbClr val="111111"/>
                </a:solidFill>
              </a:rPr>
              <a:t>Производные, градиентный спуск и СЛАУ</a:t>
            </a:r>
          </a:p>
        </p:txBody>
      </p:sp>
      <p:sp>
        <p:nvSpPr>
          <p:cNvPr id="52" name="">
            <a:extLst xmlns:a="http://schemas.openxmlformats.org/drawingml/2006/main">
              <a:ext uri="{FF2B5EF4-FFF2-40B4-BE49-F238E27FC236}">
                <a16:creationId xmlns:a16="http://schemas.microsoft.com/office/drawing/2014/main" id="{BDD4DFBC-526E-4707-9913-29574B420882}"/>
              </a:ext>
            </a:extLst>
          </p:cNvPr>
          <p:cNvSpPr>
            <a:spLocks xmlns:a="http://schemas.openxmlformats.org/drawingml/2006/main" noGrp="1"/>
          </p:cNvSpPr>
          <p:nvPr/>
        </p:nvSpPr>
        <p:spPr>
          <a:xfrm xmlns:a="http://schemas.openxmlformats.org/drawingml/2006/main">
            <a:off x="666750" y="65055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550" b="0">
                <a:solidFill>
                  <a:srgbClr val="111111"/>
                </a:solidFill>
              </a:defRPr>
            </a:defPPr>
            <a:lvl1pPr algn="ctr">
              <a:defRPr sz="2550" b="0">
                <a:solidFill>
                  <a:srgbClr val="111111"/>
                </a:solidFill>
              </a:defRPr>
            </a:lvl1pPr>
            <a:lvl2pPr algn="ctr">
              <a:defRPr sz="2550" b="0">
                <a:solidFill>
                  <a:srgbClr val="111111"/>
                </a:solidFill>
              </a:defRPr>
            </a:lvl2pPr>
            <a:lvl3pPr algn="ctr">
              <a:defRPr sz="2550" b="0">
                <a:solidFill>
                  <a:srgbClr val="111111"/>
                </a:solidFill>
              </a:defRPr>
            </a:lvl3pPr>
            <a:lvl4pPr algn="ctr">
              <a:defRPr sz="2550" b="0">
                <a:solidFill>
                  <a:srgbClr val="111111"/>
                </a:solidFill>
              </a:defRPr>
            </a:lvl4pPr>
            <a:lvl5pPr algn="ctr">
              <a:defRPr sz="2550" b="0">
                <a:solidFill>
                  <a:srgbClr val="111111"/>
                </a:solidFill>
              </a:defRPr>
            </a:lvl5pPr>
            <a:lvl6pPr algn="ctr">
              <a:defRPr sz="2550" b="0">
                <a:solidFill>
                  <a:srgbClr val="111111"/>
                </a:solidFill>
              </a:defRPr>
            </a:lvl6pPr>
            <a:lvl7pPr algn="ctr">
              <a:defRPr sz="2550" b="0">
                <a:solidFill>
                  <a:srgbClr val="111111"/>
                </a:solidFill>
              </a:defRPr>
            </a:lvl7pPr>
            <a:lvl8pPr algn="ctr">
              <a:defRPr sz="2550" b="0">
                <a:solidFill>
                  <a:srgbClr val="111111"/>
                </a:solidFill>
              </a:defRPr>
            </a:lvl8pPr>
            <a:lvl9pPr algn="ctr">
              <a:defRPr sz="2550" b="0">
                <a:solidFill>
                  <a:srgbClr val="111111"/>
                </a:solidFill>
              </a:defRPr>
            </a:lvl9pPr>
          </a:lstStyle>
          <a:p xmlns:a="http://schemas.openxmlformats.org/drawingml/2006/main">
            <a:pPr algn="ctr">
              <a:defRPr sz="2550" b="0">
                <a:solidFill>
                  <a:srgbClr val="111111"/>
                </a:solidFill>
              </a:defRPr>
            </a:pPr>
            <a:r>
              <a:rPr sz="2550" b="0">
                <a:solidFill>
                  <a:srgbClr val="111111"/>
                </a:solidFill>
              </a:rPr>
              <a:t>Банцевич Максим</a:t>
            </a:r>
          </a:p>
        </p:txBody>
      </p:sp>
    </p:spTree>
    <p:extLst>
      <p:ext uri="{BB962C8B-B14F-4D97-AF65-F5344CB8AC3E}">
        <p14:creationId xmlns:p14="http://schemas.microsoft.com/office/powerpoint/2010/main" val="20673296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377ED807-4ED5-44A9-B2EB-AA68CFA2AA76}"/>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CEE548-10B4-4673-B627-11196822F46B}"/>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Линейная регрессия</a:t>
            </a:r>
          </a:p>
        </p:txBody>
      </p:sp>
      <p:sp>
        <p:nvSpPr>
          <p:cNvPr id="3" name="">
            <a:extLst xmlns:a="http://schemas.openxmlformats.org/drawingml/2006/main">
              <a:ext uri="{FF2B5EF4-FFF2-40B4-BE49-F238E27FC236}">
                <a16:creationId xmlns:a16="http://schemas.microsoft.com/office/drawing/2014/main" id="{85E1BF6D-555A-470F-8BDE-B30CCF6DFBDC}"/>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 name="">
            <a:extLst xmlns:a="http://schemas.openxmlformats.org/drawingml/2006/main">
              <a:ext uri="{FF2B5EF4-FFF2-40B4-BE49-F238E27FC236}">
                <a16:creationId xmlns:a16="http://schemas.microsoft.com/office/drawing/2014/main" id="{03599BE8-F86C-4A18-8CA8-83BF5A88C28D}"/>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5" name="">
            <a:extLst xmlns:a="http://schemas.openxmlformats.org/drawingml/2006/main">
              <a:ext uri="{FF2B5EF4-FFF2-40B4-BE49-F238E27FC236}">
                <a16:creationId xmlns:a16="http://schemas.microsoft.com/office/drawing/2014/main" id="{A2F062C2-FA2D-4A50-82F6-8391B3328CD9}"/>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6" name="">
            <a:extLst xmlns:a="http://schemas.openxmlformats.org/drawingml/2006/main">
              <a:ext uri="{FF2B5EF4-FFF2-40B4-BE49-F238E27FC236}">
                <a16:creationId xmlns:a16="http://schemas.microsoft.com/office/drawing/2014/main" id="{B149F3EE-298D-4400-BBEF-CBA3D4297579}"/>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7" name="">
            <a:extLst xmlns:a="http://schemas.openxmlformats.org/drawingml/2006/main">
              <a:ext uri="{FF2B5EF4-FFF2-40B4-BE49-F238E27FC236}">
                <a16:creationId xmlns:a16="http://schemas.microsoft.com/office/drawing/2014/main" id="{7DD7C182-52EB-48C7-90E4-0EB911F299F9}"/>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8" name="">
            <a:extLst xmlns:a="http://schemas.openxmlformats.org/drawingml/2006/main">
              <a:ext uri="{FF2B5EF4-FFF2-40B4-BE49-F238E27FC236}">
                <a16:creationId xmlns:a16="http://schemas.microsoft.com/office/drawing/2014/main" id="{31041361-560A-48E3-A05A-26E0EFC89FDC}"/>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2D63418B-4B08-4B43-92CC-263A1A5035FD}"/>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8A8778C6-C2AF-4F01-82F1-D660836C8F7E}"/>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9898A814-6214-4387-9A17-3D4E5F62FD5C}"/>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10B41F2E-0EF7-4A08-80BD-22E466159CC2}"/>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00D08DF4-561F-445B-898E-F8589AB606A4}"/>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DE962F9E-2179-4B43-977B-4BA638C6AFF9}"/>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516C8968-6DEF-41AE-A255-B40518C27B87}"/>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2F4FB2D5-6B8D-40CB-9CFC-EB9968C773B3}"/>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F562B834-F10A-45F8-97E5-06188E1272BD}"/>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0A12B299-3E55-476D-9129-C053CEA4E5F9}"/>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6A9669FB-6993-4D56-8E78-D4D5F2BDB572}"/>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B949B872-C7F9-4026-9D8B-A4C11AB1A61C}"/>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23AE4773-DCC4-4F4F-AC64-D0B2B2CA8671}"/>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9B75CD63-57B3-4080-BB11-41A6556BA959}"/>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675823B1-E8F2-41E3-8E35-C408496C3FB9}"/>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B7A0436F-30B8-4C71-95AA-AB539D77D085}"/>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75B517B0-25D7-4237-8B16-E2EFB689A0B7}"/>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BCF392F4-155D-4C42-B11A-1C7B3BE57B52}"/>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D5A0B40A-29FB-465F-9CDA-91FC359F655E}"/>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1869245B-6DB9-4EC2-B1DF-691E1F07B4D2}"/>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AD93A6B1-2F48-42C2-A165-257191F05544}"/>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BF6E12BD-D5DF-472C-9FC7-ACE90B881629}"/>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1241368E-0AAF-4E5B-95F9-F27B87D11AB4}"/>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7B5FC432-7994-43A3-ACC3-8ED29C07C0E9}"/>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EF614490-A72C-4867-9DCE-C6A524072D6E}"/>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E8E5490F-A0F4-4F4E-A224-F7F928B8DC07}"/>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9690BF6E-DE42-4B1E-A0A9-2CAE74FFEC52}"/>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F4482BAC-C7AE-4538-A266-C1E7C8363F51}"/>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0752ECAC-E57C-40DE-94A9-3D5C83EF8C27}"/>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28A4BFA9-752D-42D7-924E-6219EE9A8C6A}"/>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3D2F6DBD-6A90-4E42-A680-F67A3732B976}"/>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9E1168CD-2AE8-4D53-8F73-7FB2957BA1B3}"/>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2F96BE69-242C-4493-8BEB-4A3F8F2E11CE}"/>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4BDF5AF7-C916-4728-9BA6-70BE8B5337D5}"/>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15541E56-DB31-43DA-96FB-98FAA1DBD78E}"/>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B1C3EF0-7644-489C-9F37-C1783C49F443}"/>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Данные и предсказание</a:t>
            </a:r>
          </a:p>
        </p:txBody>
      </p:sp>
      <p:sp>
        <p:nvSpPr>
          <p:cNvPr id="45" name="">
            <a:extLst xmlns:a="http://schemas.openxmlformats.org/drawingml/2006/main">
              <a:ext uri="{FF2B5EF4-FFF2-40B4-BE49-F238E27FC236}">
                <a16:creationId xmlns:a16="http://schemas.microsoft.com/office/drawing/2014/main" id="{683FF3F3-E051-4E4D-81C4-3C43C639D671}"/>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26189D1-A99F-4861-8B31-2D4172A5C043}"/>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AE409F2-3B83-4ABA-976D-51929514C18F}"/>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68A86414-1F39-4A3A-83DD-93581D08A63C}"/>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7516333A-83A8-49C0-9E82-3D49307E6766}"/>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 / 37</a:t>
            </a:r>
          </a:p>
        </p:txBody>
      </p:sp>
      <p:sp>
        <p:nvSpPr>
          <p:cNvPr id="50" name="">
            <a:extLst xmlns:a="http://schemas.openxmlformats.org/drawingml/2006/main">
              <a:ext uri="{FF2B5EF4-FFF2-40B4-BE49-F238E27FC236}">
                <a16:creationId xmlns:a16="http://schemas.microsoft.com/office/drawing/2014/main" id="{94E06EFD-CF8E-4D8F-B99C-8B537DC4770F}"/>
              </a:ext>
            </a:extLst>
          </p:cNvPr>
          <p:cNvSpPr>
            <a:spLocks xmlns:a="http://schemas.openxmlformats.org/drawingml/2006/main" noGrp="1"/>
          </p:cNvSpPr>
          <p:nvPr/>
        </p:nvSpPr>
        <p:spPr>
          <a:xfrm xmlns:a="http://schemas.openxmlformats.org/drawingml/2006/main">
            <a:off x="609600" y="1743075"/>
            <a:ext cx="53149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По длине маршрута хотим</a:t>
            </a:r>
          </a:p>
          <a:p xmlns:a="http://schemas.openxmlformats.org/drawingml/2006/main">
            <a:pPr algn="l">
              <a:defRPr sz="2250" b="0">
                <a:solidFill>
                  <a:srgbClr val="111111"/>
                </a:solidFill>
              </a:defRPr>
            </a:pPr>
            <a:r>
              <a:rPr sz="2250" b="0">
                <a:solidFill>
                  <a:srgbClr val="111111"/>
                </a:solidFill>
              </a:rPr>
              <a:t>предсказать время в пути.</a:t>
            </a:r>
          </a:p>
        </p:txBody>
      </p:sp>
      <p:sp>
        <p:nvSpPr>
          <p:cNvPr id="51" name="">
            <a:extLst xmlns:a="http://schemas.openxmlformats.org/drawingml/2006/main">
              <a:ext uri="{FF2B5EF4-FFF2-40B4-BE49-F238E27FC236}">
                <a16:creationId xmlns:a16="http://schemas.microsoft.com/office/drawing/2014/main" id="{BFEAC64A-56C5-49F2-BFCF-DD56477FC58B}"/>
              </a:ext>
            </a:extLst>
          </p:cNvPr>
          <p:cNvSpPr>
            <a:spLocks xmlns:a="http://schemas.openxmlformats.org/drawingml/2006/main" noGrp="1"/>
          </p:cNvSpPr>
          <p:nvPr/>
        </p:nvSpPr>
        <p:spPr>
          <a:xfrm xmlns:a="http://schemas.openxmlformats.org/drawingml/2006/main">
            <a:off x="609600" y="2646045"/>
            <a:ext cx="531495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Один маршрут — объект. Его длина —</a:t>
            </a:r>
          </a:p>
          <a:p xmlns:a="http://schemas.openxmlformats.org/drawingml/2006/main">
            <a:pPr algn="l">
              <a:defRPr sz="2250" b="0">
                <a:solidFill>
                  <a:srgbClr val="111111"/>
                </a:solidFill>
              </a:defRPr>
            </a:pPr>
            <a:r>
              <a:rPr sz="2250" b="0">
                <a:solidFill>
                  <a:srgbClr val="111111"/>
                </a:solidFill>
              </a:rPr>
              <a:t>признак, время — целевая</a:t>
            </a:r>
          </a:p>
          <a:p xmlns:a="http://schemas.openxmlformats.org/drawingml/2006/main">
            <a:pPr algn="l">
              <a:defRPr sz="2250" b="0">
                <a:solidFill>
                  <a:srgbClr val="111111"/>
                </a:solidFill>
              </a:defRPr>
            </a:pPr>
            <a:r>
              <a:rPr sz="2250" b="0">
                <a:solidFill>
                  <a:srgbClr val="111111"/>
                </a:solidFill>
              </a:rPr>
              <a:t>переменная.</a:t>
            </a:r>
          </a:p>
        </p:txBody>
      </p:sp>
      <p:sp>
        <p:nvSpPr>
          <p:cNvPr id="52" name="">
            <a:extLst xmlns:a="http://schemas.openxmlformats.org/drawingml/2006/main">
              <a:ext uri="{FF2B5EF4-FFF2-40B4-BE49-F238E27FC236}">
                <a16:creationId xmlns:a16="http://schemas.microsoft.com/office/drawing/2014/main" id="{334E1ED6-7797-4F97-8E0C-0B13AAF4E390}"/>
              </a:ext>
            </a:extLst>
          </p:cNvPr>
          <p:cNvSpPr>
            <a:spLocks xmlns:a="http://schemas.openxmlformats.org/drawingml/2006/main" noGrp="1"/>
          </p:cNvSpPr>
          <p:nvPr/>
        </p:nvSpPr>
        <p:spPr>
          <a:xfrm xmlns:a="http://schemas.openxmlformats.org/drawingml/2006/main">
            <a:off x="609600" y="3914775"/>
            <a:ext cx="531495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Выборка содержит известные пары</a:t>
            </a:r>
          </a:p>
          <a:p xmlns:a="http://schemas.openxmlformats.org/drawingml/2006/main">
            <a:pPr algn="l">
              <a:defRPr sz="2250" b="0">
                <a:solidFill>
                  <a:srgbClr val="111111"/>
                </a:solidFill>
              </a:defRPr>
            </a:pPr>
            <a:r>
              <a:rPr sz="2250" b="0">
                <a:solidFill>
                  <a:srgbClr val="111111"/>
                </a:solidFill>
              </a:rPr>
              <a:t>входов и ответов. На новых</a:t>
            </a:r>
          </a:p>
          <a:p xmlns:a="http://schemas.openxmlformats.org/drawingml/2006/main">
            <a:pPr algn="l">
              <a:defRPr sz="2250" b="0">
                <a:solidFill>
                  <a:srgbClr val="111111"/>
                </a:solidFill>
              </a:defRPr>
            </a:pPr>
            <a:r>
              <a:rPr sz="2250" b="0">
                <a:solidFill>
                  <a:srgbClr val="111111"/>
                </a:solidFill>
              </a:rPr>
              <a:t>маршрутах ответ ещё неизвестен.</a:t>
            </a:r>
          </a:p>
        </p:txBody>
      </p:sp>
      <p:graphicFrame>
        <p:nvGraphicFramePr>
          <p:cNvPr id="53" name="Chart">
            <a:extLst xmlns:a="http://schemas.openxmlformats.org/drawingml/2006/main">
              <a:ext uri="{FF2B5EF4-FFF2-40B4-BE49-F238E27FC236}">
                <a16:creationId xmlns:a16="http://schemas.microsoft.com/office/drawing/2014/main" id="{9BA89463-6F46-4404-8FAF-A886A2554FFA}"/>
              </a:ext>
            </a:extLst>
          </p:cNvPr>
          <p:cNvGraphicFramePr/>
          <p:nvPr/>
        </p:nvGraphicFramePr>
        <p:xfrm>
          <a:off xmlns:a="http://schemas.openxmlformats.org/drawingml/2006/main" x="6267450" y="1743075"/>
          <a:ext xmlns:a="http://schemas.openxmlformats.org/drawingml/2006/main" cx="5314950" cy="3810000"/>
        </p:xfrm>
        <a:graphic xmlns:a="http://schemas.openxmlformats.org/drawingml/2006/main">
          <a:graphicData uri="http://schemas.openxmlformats.org/drawingml/2006/chart">
            <c:chart xmlns:r="http://schemas.openxmlformats.org/officeDocument/2006/relationships" xmlns:c="http://schemas.openxmlformats.org/drawingml/2006/chart" r:id="Rc2cc96d08ff24c4f"/>
          </a:graphicData>
        </a:graphic>
      </p:graphicFrame>
      <p:sp>
        <p:nvSpPr>
          <p:cNvPr id="54" name="">
            <a:extLst xmlns:a="http://schemas.openxmlformats.org/drawingml/2006/main">
              <a:ext uri="{FF2B5EF4-FFF2-40B4-BE49-F238E27FC236}">
                <a16:creationId xmlns:a16="http://schemas.microsoft.com/office/drawing/2014/main" id="{F32ED184-333E-4D3D-BD15-4A58FFFFD942}"/>
              </a:ext>
            </a:extLst>
          </p:cNvPr>
          <p:cNvSpPr>
            <a:spLocks xmlns:a="http://schemas.openxmlformats.org/drawingml/2006/main" noGrp="1"/>
          </p:cNvSpPr>
          <p:nvPr/>
        </p:nvSpPr>
        <p:spPr>
          <a:xfrm xmlns:a="http://schemas.openxmlformats.org/drawingml/2006/main">
            <a:off x="609600" y="5781675"/>
            <a:ext cx="10972800" cy="682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11111"/>
                </a:solidFill>
              </a:defRPr>
            </a:defPPr>
            <a:lvl1pPr algn="l">
              <a:defRPr sz="2100" b="0">
                <a:solidFill>
                  <a:srgbClr val="111111"/>
                </a:solidFill>
              </a:defRPr>
            </a:lvl1pPr>
            <a:lvl2pPr algn="l">
              <a:defRPr sz="2100" b="0">
                <a:solidFill>
                  <a:srgbClr val="111111"/>
                </a:solidFill>
              </a:defRPr>
            </a:lvl2pPr>
            <a:lvl3pPr algn="l">
              <a:defRPr sz="2100" b="0">
                <a:solidFill>
                  <a:srgbClr val="111111"/>
                </a:solidFill>
              </a:defRPr>
            </a:lvl3pPr>
            <a:lvl4pPr algn="l">
              <a:defRPr sz="2100" b="0">
                <a:solidFill>
                  <a:srgbClr val="111111"/>
                </a:solidFill>
              </a:defRPr>
            </a:lvl4pPr>
            <a:lvl5pPr algn="l">
              <a:defRPr sz="2100" b="0">
                <a:solidFill>
                  <a:srgbClr val="111111"/>
                </a:solidFill>
              </a:defRPr>
            </a:lvl5pPr>
            <a:lvl6pPr algn="l">
              <a:defRPr sz="2100" b="0">
                <a:solidFill>
                  <a:srgbClr val="111111"/>
                </a:solidFill>
              </a:defRPr>
            </a:lvl6pPr>
            <a:lvl7pPr algn="l">
              <a:defRPr sz="2100" b="0">
                <a:solidFill>
                  <a:srgbClr val="111111"/>
                </a:solidFill>
              </a:defRPr>
            </a:lvl7pPr>
            <a:lvl8pPr algn="l">
              <a:defRPr sz="2100" b="0">
                <a:solidFill>
                  <a:srgbClr val="111111"/>
                </a:solidFill>
              </a:defRPr>
            </a:lvl8pPr>
            <a:lvl9pPr algn="l">
              <a:defRPr sz="2100" b="0">
                <a:solidFill>
                  <a:srgbClr val="111111"/>
                </a:solidFill>
              </a:defRPr>
            </a:lvl9pPr>
          </a:lstStyle>
          <a:p xmlns:a="http://schemas.openxmlformats.org/drawingml/2006/main">
            <a:pPr algn="l">
              <a:defRPr sz="2100" b="0">
                <a:solidFill>
                  <a:srgbClr val="111111"/>
                </a:solidFill>
              </a:defRPr>
            </a:pPr>
            <a:r>
              <a:rPr sz="2100" b="0">
                <a:solidFill>
                  <a:srgbClr val="111111"/>
                </a:solidFill>
              </a:rPr>
              <a:t>Регрессия предсказывает числовую величину. На протяжении занятия используем</a:t>
            </a:r>
          </a:p>
          <a:p xmlns:a="http://schemas.openxmlformats.org/drawingml/2006/main">
            <a:pPr algn="l">
              <a:defRPr sz="2100" b="0">
                <a:solidFill>
                  <a:srgbClr val="111111"/>
                </a:solidFill>
              </a:defRPr>
            </a:pPr>
            <a:r>
              <a:rPr sz="2100" b="0">
                <a:solidFill>
                  <a:srgbClr val="111111"/>
                </a:solidFill>
              </a:rPr>
              <a:t>одни и те же пять синтетических точек.</a:t>
            </a:r>
          </a:p>
        </p:txBody>
      </p:sp>
    </p:spTree>
    <p:extLst>
      <p:ext uri="{BB962C8B-B14F-4D97-AF65-F5344CB8AC3E}">
        <p14:creationId xmlns:p14="http://schemas.microsoft.com/office/powerpoint/2010/main" val="2682624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EBE8A6C4-72D3-4948-B906-AD710CBC75F1}"/>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1B4FD1-A0FD-4182-A4AB-D0C0C154E591}"/>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Линейная регрессия</a:t>
            </a:r>
          </a:p>
        </p:txBody>
      </p:sp>
      <p:sp>
        <p:nvSpPr>
          <p:cNvPr id="3" name="">
            <a:extLst xmlns:a="http://schemas.openxmlformats.org/drawingml/2006/main">
              <a:ext uri="{FF2B5EF4-FFF2-40B4-BE49-F238E27FC236}">
                <a16:creationId xmlns:a16="http://schemas.microsoft.com/office/drawing/2014/main" id="{36450AF0-86B4-4281-9EB3-7329CFD6BAF9}"/>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 name="">
            <a:extLst xmlns:a="http://schemas.openxmlformats.org/drawingml/2006/main">
              <a:ext uri="{FF2B5EF4-FFF2-40B4-BE49-F238E27FC236}">
                <a16:creationId xmlns:a16="http://schemas.microsoft.com/office/drawing/2014/main" id="{ED855455-1E01-49A5-81CC-EE98970CD2F2}"/>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5" name="">
            <a:extLst xmlns:a="http://schemas.openxmlformats.org/drawingml/2006/main">
              <a:ext uri="{FF2B5EF4-FFF2-40B4-BE49-F238E27FC236}">
                <a16:creationId xmlns:a16="http://schemas.microsoft.com/office/drawing/2014/main" id="{A093BF23-74DE-4513-B8AE-57A459D05574}"/>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6" name="">
            <a:extLst xmlns:a="http://schemas.openxmlformats.org/drawingml/2006/main">
              <a:ext uri="{FF2B5EF4-FFF2-40B4-BE49-F238E27FC236}">
                <a16:creationId xmlns:a16="http://schemas.microsoft.com/office/drawing/2014/main" id="{1C396E67-26D8-4711-BE8D-2545CCB6FAF2}"/>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7" name="">
            <a:extLst xmlns:a="http://schemas.openxmlformats.org/drawingml/2006/main">
              <a:ext uri="{FF2B5EF4-FFF2-40B4-BE49-F238E27FC236}">
                <a16:creationId xmlns:a16="http://schemas.microsoft.com/office/drawing/2014/main" id="{45B50913-B3F8-42C3-976D-6CCC4C2F46C7}"/>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8" name="">
            <a:extLst xmlns:a="http://schemas.openxmlformats.org/drawingml/2006/main">
              <a:ext uri="{FF2B5EF4-FFF2-40B4-BE49-F238E27FC236}">
                <a16:creationId xmlns:a16="http://schemas.microsoft.com/office/drawing/2014/main" id="{A4DBCAD7-3346-43EC-B42F-8EAA516824F4}"/>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B53CD399-894E-4C5D-9FD9-492DF8418951}"/>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F5D5A37F-80D4-436D-8368-69A98717D97C}"/>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EC7D53BB-05FE-4A81-8D27-02E06518FE52}"/>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3D80F779-E1CD-4FF1-83C1-06ED1760A0B4}"/>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5A183EBC-E43C-4AFA-9012-9BEB97510F39}"/>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0D3ED558-5AA5-4011-B81D-2D755B51F4CF}"/>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BB2F4680-8B35-4769-ABF3-6EDE6FEE59FB}"/>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5BA9D86D-EC32-48DC-8DCA-7ADAC95A2A16}"/>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1E2D3574-2DE2-404C-8CDB-1680B776E93B}"/>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151CB30D-EB71-4A18-A72D-850429530DA7}"/>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578A4FD7-61EE-4022-9599-BD70C5F6DE34}"/>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BDA3B9BC-7FD4-4248-AFE4-95B403375A2F}"/>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B8F9474C-B37B-4DD1-AF67-0B2713780266}"/>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801D8DD9-3F53-465B-A9B5-352AFF00251B}"/>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C8C46470-B227-47CA-85E6-098DAF54B65E}"/>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EC3231D6-F740-4DFD-BA8F-99E5091E0B86}"/>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F09DE42A-EBC4-40FC-BDCB-A098D8F1DA76}"/>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409CD1A7-2CB7-4669-88EA-4BB5D92C5017}"/>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BBF5CD83-0284-462C-8D9C-375E81606225}"/>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D496B397-0B61-444E-89C7-EAE1788B0987}"/>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2AF21F9B-54A9-4B4F-814B-D50ADDD08CA0}"/>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AE4C3509-C097-4E01-8FF4-81E6394D2E7D}"/>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CC17772F-3C7F-4312-8E9F-F2B4D4B9772F}"/>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8E00091B-9C62-4C42-B5BA-EE9F0764CB8C}"/>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C39D6506-A5D5-4622-81C1-EC92684FB5F2}"/>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622A37D3-79D0-4A23-8D0F-513B8DB9260B}"/>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1FC88126-ADFF-475B-8A44-C1942EFE629A}"/>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033E4C65-D019-4B05-8D88-97895344C8CE}"/>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8DF46A31-B7D8-4043-A584-1D7EB9628C85}"/>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8EBDB7F5-DEAC-4DE5-B2DD-7214A92A2278}"/>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C1F83069-7B49-4348-A8B5-F421E7846E6A}"/>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4BBCE48D-899B-490B-B8F2-A4D444261976}"/>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E2A182C1-CD38-44B5-A5E8-BD5633560FAA}"/>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948E2F1B-B288-48DE-B276-425C21F671E3}"/>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6006502B-F8A8-442C-8F44-A21146C7A94B}"/>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80E975E-DEAA-476B-9C61-89291CEF4A42}"/>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Уравнение прямой</a:t>
            </a:r>
          </a:p>
        </p:txBody>
      </p:sp>
      <p:sp>
        <p:nvSpPr>
          <p:cNvPr id="45" name="">
            <a:extLst xmlns:a="http://schemas.openxmlformats.org/drawingml/2006/main">
              <a:ext uri="{FF2B5EF4-FFF2-40B4-BE49-F238E27FC236}">
                <a16:creationId xmlns:a16="http://schemas.microsoft.com/office/drawing/2014/main" id="{1A7B25E2-D8A6-47B4-8A37-FAAA0D153DEB}"/>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5DCF674-BDAA-4C3B-850F-FBD87D1082C0}"/>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1D1C9CB-D50D-4DC6-BC85-D37E6CB1C5CB}"/>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A81A2A7A-D23A-477B-A887-91375446291E}"/>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23A73336-4F47-4180-8499-9F1F97B54318}"/>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3 / 37</a:t>
            </a:r>
          </a:p>
        </p:txBody>
      </p:sp>
      <p:sp>
        <p:nvSpPr>
          <p:cNvPr id="50" name="">
            <a:extLst xmlns:a="http://schemas.openxmlformats.org/drawingml/2006/main">
              <a:ext uri="{FF2B5EF4-FFF2-40B4-BE49-F238E27FC236}">
                <a16:creationId xmlns:a16="http://schemas.microsoft.com/office/drawing/2014/main" id="{734D3F51-7904-4D39-8184-A5E16DC79C96}"/>
              </a:ext>
            </a:extLst>
          </p:cNvPr>
          <p:cNvSpPr>
            <a:spLocks xmlns:a="http://schemas.openxmlformats.org/drawingml/2006/main" noGrp="1"/>
          </p:cNvSpPr>
          <p:nvPr/>
        </p:nvSpPr>
        <p:spPr>
          <a:xfrm xmlns:a="http://schemas.openxmlformats.org/drawingml/2006/main">
            <a:off x="609600" y="1743075"/>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Выберем семейство моделей, в котором прогноз зависит от одного признака:</a:t>
            </a:r>
          </a:p>
        </p:txBody>
      </p:sp>
      <p:pic>
        <p:nvPicPr>
          <p:cNvPr id="51" name="">
            <a:extLst xmlns:a="http://schemas.openxmlformats.org/drawingml/2006/main">
              <a:ext uri="{FF2B5EF4-FFF2-40B4-BE49-F238E27FC236}">
                <a16:creationId xmlns:a16="http://schemas.microsoft.com/office/drawing/2014/main" id="{D08C855F-6E4D-4D20-93CE-EEBD403EBB45}"/>
              </a:ext>
            </a:extLst>
          </p:cNvPr>
          <p:cNvPicPr>
            <a:picLocks xmlns:a="http://schemas.openxmlformats.org/drawingml/2006/main" noChangeAspect="1"/>
          </p:cNvPicPr>
          <p:nvPr/>
        </p:nvPicPr>
        <p:blipFill>
          <a:blip xmlns:r="http://schemas.openxmlformats.org/officeDocument/2006/relationships" xmlns:a="http://schemas.openxmlformats.org/drawingml/2006/main" r:embed="R788168df842e441c">
            <a:extLst>
              <a:ext uri="{96DAC541-7B7A-43D3-8B79-37D633B846F1}">
                <asvg:svgBlip xmlns:asvg="http://schemas.microsoft.com/office/drawing/2016/SVG/main" r:embed="R20306be2424c429f"/>
              </a:ext>
            </a:extLst>
          </a:blip>
          <a:stretch xmlns:a="http://schemas.openxmlformats.org/drawingml/2006/main"/>
        </p:blipFill>
        <p:spPr>
          <a:xfrm xmlns:a="http://schemas.openxmlformats.org/drawingml/2006/main">
            <a:off x="5052286" y="2337435"/>
            <a:ext cx="2087428" cy="392425"/>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17B1596B-87CC-4769-B9E3-9E2A66723BCF}"/>
              </a:ext>
            </a:extLst>
          </p:cNvPr>
          <p:cNvSpPr>
            <a:spLocks xmlns:a="http://schemas.openxmlformats.org/drawingml/2006/main" noGrp="1"/>
          </p:cNvSpPr>
          <p:nvPr/>
        </p:nvSpPr>
        <p:spPr>
          <a:xfrm xmlns:a="http://schemas.openxmlformats.org/drawingml/2006/main">
            <a:off x="609600" y="2958460"/>
            <a:ext cx="53149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Наклон w</a:t>
            </a:r>
          </a:p>
        </p:txBody>
      </p:sp>
      <p:sp>
        <p:nvSpPr>
          <p:cNvPr id="53" name="">
            <a:extLst xmlns:a="http://schemas.openxmlformats.org/drawingml/2006/main">
              <a:ext uri="{FF2B5EF4-FFF2-40B4-BE49-F238E27FC236}">
                <a16:creationId xmlns:a16="http://schemas.microsoft.com/office/drawing/2014/main" id="{6680DD1E-2DE9-408F-9449-4D0026496C31}"/>
              </a:ext>
            </a:extLst>
          </p:cNvPr>
          <p:cNvSpPr>
            <a:spLocks xmlns:a="http://schemas.openxmlformats.org/drawingml/2006/main" noGrp="1"/>
          </p:cNvSpPr>
          <p:nvPr/>
        </p:nvSpPr>
        <p:spPr>
          <a:xfrm xmlns:a="http://schemas.openxmlformats.org/drawingml/2006/main">
            <a:off x="609600" y="3507862"/>
            <a:ext cx="53149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При увеличении признака на единицу</a:t>
            </a:r>
          </a:p>
          <a:p xmlns:a="http://schemas.openxmlformats.org/drawingml/2006/main">
            <a:pPr algn="l">
              <a:defRPr sz="2250" b="0">
                <a:solidFill>
                  <a:srgbClr val="111111"/>
                </a:solidFill>
              </a:defRPr>
            </a:pPr>
            <a:r>
              <a:rPr sz="2250" b="0">
                <a:solidFill>
                  <a:srgbClr val="111111"/>
                </a:solidFill>
              </a:rPr>
              <a:t>прогноз меняется на w.</a:t>
            </a:r>
          </a:p>
        </p:txBody>
      </p:sp>
      <p:sp>
        <p:nvSpPr>
          <p:cNvPr id="54" name="">
            <a:extLst xmlns:a="http://schemas.openxmlformats.org/drawingml/2006/main">
              <a:ext uri="{FF2B5EF4-FFF2-40B4-BE49-F238E27FC236}">
                <a16:creationId xmlns:a16="http://schemas.microsoft.com/office/drawing/2014/main" id="{853391BF-2AD7-440D-8649-46419BF5B282}"/>
              </a:ext>
            </a:extLst>
          </p:cNvPr>
          <p:cNvSpPr>
            <a:spLocks xmlns:a="http://schemas.openxmlformats.org/drawingml/2006/main" noGrp="1"/>
          </p:cNvSpPr>
          <p:nvPr/>
        </p:nvSpPr>
        <p:spPr>
          <a:xfrm xmlns:a="http://schemas.openxmlformats.org/drawingml/2006/main">
            <a:off x="6267450" y="2958460"/>
            <a:ext cx="53149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Свободный коэффициент b</a:t>
            </a:r>
          </a:p>
        </p:txBody>
      </p:sp>
      <p:sp>
        <p:nvSpPr>
          <p:cNvPr id="55" name="">
            <a:extLst xmlns:a="http://schemas.openxmlformats.org/drawingml/2006/main">
              <a:ext uri="{FF2B5EF4-FFF2-40B4-BE49-F238E27FC236}">
                <a16:creationId xmlns:a16="http://schemas.microsoft.com/office/drawing/2014/main" id="{75B64639-5E9B-45A6-9F5A-8D8CBD19FF6C}"/>
              </a:ext>
            </a:extLst>
          </p:cNvPr>
          <p:cNvSpPr>
            <a:spLocks xmlns:a="http://schemas.openxmlformats.org/drawingml/2006/main" noGrp="1"/>
          </p:cNvSpPr>
          <p:nvPr/>
        </p:nvSpPr>
        <p:spPr>
          <a:xfrm xmlns:a="http://schemas.openxmlformats.org/drawingml/2006/main">
            <a:off x="6267450" y="3507862"/>
            <a:ext cx="531495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Задаёт прогноз при нулевом значении</a:t>
            </a:r>
          </a:p>
          <a:p xmlns:a="http://schemas.openxmlformats.org/drawingml/2006/main">
            <a:pPr algn="l">
              <a:defRPr sz="2250" b="0">
                <a:solidFill>
                  <a:srgbClr val="111111"/>
                </a:solidFill>
              </a:defRPr>
            </a:pPr>
            <a:r>
              <a:rPr sz="2250" b="0">
                <a:solidFill>
                  <a:srgbClr val="111111"/>
                </a:solidFill>
              </a:rPr>
              <a:t>признака и сдвигает прямую вверх или</a:t>
            </a:r>
          </a:p>
          <a:p xmlns:a="http://schemas.openxmlformats.org/drawingml/2006/main">
            <a:pPr algn="l">
              <a:defRPr sz="2250" b="0">
                <a:solidFill>
                  <a:srgbClr val="111111"/>
                </a:solidFill>
              </a:defRPr>
            </a:pPr>
            <a:r>
              <a:rPr sz="2250" b="0">
                <a:solidFill>
                  <a:srgbClr val="111111"/>
                </a:solidFill>
              </a:rPr>
              <a:t>вниз.</a:t>
            </a:r>
          </a:p>
        </p:txBody>
      </p:sp>
      <p:sp>
        <p:nvSpPr>
          <p:cNvPr id="56" name="">
            <a:extLst xmlns:a="http://schemas.openxmlformats.org/drawingml/2006/main">
              <a:ext uri="{FF2B5EF4-FFF2-40B4-BE49-F238E27FC236}">
                <a16:creationId xmlns:a16="http://schemas.microsoft.com/office/drawing/2014/main" id="{9877BB44-E562-4C77-B38E-8219986888F8}"/>
              </a:ext>
            </a:extLst>
          </p:cNvPr>
          <p:cNvSpPr>
            <a:spLocks xmlns:a="http://schemas.openxmlformats.org/drawingml/2006/main" noGrp="1"/>
          </p:cNvSpPr>
          <p:nvPr/>
        </p:nvSpPr>
        <p:spPr>
          <a:xfrm xmlns:a="http://schemas.openxmlformats.org/drawingml/2006/main">
            <a:off x="609600" y="4833742"/>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При обучении данные фиксированы. Мы подбираем параметры w и b, чтобы</a:t>
            </a:r>
          </a:p>
          <a:p xmlns:a="http://schemas.openxmlformats.org/drawingml/2006/main">
            <a:pPr algn="l">
              <a:defRPr sz="2250" b="0">
                <a:solidFill>
                  <a:srgbClr val="111111"/>
                </a:solidFill>
              </a:defRPr>
            </a:pPr>
            <a:r>
              <a:rPr sz="2250" b="0">
                <a:solidFill>
                  <a:srgbClr val="111111"/>
                </a:solidFill>
              </a:rPr>
              <a:t>прямая хорошо описывала выборку.</a:t>
            </a:r>
          </a:p>
        </p:txBody>
      </p:sp>
    </p:spTree>
    <p:extLst>
      <p:ext uri="{BB962C8B-B14F-4D97-AF65-F5344CB8AC3E}">
        <p14:creationId xmlns:p14="http://schemas.microsoft.com/office/powerpoint/2010/main" val="20907315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 name="">
            <a:extLst xmlns:a="http://schemas.openxmlformats.org/drawingml/2006/main">
              <a:ext uri="{FF2B5EF4-FFF2-40B4-BE49-F238E27FC236}">
                <a16:creationId xmlns:a16="http://schemas.microsoft.com/office/drawing/2014/main" id="{ABC2D29C-EEE2-4989-8823-2CC7CA530963}"/>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30ABDC-6C6A-46B5-ADCD-90A8423465FC}"/>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Линейная регрессия</a:t>
            </a:r>
          </a:p>
        </p:txBody>
      </p:sp>
      <p:sp>
        <p:nvSpPr>
          <p:cNvPr id="3" name="">
            <a:extLst xmlns:a="http://schemas.openxmlformats.org/drawingml/2006/main">
              <a:ext uri="{FF2B5EF4-FFF2-40B4-BE49-F238E27FC236}">
                <a16:creationId xmlns:a16="http://schemas.microsoft.com/office/drawing/2014/main" id="{F8040290-C283-4E90-8CD0-E18A0C8E5D04}"/>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 name="">
            <a:extLst xmlns:a="http://schemas.openxmlformats.org/drawingml/2006/main">
              <a:ext uri="{FF2B5EF4-FFF2-40B4-BE49-F238E27FC236}">
                <a16:creationId xmlns:a16="http://schemas.microsoft.com/office/drawing/2014/main" id="{49E179E4-ACF8-4164-B747-8BD22EA906D8}"/>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5" name="">
            <a:extLst xmlns:a="http://schemas.openxmlformats.org/drawingml/2006/main">
              <a:ext uri="{FF2B5EF4-FFF2-40B4-BE49-F238E27FC236}">
                <a16:creationId xmlns:a16="http://schemas.microsoft.com/office/drawing/2014/main" id="{6D17D941-05F0-470B-88C2-4795F2C8BC42}"/>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6" name="">
            <a:extLst xmlns:a="http://schemas.openxmlformats.org/drawingml/2006/main">
              <a:ext uri="{FF2B5EF4-FFF2-40B4-BE49-F238E27FC236}">
                <a16:creationId xmlns:a16="http://schemas.microsoft.com/office/drawing/2014/main" id="{82929A0A-63C7-4F11-8570-DAD3629A30BE}"/>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7" name="">
            <a:extLst xmlns:a="http://schemas.openxmlformats.org/drawingml/2006/main">
              <a:ext uri="{FF2B5EF4-FFF2-40B4-BE49-F238E27FC236}">
                <a16:creationId xmlns:a16="http://schemas.microsoft.com/office/drawing/2014/main" id="{1A5F994C-2DDA-450C-BBB4-4BB0130034F6}"/>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8" name="">
            <a:extLst xmlns:a="http://schemas.openxmlformats.org/drawingml/2006/main">
              <a:ext uri="{FF2B5EF4-FFF2-40B4-BE49-F238E27FC236}">
                <a16:creationId xmlns:a16="http://schemas.microsoft.com/office/drawing/2014/main" id="{9DDB2185-3D69-42B4-9491-FCE5781F066A}"/>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E5566DB8-50B1-4455-84AE-B5E07FC20330}"/>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E37B7880-834B-4FCD-B551-9E5F3576FE40}"/>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036DE4B7-E0EC-495F-8454-4DDA256FC016}"/>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C38E7A0C-35B9-4C24-A19C-300B1D67B6A3}"/>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236C0872-9B22-4D4A-AE3F-B8BAD98B1645}"/>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2732BBF3-361B-45BF-9865-7A73B3365CB3}"/>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6593240A-97E9-469E-8F95-70BBB941B094}"/>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5F22C840-1D8E-40E0-85F2-D019C54A3745}"/>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1F758DB2-D601-43D6-967B-DAE688180A00}"/>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E10A6666-A12E-40F0-BF89-EA5BD46C1DBC}"/>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C1A0F31B-191C-405B-AE7C-B188D8E140C9}"/>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D136D6BA-C116-434A-9B5B-822733007938}"/>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B06CBA84-20C9-4579-851E-3C9E1237F314}"/>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5479A3D3-0CC6-4BD0-99CF-66C92A57E7F6}"/>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70137539-78A1-4FAC-B3F0-EB2D80CD283F}"/>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960977AD-D854-4531-9F4B-D477EBCA12FA}"/>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3D67443B-1A82-43C0-9BE9-9B046C0FF0C2}"/>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6D81F70F-24D4-4272-B420-20FEC1D5D344}"/>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C206DF2F-44C7-4135-8AB2-99E737E894E9}"/>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AE8A9856-8DE1-43C6-B4FE-7C92F618BF21}"/>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44BD34B5-6838-412D-BECD-C1F87BE4BE77}"/>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4A3EBD32-A2A4-439B-9B52-2E423052A806}"/>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1828AE80-C4AD-43E3-8966-D21B2DC80D68}"/>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B6956A5F-8DBC-45D9-B505-8101D45F018A}"/>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DB96C4B8-913A-4481-B19B-489877EEED5B}"/>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64227FF3-BCA5-42AF-B767-085F9C2303A2}"/>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1246CAD8-E81E-4EB5-BB82-260177A842D3}"/>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46418182-A289-44BC-89E6-54EFE34D5ACF}"/>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C93A35D7-6D3B-4402-AE49-6AB4772D5C3C}"/>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663F3E66-7D22-421D-98C9-C0DA64F6FFB0}"/>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1CF6B5FE-17AC-452C-AF4A-1AA868ABE7D2}"/>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AEAFB6C4-1EA1-4400-B7F7-1E10312193D7}"/>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F6702FC7-88C8-495F-BD6A-DE7557F279D7}"/>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4C3A86E8-9BF3-4532-B98F-D04809CE226E}"/>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7486E982-0820-4939-86E5-75CFA639778A}"/>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1214E60-A17E-4056-A43C-1DC8A617F5D5}"/>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Одна модель, разные параметры</a:t>
            </a:r>
          </a:p>
        </p:txBody>
      </p:sp>
      <p:sp>
        <p:nvSpPr>
          <p:cNvPr id="45" name="">
            <a:extLst xmlns:a="http://schemas.openxmlformats.org/drawingml/2006/main">
              <a:ext uri="{FF2B5EF4-FFF2-40B4-BE49-F238E27FC236}">
                <a16:creationId xmlns:a16="http://schemas.microsoft.com/office/drawing/2014/main" id="{F0C62A6C-F6FD-440A-911C-512B0A8C4BC2}"/>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2FFE888-7575-468D-B48F-5EFCD5DB6664}"/>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BDC9B70-1888-42DE-BF5C-57966532F53B}"/>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014E8725-597C-419D-9D5E-854E769BA152}"/>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2A20A9B8-2D95-4132-9A69-165468CD8AAB}"/>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4 / 37</a:t>
            </a:r>
          </a:p>
        </p:txBody>
      </p:sp>
      <p:pic>
        <p:nvPicPr>
          <p:cNvPr id="50" name="">
            <a:extLst xmlns:a="http://schemas.openxmlformats.org/drawingml/2006/main">
              <a:ext uri="{FF2B5EF4-FFF2-40B4-BE49-F238E27FC236}">
                <a16:creationId xmlns:a16="http://schemas.microsoft.com/office/drawing/2014/main" id="{5B6EF421-3CC5-4F1C-B2CB-F3FDB39C9C93}"/>
              </a:ext>
            </a:extLst>
          </p:cNvPr>
          <p:cNvPicPr>
            <a:picLocks xmlns:a="http://schemas.openxmlformats.org/drawingml/2006/main" noChangeAspect="1"/>
          </p:cNvPicPr>
          <p:nvPr/>
        </p:nvPicPr>
        <p:blipFill>
          <a:blip xmlns:r="http://schemas.openxmlformats.org/officeDocument/2006/relationships" xmlns:a="http://schemas.openxmlformats.org/drawingml/2006/main" r:embed="R53ef2691939744b0">
            <a:extLst>
              <a:ext uri="{96DAC541-7B7A-43D3-8B79-37D633B846F1}">
                <asvg:svgBlip xmlns:asvg="http://schemas.microsoft.com/office/drawing/2016/SVG/main" r:embed="R66b95c0b8f344fd8"/>
              </a:ext>
            </a:extLst>
          </a:blip>
          <a:stretch xmlns:a="http://schemas.openxmlformats.org/drawingml/2006/main"/>
        </p:blipFill>
        <p:spPr>
          <a:xfrm xmlns:a="http://schemas.openxmlformats.org/drawingml/2006/main">
            <a:off x="2145197" y="1743075"/>
            <a:ext cx="2243756" cy="314631"/>
          </a:xfrm>
          <a:prstGeom xmlns:a="http://schemas.openxmlformats.org/drawingml/2006/main" prst="rect">
            <a:avLst/>
          </a:prstGeom>
        </p:spPr>
      </p:pic>
      <p:pic>
        <p:nvPicPr>
          <p:cNvPr id="51" name="">
            <a:extLst xmlns:a="http://schemas.openxmlformats.org/drawingml/2006/main">
              <a:ext uri="{FF2B5EF4-FFF2-40B4-BE49-F238E27FC236}">
                <a16:creationId xmlns:a16="http://schemas.microsoft.com/office/drawing/2014/main" id="{9F17F703-86E2-4FED-9479-7E7617C8B392}"/>
              </a:ext>
            </a:extLst>
          </p:cNvPr>
          <p:cNvPicPr>
            <a:picLocks xmlns:a="http://schemas.openxmlformats.org/drawingml/2006/main" noChangeAspect="1"/>
          </p:cNvPicPr>
          <p:nvPr/>
        </p:nvPicPr>
        <p:blipFill>
          <a:blip xmlns:r="http://schemas.openxmlformats.org/officeDocument/2006/relationships" xmlns:a="http://schemas.openxmlformats.org/drawingml/2006/main" r:embed="R0e7eb984e6bf4f23">
            <a:extLst>
              <a:ext uri="{96DAC541-7B7A-43D3-8B79-37D633B846F1}">
                <asvg:svgBlip xmlns:asvg="http://schemas.microsoft.com/office/drawing/2016/SVG/main" r:embed="R9bc9b2c451b541fa"/>
              </a:ext>
            </a:extLst>
          </a:blip>
          <a:stretch xmlns:a="http://schemas.openxmlformats.org/drawingml/2006/main"/>
        </p:blipFill>
        <p:spPr>
          <a:xfrm xmlns:a="http://schemas.openxmlformats.org/drawingml/2006/main">
            <a:off x="2233278" y="2229156"/>
            <a:ext cx="2067594" cy="307115"/>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19359964-7072-40C4-A9EA-4999ABA74566}"/>
              </a:ext>
            </a:extLst>
          </p:cNvPr>
          <p:cNvSpPr>
            <a:spLocks xmlns:a="http://schemas.openxmlformats.org/drawingml/2006/main" noGrp="1"/>
          </p:cNvSpPr>
          <p:nvPr/>
        </p:nvSpPr>
        <p:spPr>
          <a:xfrm xmlns:a="http://schemas.openxmlformats.org/drawingml/2006/main">
            <a:off x="609600" y="2707721"/>
            <a:ext cx="53149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Обе модели — прямые. Изменяются</a:t>
            </a:r>
          </a:p>
          <a:p xmlns:a="http://schemas.openxmlformats.org/drawingml/2006/main">
            <a:pPr algn="l">
              <a:defRPr sz="2250" b="0">
                <a:solidFill>
                  <a:srgbClr val="111111"/>
                </a:solidFill>
              </a:defRPr>
            </a:pPr>
            <a:r>
              <a:rPr sz="2250" b="0">
                <a:solidFill>
                  <a:srgbClr val="111111"/>
                </a:solidFill>
              </a:rPr>
              <a:t>только наклон и сдвиг.</a:t>
            </a:r>
          </a:p>
        </p:txBody>
      </p:sp>
      <p:sp>
        <p:nvSpPr>
          <p:cNvPr id="53" name="">
            <a:extLst xmlns:a="http://schemas.openxmlformats.org/drawingml/2006/main">
              <a:ext uri="{FF2B5EF4-FFF2-40B4-BE49-F238E27FC236}">
                <a16:creationId xmlns:a16="http://schemas.microsoft.com/office/drawing/2014/main" id="{DB597E4F-58C8-46A8-BE1C-72B347D509E6}"/>
              </a:ext>
            </a:extLst>
          </p:cNvPr>
          <p:cNvSpPr>
            <a:spLocks xmlns:a="http://schemas.openxmlformats.org/drawingml/2006/main" noGrp="1"/>
          </p:cNvSpPr>
          <p:nvPr/>
        </p:nvSpPr>
        <p:spPr>
          <a:xfrm xmlns:a="http://schemas.openxmlformats.org/drawingml/2006/main">
            <a:off x="609600" y="3610691"/>
            <a:ext cx="53149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Как численно сравнить их качество?</a:t>
            </a:r>
          </a:p>
        </p:txBody>
      </p:sp>
      <p:sp>
        <p:nvSpPr>
          <p:cNvPr id="54" name="">
            <a:extLst xmlns:a="http://schemas.openxmlformats.org/drawingml/2006/main">
              <a:ext uri="{FF2B5EF4-FFF2-40B4-BE49-F238E27FC236}">
                <a16:creationId xmlns:a16="http://schemas.microsoft.com/office/drawing/2014/main" id="{E2D86728-B79B-430C-A5A9-D0C810B558F5}"/>
              </a:ext>
            </a:extLst>
          </p:cNvPr>
          <p:cNvSpPr>
            <a:spLocks xmlns:a="http://schemas.openxmlformats.org/drawingml/2006/main" noGrp="1"/>
          </p:cNvSpPr>
          <p:nvPr/>
        </p:nvSpPr>
        <p:spPr>
          <a:xfrm xmlns:a="http://schemas.openxmlformats.org/drawingml/2006/main">
            <a:off x="6819900" y="4733925"/>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B37BBB53-50A4-45FA-B2A3-1377CF8F2E25}"/>
              </a:ext>
            </a:extLst>
          </p:cNvPr>
          <p:cNvSpPr>
            <a:spLocks xmlns:a="http://schemas.openxmlformats.org/drawingml/2006/main" noGrp="1"/>
          </p:cNvSpPr>
          <p:nvPr/>
        </p:nvSpPr>
        <p:spPr>
          <a:xfrm xmlns:a="http://schemas.openxmlformats.org/drawingml/2006/main">
            <a:off x="6267450" y="46196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0</a:t>
            </a:r>
          </a:p>
        </p:txBody>
      </p:sp>
      <p:sp>
        <p:nvSpPr>
          <p:cNvPr id="56" name="">
            <a:extLst xmlns:a="http://schemas.openxmlformats.org/drawingml/2006/main">
              <a:ext uri="{FF2B5EF4-FFF2-40B4-BE49-F238E27FC236}">
                <a16:creationId xmlns:a16="http://schemas.microsoft.com/office/drawing/2014/main" id="{48005E80-2E97-4F60-8907-B7B8A274FC09}"/>
              </a:ext>
            </a:extLst>
          </p:cNvPr>
          <p:cNvSpPr>
            <a:spLocks xmlns:a="http://schemas.openxmlformats.org/drawingml/2006/main" noGrp="1"/>
          </p:cNvSpPr>
          <p:nvPr/>
        </p:nvSpPr>
        <p:spPr>
          <a:xfrm xmlns:a="http://schemas.openxmlformats.org/drawingml/2006/main">
            <a:off x="6819900" y="4210916"/>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7BC8F0A7-3D6C-42E3-B472-FC5DFBE0EE48}"/>
              </a:ext>
            </a:extLst>
          </p:cNvPr>
          <p:cNvSpPr>
            <a:spLocks xmlns:a="http://schemas.openxmlformats.org/drawingml/2006/main" noGrp="1"/>
          </p:cNvSpPr>
          <p:nvPr/>
        </p:nvSpPr>
        <p:spPr>
          <a:xfrm xmlns:a="http://schemas.openxmlformats.org/drawingml/2006/main">
            <a:off x="6267450" y="4096616"/>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2</a:t>
            </a:r>
          </a:p>
        </p:txBody>
      </p:sp>
      <p:sp>
        <p:nvSpPr>
          <p:cNvPr id="58" name="">
            <a:extLst xmlns:a="http://schemas.openxmlformats.org/drawingml/2006/main">
              <a:ext uri="{FF2B5EF4-FFF2-40B4-BE49-F238E27FC236}">
                <a16:creationId xmlns:a16="http://schemas.microsoft.com/office/drawing/2014/main" id="{2C3EA84B-95AF-4B3E-BD22-55EA0CE247CC}"/>
              </a:ext>
            </a:extLst>
          </p:cNvPr>
          <p:cNvSpPr>
            <a:spLocks xmlns:a="http://schemas.openxmlformats.org/drawingml/2006/main" noGrp="1"/>
          </p:cNvSpPr>
          <p:nvPr/>
        </p:nvSpPr>
        <p:spPr>
          <a:xfrm xmlns:a="http://schemas.openxmlformats.org/drawingml/2006/main">
            <a:off x="6819900" y="3687907"/>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0B893554-41F9-4891-BCDE-B6BF300341BA}"/>
              </a:ext>
            </a:extLst>
          </p:cNvPr>
          <p:cNvSpPr>
            <a:spLocks xmlns:a="http://schemas.openxmlformats.org/drawingml/2006/main" noGrp="1"/>
          </p:cNvSpPr>
          <p:nvPr/>
        </p:nvSpPr>
        <p:spPr>
          <a:xfrm xmlns:a="http://schemas.openxmlformats.org/drawingml/2006/main">
            <a:off x="6267450" y="3573607"/>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4</a:t>
            </a:r>
          </a:p>
        </p:txBody>
      </p:sp>
      <p:sp>
        <p:nvSpPr>
          <p:cNvPr id="60" name="">
            <a:extLst xmlns:a="http://schemas.openxmlformats.org/drawingml/2006/main">
              <a:ext uri="{FF2B5EF4-FFF2-40B4-BE49-F238E27FC236}">
                <a16:creationId xmlns:a16="http://schemas.microsoft.com/office/drawing/2014/main" id="{088EA566-E6F6-4593-AA97-AFAA26EE9F2E}"/>
              </a:ext>
            </a:extLst>
          </p:cNvPr>
          <p:cNvSpPr>
            <a:spLocks xmlns:a="http://schemas.openxmlformats.org/drawingml/2006/main" noGrp="1"/>
          </p:cNvSpPr>
          <p:nvPr/>
        </p:nvSpPr>
        <p:spPr>
          <a:xfrm xmlns:a="http://schemas.openxmlformats.org/drawingml/2006/main">
            <a:off x="6819900" y="3164898"/>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AA9E497-5F9D-49E7-A6A9-72D02213DF8C}"/>
              </a:ext>
            </a:extLst>
          </p:cNvPr>
          <p:cNvSpPr>
            <a:spLocks xmlns:a="http://schemas.openxmlformats.org/drawingml/2006/main" noGrp="1"/>
          </p:cNvSpPr>
          <p:nvPr/>
        </p:nvSpPr>
        <p:spPr>
          <a:xfrm xmlns:a="http://schemas.openxmlformats.org/drawingml/2006/main">
            <a:off x="6267450" y="3050598"/>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6</a:t>
            </a:r>
          </a:p>
        </p:txBody>
      </p:sp>
      <p:sp>
        <p:nvSpPr>
          <p:cNvPr id="62" name="">
            <a:extLst xmlns:a="http://schemas.openxmlformats.org/drawingml/2006/main">
              <a:ext uri="{FF2B5EF4-FFF2-40B4-BE49-F238E27FC236}">
                <a16:creationId xmlns:a16="http://schemas.microsoft.com/office/drawing/2014/main" id="{574F58E3-705E-4B5F-85BD-49E471409E5B}"/>
              </a:ext>
            </a:extLst>
          </p:cNvPr>
          <p:cNvSpPr>
            <a:spLocks xmlns:a="http://schemas.openxmlformats.org/drawingml/2006/main" noGrp="1"/>
          </p:cNvSpPr>
          <p:nvPr/>
        </p:nvSpPr>
        <p:spPr>
          <a:xfrm xmlns:a="http://schemas.openxmlformats.org/drawingml/2006/main">
            <a:off x="6819900" y="2641889"/>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F178AF1A-E47E-4564-9D26-139C7034236E}"/>
              </a:ext>
            </a:extLst>
          </p:cNvPr>
          <p:cNvSpPr>
            <a:spLocks xmlns:a="http://schemas.openxmlformats.org/drawingml/2006/main" noGrp="1"/>
          </p:cNvSpPr>
          <p:nvPr/>
        </p:nvSpPr>
        <p:spPr>
          <a:xfrm xmlns:a="http://schemas.openxmlformats.org/drawingml/2006/main">
            <a:off x="6267450" y="2527589"/>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8</a:t>
            </a:r>
          </a:p>
        </p:txBody>
      </p:sp>
      <p:sp>
        <p:nvSpPr>
          <p:cNvPr id="64" name="">
            <a:extLst xmlns:a="http://schemas.openxmlformats.org/drawingml/2006/main">
              <a:ext uri="{FF2B5EF4-FFF2-40B4-BE49-F238E27FC236}">
                <a16:creationId xmlns:a16="http://schemas.microsoft.com/office/drawing/2014/main" id="{3BBE5D8E-5B40-4458-B5B3-0ADD67F2AC39}"/>
              </a:ext>
            </a:extLst>
          </p:cNvPr>
          <p:cNvSpPr>
            <a:spLocks xmlns:a="http://schemas.openxmlformats.org/drawingml/2006/main" noGrp="1"/>
          </p:cNvSpPr>
          <p:nvPr/>
        </p:nvSpPr>
        <p:spPr>
          <a:xfrm xmlns:a="http://schemas.openxmlformats.org/drawingml/2006/main">
            <a:off x="6819900" y="2118880"/>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CC866AE8-5718-486C-8851-B1E9925AC319}"/>
              </a:ext>
            </a:extLst>
          </p:cNvPr>
          <p:cNvSpPr>
            <a:spLocks xmlns:a="http://schemas.openxmlformats.org/drawingml/2006/main" noGrp="1"/>
          </p:cNvSpPr>
          <p:nvPr/>
        </p:nvSpPr>
        <p:spPr>
          <a:xfrm xmlns:a="http://schemas.openxmlformats.org/drawingml/2006/main">
            <a:off x="6267450" y="200458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10</a:t>
            </a:r>
          </a:p>
        </p:txBody>
      </p:sp>
      <p:sp>
        <p:nvSpPr>
          <p:cNvPr id="66" name="">
            <a:extLst xmlns:a="http://schemas.openxmlformats.org/drawingml/2006/main">
              <a:ext uri="{FF2B5EF4-FFF2-40B4-BE49-F238E27FC236}">
                <a16:creationId xmlns:a16="http://schemas.microsoft.com/office/drawing/2014/main" id="{55C72EA2-F433-44FC-A14A-62042A04AC2C}"/>
              </a:ext>
            </a:extLst>
          </p:cNvPr>
          <p:cNvSpPr>
            <a:spLocks xmlns:a="http://schemas.openxmlformats.org/drawingml/2006/main" noGrp="1"/>
          </p:cNvSpPr>
          <p:nvPr/>
        </p:nvSpPr>
        <p:spPr>
          <a:xfrm xmlns:a="http://schemas.openxmlformats.org/drawingml/2006/main">
            <a:off x="6648450" y="48291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111111"/>
                </a:solidFill>
              </a:defRPr>
            </a:defPPr>
            <a:lvl1pPr algn="ctr">
              <a:defRPr sz="1500" b="0">
                <a:solidFill>
                  <a:srgbClr val="111111"/>
                </a:solidFill>
              </a:defRPr>
            </a:lvl1pPr>
            <a:lvl2pPr algn="ctr">
              <a:defRPr sz="1500" b="0">
                <a:solidFill>
                  <a:srgbClr val="111111"/>
                </a:solidFill>
              </a:defRPr>
            </a:lvl2pPr>
            <a:lvl3pPr algn="ctr">
              <a:defRPr sz="1500" b="0">
                <a:solidFill>
                  <a:srgbClr val="111111"/>
                </a:solidFill>
              </a:defRPr>
            </a:lvl3pPr>
            <a:lvl4pPr algn="ctr">
              <a:defRPr sz="1500" b="0">
                <a:solidFill>
                  <a:srgbClr val="111111"/>
                </a:solidFill>
              </a:defRPr>
            </a:lvl4pPr>
            <a:lvl5pPr algn="ctr">
              <a:defRPr sz="1500" b="0">
                <a:solidFill>
                  <a:srgbClr val="111111"/>
                </a:solidFill>
              </a:defRPr>
            </a:lvl5pPr>
            <a:lvl6pPr algn="ctr">
              <a:defRPr sz="1500" b="0">
                <a:solidFill>
                  <a:srgbClr val="111111"/>
                </a:solidFill>
              </a:defRPr>
            </a:lvl6pPr>
            <a:lvl7pPr algn="ctr">
              <a:defRPr sz="1500" b="0">
                <a:solidFill>
                  <a:srgbClr val="111111"/>
                </a:solidFill>
              </a:defRPr>
            </a:lvl7pPr>
            <a:lvl8pPr algn="ctr">
              <a:defRPr sz="1500" b="0">
                <a:solidFill>
                  <a:srgbClr val="111111"/>
                </a:solidFill>
              </a:defRPr>
            </a:lvl8pPr>
            <a:lvl9pPr algn="ctr">
              <a:defRPr sz="1500" b="0">
                <a:solidFill>
                  <a:srgbClr val="111111"/>
                </a:solidFill>
              </a:defRPr>
            </a:lvl9pPr>
          </a:lstStyle>
          <a:p xmlns:a="http://schemas.openxmlformats.org/drawingml/2006/main">
            <a:pPr algn="ctr">
              <a:defRPr sz="1500" b="0">
                <a:solidFill>
                  <a:srgbClr val="111111"/>
                </a:solidFill>
              </a:defRPr>
            </a:pPr>
            <a:r>
              <a:rPr sz="1500" b="0">
                <a:solidFill>
                  <a:srgbClr val="111111"/>
                </a:solidFill>
              </a:rPr>
              <a:t>0</a:t>
            </a:r>
          </a:p>
        </p:txBody>
      </p:sp>
      <p:sp>
        <p:nvSpPr>
          <p:cNvPr id="67" name="">
            <a:extLst xmlns:a="http://schemas.openxmlformats.org/drawingml/2006/main">
              <a:ext uri="{FF2B5EF4-FFF2-40B4-BE49-F238E27FC236}">
                <a16:creationId xmlns:a16="http://schemas.microsoft.com/office/drawing/2014/main" id="{D1185F7B-F11E-402B-8D2E-BBBC43F3AA25}"/>
              </a:ext>
            </a:extLst>
          </p:cNvPr>
          <p:cNvSpPr>
            <a:spLocks xmlns:a="http://schemas.openxmlformats.org/drawingml/2006/main" noGrp="1"/>
          </p:cNvSpPr>
          <p:nvPr/>
        </p:nvSpPr>
        <p:spPr>
          <a:xfrm xmlns:a="http://schemas.openxmlformats.org/drawingml/2006/main">
            <a:off x="7781925" y="48291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111111"/>
                </a:solidFill>
              </a:defRPr>
            </a:defPPr>
            <a:lvl1pPr algn="ctr">
              <a:defRPr sz="1500" b="0">
                <a:solidFill>
                  <a:srgbClr val="111111"/>
                </a:solidFill>
              </a:defRPr>
            </a:lvl1pPr>
            <a:lvl2pPr algn="ctr">
              <a:defRPr sz="1500" b="0">
                <a:solidFill>
                  <a:srgbClr val="111111"/>
                </a:solidFill>
              </a:defRPr>
            </a:lvl2pPr>
            <a:lvl3pPr algn="ctr">
              <a:defRPr sz="1500" b="0">
                <a:solidFill>
                  <a:srgbClr val="111111"/>
                </a:solidFill>
              </a:defRPr>
            </a:lvl3pPr>
            <a:lvl4pPr algn="ctr">
              <a:defRPr sz="1500" b="0">
                <a:solidFill>
                  <a:srgbClr val="111111"/>
                </a:solidFill>
              </a:defRPr>
            </a:lvl4pPr>
            <a:lvl5pPr algn="ctr">
              <a:defRPr sz="1500" b="0">
                <a:solidFill>
                  <a:srgbClr val="111111"/>
                </a:solidFill>
              </a:defRPr>
            </a:lvl5pPr>
            <a:lvl6pPr algn="ctr">
              <a:defRPr sz="1500" b="0">
                <a:solidFill>
                  <a:srgbClr val="111111"/>
                </a:solidFill>
              </a:defRPr>
            </a:lvl6pPr>
            <a:lvl7pPr algn="ctr">
              <a:defRPr sz="1500" b="0">
                <a:solidFill>
                  <a:srgbClr val="111111"/>
                </a:solidFill>
              </a:defRPr>
            </a:lvl7pPr>
            <a:lvl8pPr algn="ctr">
              <a:defRPr sz="1500" b="0">
                <a:solidFill>
                  <a:srgbClr val="111111"/>
                </a:solidFill>
              </a:defRPr>
            </a:lvl8pPr>
            <a:lvl9pPr algn="ctr">
              <a:defRPr sz="1500" b="0">
                <a:solidFill>
                  <a:srgbClr val="111111"/>
                </a:solidFill>
              </a:defRPr>
            </a:lvl9pPr>
          </a:lstStyle>
          <a:p xmlns:a="http://schemas.openxmlformats.org/drawingml/2006/main">
            <a:pPr algn="ctr">
              <a:defRPr sz="1500" b="0">
                <a:solidFill>
                  <a:srgbClr val="111111"/>
                </a:solidFill>
              </a:defRPr>
            </a:pPr>
            <a:r>
              <a:rPr sz="1500" b="0">
                <a:solidFill>
                  <a:srgbClr val="111111"/>
                </a:solidFill>
              </a:rPr>
              <a:t>1</a:t>
            </a:r>
          </a:p>
        </p:txBody>
      </p:sp>
      <p:sp>
        <p:nvSpPr>
          <p:cNvPr id="68" name="">
            <a:extLst xmlns:a="http://schemas.openxmlformats.org/drawingml/2006/main">
              <a:ext uri="{FF2B5EF4-FFF2-40B4-BE49-F238E27FC236}">
                <a16:creationId xmlns:a16="http://schemas.microsoft.com/office/drawing/2014/main" id="{392AD985-E835-4797-A650-CD1100AD92F9}"/>
              </a:ext>
            </a:extLst>
          </p:cNvPr>
          <p:cNvSpPr>
            <a:spLocks xmlns:a="http://schemas.openxmlformats.org/drawingml/2006/main" noGrp="1"/>
          </p:cNvSpPr>
          <p:nvPr/>
        </p:nvSpPr>
        <p:spPr>
          <a:xfrm xmlns:a="http://schemas.openxmlformats.org/drawingml/2006/main">
            <a:off x="8915400" y="48291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111111"/>
                </a:solidFill>
              </a:defRPr>
            </a:defPPr>
            <a:lvl1pPr algn="ctr">
              <a:defRPr sz="1500" b="0">
                <a:solidFill>
                  <a:srgbClr val="111111"/>
                </a:solidFill>
              </a:defRPr>
            </a:lvl1pPr>
            <a:lvl2pPr algn="ctr">
              <a:defRPr sz="1500" b="0">
                <a:solidFill>
                  <a:srgbClr val="111111"/>
                </a:solidFill>
              </a:defRPr>
            </a:lvl2pPr>
            <a:lvl3pPr algn="ctr">
              <a:defRPr sz="1500" b="0">
                <a:solidFill>
                  <a:srgbClr val="111111"/>
                </a:solidFill>
              </a:defRPr>
            </a:lvl3pPr>
            <a:lvl4pPr algn="ctr">
              <a:defRPr sz="1500" b="0">
                <a:solidFill>
                  <a:srgbClr val="111111"/>
                </a:solidFill>
              </a:defRPr>
            </a:lvl4pPr>
            <a:lvl5pPr algn="ctr">
              <a:defRPr sz="1500" b="0">
                <a:solidFill>
                  <a:srgbClr val="111111"/>
                </a:solidFill>
              </a:defRPr>
            </a:lvl5pPr>
            <a:lvl6pPr algn="ctr">
              <a:defRPr sz="1500" b="0">
                <a:solidFill>
                  <a:srgbClr val="111111"/>
                </a:solidFill>
              </a:defRPr>
            </a:lvl6pPr>
            <a:lvl7pPr algn="ctr">
              <a:defRPr sz="1500" b="0">
                <a:solidFill>
                  <a:srgbClr val="111111"/>
                </a:solidFill>
              </a:defRPr>
            </a:lvl7pPr>
            <a:lvl8pPr algn="ctr">
              <a:defRPr sz="1500" b="0">
                <a:solidFill>
                  <a:srgbClr val="111111"/>
                </a:solidFill>
              </a:defRPr>
            </a:lvl8pPr>
            <a:lvl9pPr algn="ctr">
              <a:defRPr sz="1500" b="0">
                <a:solidFill>
                  <a:srgbClr val="111111"/>
                </a:solidFill>
              </a:defRPr>
            </a:lvl9pPr>
          </a:lstStyle>
          <a:p xmlns:a="http://schemas.openxmlformats.org/drawingml/2006/main">
            <a:pPr algn="ctr">
              <a:defRPr sz="1500" b="0">
                <a:solidFill>
                  <a:srgbClr val="111111"/>
                </a:solidFill>
              </a:defRPr>
            </a:pPr>
            <a:r>
              <a:rPr sz="1500" b="0">
                <a:solidFill>
                  <a:srgbClr val="111111"/>
                </a:solidFill>
              </a:rPr>
              <a:t>2</a:t>
            </a:r>
          </a:p>
        </p:txBody>
      </p:sp>
      <p:sp>
        <p:nvSpPr>
          <p:cNvPr id="69" name="">
            <a:extLst xmlns:a="http://schemas.openxmlformats.org/drawingml/2006/main">
              <a:ext uri="{FF2B5EF4-FFF2-40B4-BE49-F238E27FC236}">
                <a16:creationId xmlns:a16="http://schemas.microsoft.com/office/drawing/2014/main" id="{D1FF7B16-39CE-4EF3-AD75-CABA20A918BE}"/>
              </a:ext>
            </a:extLst>
          </p:cNvPr>
          <p:cNvSpPr>
            <a:spLocks xmlns:a="http://schemas.openxmlformats.org/drawingml/2006/main" noGrp="1"/>
          </p:cNvSpPr>
          <p:nvPr/>
        </p:nvSpPr>
        <p:spPr>
          <a:xfrm xmlns:a="http://schemas.openxmlformats.org/drawingml/2006/main">
            <a:off x="10048875" y="48291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111111"/>
                </a:solidFill>
              </a:defRPr>
            </a:defPPr>
            <a:lvl1pPr algn="ctr">
              <a:defRPr sz="1500" b="0">
                <a:solidFill>
                  <a:srgbClr val="111111"/>
                </a:solidFill>
              </a:defRPr>
            </a:lvl1pPr>
            <a:lvl2pPr algn="ctr">
              <a:defRPr sz="1500" b="0">
                <a:solidFill>
                  <a:srgbClr val="111111"/>
                </a:solidFill>
              </a:defRPr>
            </a:lvl2pPr>
            <a:lvl3pPr algn="ctr">
              <a:defRPr sz="1500" b="0">
                <a:solidFill>
                  <a:srgbClr val="111111"/>
                </a:solidFill>
              </a:defRPr>
            </a:lvl3pPr>
            <a:lvl4pPr algn="ctr">
              <a:defRPr sz="1500" b="0">
                <a:solidFill>
                  <a:srgbClr val="111111"/>
                </a:solidFill>
              </a:defRPr>
            </a:lvl4pPr>
            <a:lvl5pPr algn="ctr">
              <a:defRPr sz="1500" b="0">
                <a:solidFill>
                  <a:srgbClr val="111111"/>
                </a:solidFill>
              </a:defRPr>
            </a:lvl5pPr>
            <a:lvl6pPr algn="ctr">
              <a:defRPr sz="1500" b="0">
                <a:solidFill>
                  <a:srgbClr val="111111"/>
                </a:solidFill>
              </a:defRPr>
            </a:lvl6pPr>
            <a:lvl7pPr algn="ctr">
              <a:defRPr sz="1500" b="0">
                <a:solidFill>
                  <a:srgbClr val="111111"/>
                </a:solidFill>
              </a:defRPr>
            </a:lvl7pPr>
            <a:lvl8pPr algn="ctr">
              <a:defRPr sz="1500" b="0">
                <a:solidFill>
                  <a:srgbClr val="111111"/>
                </a:solidFill>
              </a:defRPr>
            </a:lvl8pPr>
            <a:lvl9pPr algn="ctr">
              <a:defRPr sz="1500" b="0">
                <a:solidFill>
                  <a:srgbClr val="111111"/>
                </a:solidFill>
              </a:defRPr>
            </a:lvl9pPr>
          </a:lstStyle>
          <a:p xmlns:a="http://schemas.openxmlformats.org/drawingml/2006/main">
            <a:pPr algn="ctr">
              <a:defRPr sz="1500" b="0">
                <a:solidFill>
                  <a:srgbClr val="111111"/>
                </a:solidFill>
              </a:defRPr>
            </a:pPr>
            <a:r>
              <a:rPr sz="1500" b="0">
                <a:solidFill>
                  <a:srgbClr val="111111"/>
                </a:solidFill>
              </a:rPr>
              <a:t>3</a:t>
            </a:r>
          </a:p>
        </p:txBody>
      </p:sp>
      <p:sp>
        <p:nvSpPr>
          <p:cNvPr id="70" name="">
            <a:extLst xmlns:a="http://schemas.openxmlformats.org/drawingml/2006/main">
              <a:ext uri="{FF2B5EF4-FFF2-40B4-BE49-F238E27FC236}">
                <a16:creationId xmlns:a16="http://schemas.microsoft.com/office/drawing/2014/main" id="{55E1B746-B8F9-4A04-B487-D0ABBE87A517}"/>
              </a:ext>
            </a:extLst>
          </p:cNvPr>
          <p:cNvSpPr>
            <a:spLocks xmlns:a="http://schemas.openxmlformats.org/drawingml/2006/main" noGrp="1"/>
          </p:cNvSpPr>
          <p:nvPr/>
        </p:nvSpPr>
        <p:spPr>
          <a:xfrm xmlns:a="http://schemas.openxmlformats.org/drawingml/2006/main">
            <a:off x="11182350" y="48291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111111"/>
                </a:solidFill>
              </a:defRPr>
            </a:defPPr>
            <a:lvl1pPr algn="ctr">
              <a:defRPr sz="1500" b="0">
                <a:solidFill>
                  <a:srgbClr val="111111"/>
                </a:solidFill>
              </a:defRPr>
            </a:lvl1pPr>
            <a:lvl2pPr algn="ctr">
              <a:defRPr sz="1500" b="0">
                <a:solidFill>
                  <a:srgbClr val="111111"/>
                </a:solidFill>
              </a:defRPr>
            </a:lvl2pPr>
            <a:lvl3pPr algn="ctr">
              <a:defRPr sz="1500" b="0">
                <a:solidFill>
                  <a:srgbClr val="111111"/>
                </a:solidFill>
              </a:defRPr>
            </a:lvl3pPr>
            <a:lvl4pPr algn="ctr">
              <a:defRPr sz="1500" b="0">
                <a:solidFill>
                  <a:srgbClr val="111111"/>
                </a:solidFill>
              </a:defRPr>
            </a:lvl4pPr>
            <a:lvl5pPr algn="ctr">
              <a:defRPr sz="1500" b="0">
                <a:solidFill>
                  <a:srgbClr val="111111"/>
                </a:solidFill>
              </a:defRPr>
            </a:lvl5pPr>
            <a:lvl6pPr algn="ctr">
              <a:defRPr sz="1500" b="0">
                <a:solidFill>
                  <a:srgbClr val="111111"/>
                </a:solidFill>
              </a:defRPr>
            </a:lvl6pPr>
            <a:lvl7pPr algn="ctr">
              <a:defRPr sz="1500" b="0">
                <a:solidFill>
                  <a:srgbClr val="111111"/>
                </a:solidFill>
              </a:defRPr>
            </a:lvl7pPr>
            <a:lvl8pPr algn="ctr">
              <a:defRPr sz="1500" b="0">
                <a:solidFill>
                  <a:srgbClr val="111111"/>
                </a:solidFill>
              </a:defRPr>
            </a:lvl8pPr>
            <a:lvl9pPr algn="ctr">
              <a:defRPr sz="1500" b="0">
                <a:solidFill>
                  <a:srgbClr val="111111"/>
                </a:solidFill>
              </a:defRPr>
            </a:lvl9pPr>
          </a:lstStyle>
          <a:p xmlns:a="http://schemas.openxmlformats.org/drawingml/2006/main">
            <a:pPr algn="ctr">
              <a:defRPr sz="1500" b="0">
                <a:solidFill>
                  <a:srgbClr val="111111"/>
                </a:solidFill>
              </a:defRPr>
            </a:pPr>
            <a:r>
              <a:rPr sz="1500" b="0">
                <a:solidFill>
                  <a:srgbClr val="111111"/>
                </a:solidFill>
              </a:rPr>
              <a:t>4</a:t>
            </a:r>
          </a:p>
        </p:txBody>
      </p:sp>
      <p:sp>
        <p:nvSpPr>
          <p:cNvPr id="71" name="">
            <a:extLst xmlns:a="http://schemas.openxmlformats.org/drawingml/2006/main">
              <a:ext uri="{FF2B5EF4-FFF2-40B4-BE49-F238E27FC236}">
                <a16:creationId xmlns:a16="http://schemas.microsoft.com/office/drawing/2014/main" id="{DBA3667C-DFAD-4158-9D9C-C7C5516F1A72}"/>
              </a:ext>
            </a:extLst>
          </p:cNvPr>
          <p:cNvSpPr>
            <a:spLocks xmlns:a="http://schemas.openxmlformats.org/drawingml/2006/main" noGrp="1"/>
          </p:cNvSpPr>
          <p:nvPr/>
        </p:nvSpPr>
        <p:spPr>
          <a:xfrm xmlns:a="http://schemas.openxmlformats.org/drawingml/2006/main">
            <a:off x="6819900" y="1857375"/>
            <a:ext cx="9525" cy="28765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CE529A97-0CE4-4225-B478-D63B4534E34C}"/>
              </a:ext>
            </a:extLst>
          </p:cNvPr>
          <p:cNvSpPr>
            <a:spLocks xmlns:a="http://schemas.openxmlformats.org/drawingml/2006/main" noGrp="1"/>
          </p:cNvSpPr>
          <p:nvPr/>
        </p:nvSpPr>
        <p:spPr>
          <a:xfrm xmlns:a="http://schemas.openxmlformats.org/drawingml/2006/main">
            <a:off x="6819900" y="4733925"/>
            <a:ext cx="4533900"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060E37A5-F3AC-4D28-B900-8B1395A87B49}"/>
              </a:ext>
            </a:extLst>
          </p:cNvPr>
          <p:cNvSpPr>
            <a:spLocks xmlns:a="http://schemas.openxmlformats.org/drawingml/2006/main" noGrp="1"/>
          </p:cNvSpPr>
          <p:nvPr/>
        </p:nvSpPr>
        <p:spPr>
          <a:xfrm xmlns:a="http://schemas.openxmlformats.org/drawingml/2006/main">
            <a:off x="6410325" y="3152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111111"/>
                </a:solidFill>
              </a:defRPr>
            </a:defPPr>
            <a:lvl1pPr algn="l">
              <a:defRPr sz="1650" b="0">
                <a:solidFill>
                  <a:srgbClr val="111111"/>
                </a:solidFill>
              </a:defRPr>
            </a:lvl1pPr>
            <a:lvl2pPr algn="l">
              <a:defRPr sz="1650" b="0">
                <a:solidFill>
                  <a:srgbClr val="111111"/>
                </a:solidFill>
              </a:defRPr>
            </a:lvl2pPr>
            <a:lvl3pPr algn="l">
              <a:defRPr sz="1650" b="0">
                <a:solidFill>
                  <a:srgbClr val="111111"/>
                </a:solidFill>
              </a:defRPr>
            </a:lvl3pPr>
            <a:lvl4pPr algn="l">
              <a:defRPr sz="1650" b="0">
                <a:solidFill>
                  <a:srgbClr val="111111"/>
                </a:solidFill>
              </a:defRPr>
            </a:lvl4pPr>
            <a:lvl5pPr algn="l">
              <a:defRPr sz="1650" b="0">
                <a:solidFill>
                  <a:srgbClr val="111111"/>
                </a:solidFill>
              </a:defRPr>
            </a:lvl5pPr>
            <a:lvl6pPr algn="l">
              <a:defRPr sz="1650" b="0">
                <a:solidFill>
                  <a:srgbClr val="111111"/>
                </a:solidFill>
              </a:defRPr>
            </a:lvl6pPr>
            <a:lvl7pPr algn="l">
              <a:defRPr sz="1650" b="0">
                <a:solidFill>
                  <a:srgbClr val="111111"/>
                </a:solidFill>
              </a:defRPr>
            </a:lvl7pPr>
            <a:lvl8pPr algn="l">
              <a:defRPr sz="1650" b="0">
                <a:solidFill>
                  <a:srgbClr val="111111"/>
                </a:solidFill>
              </a:defRPr>
            </a:lvl8pPr>
            <a:lvl9pPr algn="l">
              <a:defRPr sz="1650" b="0">
                <a:solidFill>
                  <a:srgbClr val="111111"/>
                </a:solidFill>
              </a:defRPr>
            </a:lvl9pPr>
          </a:lstStyle>
          <a:p xmlns:a="http://schemas.openxmlformats.org/drawingml/2006/main">
            <a:pPr algn="l">
              <a:defRPr sz="1650" b="0">
                <a:solidFill>
                  <a:srgbClr val="111111"/>
                </a:solidFill>
              </a:defRPr>
            </a:pPr>
            <a:r>
              <a:rPr sz="1650" b="0">
                <a:solidFill>
                  <a:srgbClr val="111111"/>
                </a:solidFill>
              </a:rPr>
              <a:t>y</a:t>
            </a:r>
          </a:p>
        </p:txBody>
      </p:sp>
      <p:sp>
        <p:nvSpPr>
          <p:cNvPr id="74" name="">
            <a:extLst xmlns:a="http://schemas.openxmlformats.org/drawingml/2006/main">
              <a:ext uri="{FF2B5EF4-FFF2-40B4-BE49-F238E27FC236}">
                <a16:creationId xmlns:a16="http://schemas.microsoft.com/office/drawing/2014/main" id="{EC399C10-FB47-4237-A996-CFFF2695A161}"/>
              </a:ext>
            </a:extLst>
          </p:cNvPr>
          <p:cNvSpPr>
            <a:spLocks xmlns:a="http://schemas.openxmlformats.org/drawingml/2006/main" noGrp="1"/>
          </p:cNvSpPr>
          <p:nvPr/>
        </p:nvSpPr>
        <p:spPr>
          <a:xfrm xmlns:a="http://schemas.openxmlformats.org/drawingml/2006/main">
            <a:off x="8943975" y="51054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111111"/>
                </a:solidFill>
              </a:defRPr>
            </a:defPPr>
            <a:lvl1pPr algn="l">
              <a:defRPr sz="1650" b="0">
                <a:solidFill>
                  <a:srgbClr val="111111"/>
                </a:solidFill>
              </a:defRPr>
            </a:lvl1pPr>
            <a:lvl2pPr algn="l">
              <a:defRPr sz="1650" b="0">
                <a:solidFill>
                  <a:srgbClr val="111111"/>
                </a:solidFill>
              </a:defRPr>
            </a:lvl2pPr>
            <a:lvl3pPr algn="l">
              <a:defRPr sz="1650" b="0">
                <a:solidFill>
                  <a:srgbClr val="111111"/>
                </a:solidFill>
              </a:defRPr>
            </a:lvl3pPr>
            <a:lvl4pPr algn="l">
              <a:defRPr sz="1650" b="0">
                <a:solidFill>
                  <a:srgbClr val="111111"/>
                </a:solidFill>
              </a:defRPr>
            </a:lvl4pPr>
            <a:lvl5pPr algn="l">
              <a:defRPr sz="1650" b="0">
                <a:solidFill>
                  <a:srgbClr val="111111"/>
                </a:solidFill>
              </a:defRPr>
            </a:lvl5pPr>
            <a:lvl6pPr algn="l">
              <a:defRPr sz="1650" b="0">
                <a:solidFill>
                  <a:srgbClr val="111111"/>
                </a:solidFill>
              </a:defRPr>
            </a:lvl6pPr>
            <a:lvl7pPr algn="l">
              <a:defRPr sz="1650" b="0">
                <a:solidFill>
                  <a:srgbClr val="111111"/>
                </a:solidFill>
              </a:defRPr>
            </a:lvl7pPr>
            <a:lvl8pPr algn="l">
              <a:defRPr sz="1650" b="0">
                <a:solidFill>
                  <a:srgbClr val="111111"/>
                </a:solidFill>
              </a:defRPr>
            </a:lvl8pPr>
            <a:lvl9pPr algn="l">
              <a:defRPr sz="1650" b="0">
                <a:solidFill>
                  <a:srgbClr val="111111"/>
                </a:solidFill>
              </a:defRPr>
            </a:lvl9pPr>
          </a:lstStyle>
          <a:p xmlns:a="http://schemas.openxmlformats.org/drawingml/2006/main">
            <a:pPr algn="l">
              <a:defRPr sz="1650" b="0">
                <a:solidFill>
                  <a:srgbClr val="111111"/>
                </a:solidFill>
              </a:defRPr>
            </a:pPr>
            <a:r>
              <a:rPr sz="1650" b="0">
                <a:solidFill>
                  <a:srgbClr val="111111"/>
                </a:solidFill>
              </a:rPr>
              <a:t>x</a:t>
            </a:r>
          </a:p>
        </p:txBody>
      </p:sp>
      <p:sp>
        <p:nvSpPr>
          <p:cNvPr id="75" name="Прямая A без сглаживания">
            <a:extLst xmlns:a="http://schemas.openxmlformats.org/drawingml/2006/main">
              <a:ext uri="{FF2B5EF4-FFF2-40B4-BE49-F238E27FC236}">
                <a16:creationId xmlns:a16="http://schemas.microsoft.com/office/drawing/2014/main" id="{C600968C-F42A-4107-9D11-C5A0CCC6E977}"/>
              </a:ext>
            </a:extLst>
          </p:cNvPr>
          <p:cNvSpPr>
            <a:spLocks xmlns:a="http://schemas.openxmlformats.org/drawingml/2006/main" noGrp="1"/>
          </p:cNvSpPr>
          <p:nvPr/>
        </p:nvSpPr>
        <p:spPr>
          <a:xfrm xmlns:a="http://schemas.openxmlformats.org/drawingml/2006/main">
            <a:off x="6819900" y="1857375"/>
            <a:ext cx="4533900" cy="2876550"/>
          </a:xfrm>
          <a:custGeom xmlns:a="http://schemas.openxmlformats.org/drawingml/2006/main">
            <a:pathLst>
              <a:path w="4533900" h="2876550">
                <a:moveTo>
                  <a:pt x="0" y="2615045"/>
                </a:moveTo>
                <a:lnTo>
                  <a:pt x="4533900" y="523009"/>
                </a:lnTo>
              </a:path>
            </a:pathLst>
          </a:custGeom>
          <a:noFill xmlns:a="http://schemas.openxmlformats.org/drawingml/2006/main"/>
          <a:ln xmlns:a="http://schemas.openxmlformats.org/drawingml/2006/main" w="28575">
            <a:solidFill>
              <a:srgbClr val="3532B5"/>
            </a:solidFill>
          </a:ln>
        </p:spPr>
      </p:sp>
      <p:sp>
        <p:nvSpPr>
          <p:cNvPr id="76" name="Прямая B без сглаживания">
            <a:extLst xmlns:a="http://schemas.openxmlformats.org/drawingml/2006/main">
              <a:ext uri="{FF2B5EF4-FFF2-40B4-BE49-F238E27FC236}">
                <a16:creationId xmlns:a16="http://schemas.microsoft.com/office/drawing/2014/main" id="{94076CC7-C1BA-49AE-B190-963B8BFEE88D}"/>
              </a:ext>
            </a:extLst>
          </p:cNvPr>
          <p:cNvSpPr>
            <a:spLocks xmlns:a="http://schemas.openxmlformats.org/drawingml/2006/main" noGrp="1"/>
          </p:cNvSpPr>
          <p:nvPr/>
        </p:nvSpPr>
        <p:spPr>
          <a:xfrm xmlns:a="http://schemas.openxmlformats.org/drawingml/2006/main">
            <a:off x="6819900" y="1857375"/>
            <a:ext cx="4533900" cy="2876550"/>
          </a:xfrm>
          <a:custGeom xmlns:a="http://schemas.openxmlformats.org/drawingml/2006/main">
            <a:pathLst>
              <a:path w="4533900" h="2876550">
                <a:moveTo>
                  <a:pt x="0" y="2353541"/>
                </a:moveTo>
                <a:lnTo>
                  <a:pt x="4533900" y="1307523"/>
                </a:lnTo>
              </a:path>
            </a:pathLst>
          </a:custGeom>
          <a:noFill xmlns:a="http://schemas.openxmlformats.org/drawingml/2006/main"/>
          <a:ln xmlns:a="http://schemas.openxmlformats.org/drawingml/2006/main" w="28575">
            <a:solidFill>
              <a:srgbClr val="C87529"/>
            </a:solidFill>
          </a:ln>
        </p:spPr>
      </p:sp>
      <p:sp>
        <p:nvSpPr>
          <p:cNvPr id="77" name="Точка (0, 1)">
            <a:extLst xmlns:a="http://schemas.openxmlformats.org/drawingml/2006/main">
              <a:ext uri="{FF2B5EF4-FFF2-40B4-BE49-F238E27FC236}">
                <a16:creationId xmlns:a16="http://schemas.microsoft.com/office/drawing/2014/main" id="{1A6A1C16-84EF-46E6-A468-A47E101387AD}"/>
              </a:ext>
            </a:extLst>
          </p:cNvPr>
          <p:cNvSpPr>
            <a:spLocks xmlns:a="http://schemas.openxmlformats.org/drawingml/2006/main" noGrp="1"/>
          </p:cNvSpPr>
          <p:nvPr/>
        </p:nvSpPr>
        <p:spPr>
          <a:xfrm xmlns:a="http://schemas.openxmlformats.org/drawingml/2006/main">
            <a:off x="6772275" y="4424795"/>
            <a:ext cx="95250" cy="95250"/>
          </a:xfrm>
          <a:prstGeom xmlns:a="http://schemas.openxmlformats.org/drawingml/2006/main" prst="ellipse">
            <a:avLst/>
          </a:prstGeom>
          <a:solidFill xmlns:a="http://schemas.openxmlformats.org/drawingml/2006/main">
            <a:srgbClr val="111111"/>
          </a:solidFill>
          <a:ln xmlns:a="http://schemas.openxmlformats.org/drawingml/2006/main" w="4763">
            <a:solidFill>
              <a:srgbClr val="FFFFFF"/>
            </a:solidFill>
          </a:ln>
        </p:spPr>
      </p:sp>
      <p:sp>
        <p:nvSpPr>
          <p:cNvPr id="78" name="Точка (1, 3)">
            <a:extLst xmlns:a="http://schemas.openxmlformats.org/drawingml/2006/main">
              <a:ext uri="{FF2B5EF4-FFF2-40B4-BE49-F238E27FC236}">
                <a16:creationId xmlns:a16="http://schemas.microsoft.com/office/drawing/2014/main" id="{7BDE07DA-0199-45C9-AD18-20407DFB233E}"/>
              </a:ext>
            </a:extLst>
          </p:cNvPr>
          <p:cNvSpPr>
            <a:spLocks xmlns:a="http://schemas.openxmlformats.org/drawingml/2006/main" noGrp="1"/>
          </p:cNvSpPr>
          <p:nvPr/>
        </p:nvSpPr>
        <p:spPr>
          <a:xfrm xmlns:a="http://schemas.openxmlformats.org/drawingml/2006/main">
            <a:off x="7905750" y="3901786"/>
            <a:ext cx="95250" cy="95250"/>
          </a:xfrm>
          <a:prstGeom xmlns:a="http://schemas.openxmlformats.org/drawingml/2006/main" prst="ellipse">
            <a:avLst/>
          </a:prstGeom>
          <a:solidFill xmlns:a="http://schemas.openxmlformats.org/drawingml/2006/main">
            <a:srgbClr val="111111"/>
          </a:solidFill>
          <a:ln xmlns:a="http://schemas.openxmlformats.org/drawingml/2006/main" w="4763">
            <a:solidFill>
              <a:srgbClr val="FFFFFF"/>
            </a:solidFill>
          </a:ln>
        </p:spPr>
      </p:sp>
      <p:sp>
        <p:nvSpPr>
          <p:cNvPr id="79" name="Точка (2, 4)">
            <a:extLst xmlns:a="http://schemas.openxmlformats.org/drawingml/2006/main">
              <a:ext uri="{FF2B5EF4-FFF2-40B4-BE49-F238E27FC236}">
                <a16:creationId xmlns:a16="http://schemas.microsoft.com/office/drawing/2014/main" id="{74030DA5-1B9A-4159-A96C-811A9DDE284B}"/>
              </a:ext>
            </a:extLst>
          </p:cNvPr>
          <p:cNvSpPr>
            <a:spLocks xmlns:a="http://schemas.openxmlformats.org/drawingml/2006/main" noGrp="1"/>
          </p:cNvSpPr>
          <p:nvPr/>
        </p:nvSpPr>
        <p:spPr>
          <a:xfrm xmlns:a="http://schemas.openxmlformats.org/drawingml/2006/main">
            <a:off x="9039225" y="3640282"/>
            <a:ext cx="95250" cy="95250"/>
          </a:xfrm>
          <a:prstGeom xmlns:a="http://schemas.openxmlformats.org/drawingml/2006/main" prst="ellipse">
            <a:avLst/>
          </a:prstGeom>
          <a:solidFill xmlns:a="http://schemas.openxmlformats.org/drawingml/2006/main">
            <a:srgbClr val="111111"/>
          </a:solidFill>
          <a:ln xmlns:a="http://schemas.openxmlformats.org/drawingml/2006/main" w="4763">
            <a:solidFill>
              <a:srgbClr val="FFFFFF"/>
            </a:solidFill>
          </a:ln>
        </p:spPr>
      </p:sp>
      <p:sp>
        <p:nvSpPr>
          <p:cNvPr id="80" name="Точка (3, 7)">
            <a:extLst xmlns:a="http://schemas.openxmlformats.org/drawingml/2006/main">
              <a:ext uri="{FF2B5EF4-FFF2-40B4-BE49-F238E27FC236}">
                <a16:creationId xmlns:a16="http://schemas.microsoft.com/office/drawing/2014/main" id="{A86EFCF6-FDF6-48C4-AC83-18AB17A7EE72}"/>
              </a:ext>
            </a:extLst>
          </p:cNvPr>
          <p:cNvSpPr>
            <a:spLocks xmlns:a="http://schemas.openxmlformats.org/drawingml/2006/main" noGrp="1"/>
          </p:cNvSpPr>
          <p:nvPr/>
        </p:nvSpPr>
        <p:spPr>
          <a:xfrm xmlns:a="http://schemas.openxmlformats.org/drawingml/2006/main">
            <a:off x="10172700" y="2855768"/>
            <a:ext cx="95250" cy="95250"/>
          </a:xfrm>
          <a:prstGeom xmlns:a="http://schemas.openxmlformats.org/drawingml/2006/main" prst="ellipse">
            <a:avLst/>
          </a:prstGeom>
          <a:solidFill xmlns:a="http://schemas.openxmlformats.org/drawingml/2006/main">
            <a:srgbClr val="111111"/>
          </a:solidFill>
          <a:ln xmlns:a="http://schemas.openxmlformats.org/drawingml/2006/main" w="4763">
            <a:solidFill>
              <a:srgbClr val="FFFFFF"/>
            </a:solidFill>
          </a:ln>
        </p:spPr>
      </p:sp>
      <p:sp>
        <p:nvSpPr>
          <p:cNvPr id="81" name="Точка (4, 10)">
            <a:extLst xmlns:a="http://schemas.openxmlformats.org/drawingml/2006/main">
              <a:ext uri="{FF2B5EF4-FFF2-40B4-BE49-F238E27FC236}">
                <a16:creationId xmlns:a16="http://schemas.microsoft.com/office/drawing/2014/main" id="{958C7507-671B-4016-BE64-C614DE1D475D}"/>
              </a:ext>
            </a:extLst>
          </p:cNvPr>
          <p:cNvSpPr>
            <a:spLocks xmlns:a="http://schemas.openxmlformats.org/drawingml/2006/main" noGrp="1"/>
          </p:cNvSpPr>
          <p:nvPr/>
        </p:nvSpPr>
        <p:spPr>
          <a:xfrm xmlns:a="http://schemas.openxmlformats.org/drawingml/2006/main">
            <a:off x="11306175" y="2071255"/>
            <a:ext cx="95250" cy="95250"/>
          </a:xfrm>
          <a:prstGeom xmlns:a="http://schemas.openxmlformats.org/drawingml/2006/main" prst="ellipse">
            <a:avLst/>
          </a:prstGeom>
          <a:solidFill xmlns:a="http://schemas.openxmlformats.org/drawingml/2006/main">
            <a:srgbClr val="111111"/>
          </a:solidFill>
          <a:ln xmlns:a="http://schemas.openxmlformats.org/drawingml/2006/main" w="4763">
            <a:solidFill>
              <a:srgbClr val="FFFFFF"/>
            </a:solidFill>
          </a:ln>
        </p:spPr>
      </p:sp>
      <p:sp>
        <p:nvSpPr>
          <p:cNvPr id="82" name="">
            <a:extLst xmlns:a="http://schemas.openxmlformats.org/drawingml/2006/main">
              <a:ext uri="{FF2B5EF4-FFF2-40B4-BE49-F238E27FC236}">
                <a16:creationId xmlns:a16="http://schemas.microsoft.com/office/drawing/2014/main" id="{F5F40D29-C2A5-49D8-B99F-4B32D8518DA4}"/>
              </a:ext>
            </a:extLst>
          </p:cNvPr>
          <p:cNvSpPr>
            <a:spLocks xmlns:a="http://schemas.openxmlformats.org/drawingml/2006/main" noGrp="1"/>
          </p:cNvSpPr>
          <p:nvPr/>
        </p:nvSpPr>
        <p:spPr>
          <a:xfrm xmlns:a="http://schemas.openxmlformats.org/drawingml/2006/main">
            <a:off x="6896100" y="5543550"/>
            <a:ext cx="238125" cy="2857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2F143348-3EF9-49E9-902C-1D27E124170F}"/>
              </a:ext>
            </a:extLst>
          </p:cNvPr>
          <p:cNvSpPr>
            <a:spLocks xmlns:a="http://schemas.openxmlformats.org/drawingml/2006/main" noGrp="1"/>
          </p:cNvSpPr>
          <p:nvPr/>
        </p:nvSpPr>
        <p:spPr>
          <a:xfrm xmlns:a="http://schemas.openxmlformats.org/drawingml/2006/main">
            <a:off x="7200900" y="54578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11111"/>
                </a:solidFill>
              </a:defRPr>
            </a:defPPr>
            <a:lvl1pPr algn="l">
              <a:defRPr sz="1500" b="0">
                <a:solidFill>
                  <a:srgbClr val="111111"/>
                </a:solidFill>
              </a:defRPr>
            </a:lvl1pPr>
            <a:lvl2pPr algn="l">
              <a:defRPr sz="1500" b="0">
                <a:solidFill>
                  <a:srgbClr val="111111"/>
                </a:solidFill>
              </a:defRPr>
            </a:lvl2pPr>
            <a:lvl3pPr algn="l">
              <a:defRPr sz="1500" b="0">
                <a:solidFill>
                  <a:srgbClr val="111111"/>
                </a:solidFill>
              </a:defRPr>
            </a:lvl3pPr>
            <a:lvl4pPr algn="l">
              <a:defRPr sz="1500" b="0">
                <a:solidFill>
                  <a:srgbClr val="111111"/>
                </a:solidFill>
              </a:defRPr>
            </a:lvl4pPr>
            <a:lvl5pPr algn="l">
              <a:defRPr sz="1500" b="0">
                <a:solidFill>
                  <a:srgbClr val="111111"/>
                </a:solidFill>
              </a:defRPr>
            </a:lvl5pPr>
            <a:lvl6pPr algn="l">
              <a:defRPr sz="1500" b="0">
                <a:solidFill>
                  <a:srgbClr val="111111"/>
                </a:solidFill>
              </a:defRPr>
            </a:lvl6pPr>
            <a:lvl7pPr algn="l">
              <a:defRPr sz="1500" b="0">
                <a:solidFill>
                  <a:srgbClr val="111111"/>
                </a:solidFill>
              </a:defRPr>
            </a:lvl7pPr>
            <a:lvl8pPr algn="l">
              <a:defRPr sz="1500" b="0">
                <a:solidFill>
                  <a:srgbClr val="111111"/>
                </a:solidFill>
              </a:defRPr>
            </a:lvl8pPr>
            <a:lvl9pPr algn="l">
              <a:defRPr sz="1500" b="0">
                <a:solidFill>
                  <a:srgbClr val="111111"/>
                </a:solidFill>
              </a:defRPr>
            </a:lvl9pPr>
          </a:lstStyle>
          <a:p xmlns:a="http://schemas.openxmlformats.org/drawingml/2006/main">
            <a:pPr algn="l">
              <a:defRPr sz="1500" b="0">
                <a:solidFill>
                  <a:srgbClr val="111111"/>
                </a:solidFill>
              </a:defRPr>
            </a:pPr>
            <a:r>
              <a:rPr sz="1500" b="0">
                <a:solidFill>
                  <a:srgbClr val="111111"/>
                </a:solidFill>
              </a:rPr>
              <a:t>A</a:t>
            </a:r>
          </a:p>
        </p:txBody>
      </p:sp>
      <p:sp>
        <p:nvSpPr>
          <p:cNvPr id="84" name="">
            <a:extLst xmlns:a="http://schemas.openxmlformats.org/drawingml/2006/main">
              <a:ext uri="{FF2B5EF4-FFF2-40B4-BE49-F238E27FC236}">
                <a16:creationId xmlns:a16="http://schemas.microsoft.com/office/drawing/2014/main" id="{1C8C7444-316C-4D7D-9C7C-FFE5FDDA39DF}"/>
              </a:ext>
            </a:extLst>
          </p:cNvPr>
          <p:cNvSpPr>
            <a:spLocks xmlns:a="http://schemas.openxmlformats.org/drawingml/2006/main" noGrp="1"/>
          </p:cNvSpPr>
          <p:nvPr/>
        </p:nvSpPr>
        <p:spPr>
          <a:xfrm xmlns:a="http://schemas.openxmlformats.org/drawingml/2006/main">
            <a:off x="7867650" y="5543550"/>
            <a:ext cx="238125" cy="28575"/>
          </a:xfrm>
          <a:prstGeom xmlns:a="http://schemas.openxmlformats.org/drawingml/2006/main" prst="rect">
            <a:avLst/>
          </a:prstGeom>
          <a:solidFill xmlns:a="http://schemas.openxmlformats.org/drawingml/2006/main">
            <a:srgbClr val="C87529"/>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16F239CA-58A3-4980-8A83-95F380768169}"/>
              </a:ext>
            </a:extLst>
          </p:cNvPr>
          <p:cNvSpPr>
            <a:spLocks xmlns:a="http://schemas.openxmlformats.org/drawingml/2006/main" noGrp="1"/>
          </p:cNvSpPr>
          <p:nvPr/>
        </p:nvSpPr>
        <p:spPr>
          <a:xfrm xmlns:a="http://schemas.openxmlformats.org/drawingml/2006/main">
            <a:off x="8172450" y="54578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11111"/>
                </a:solidFill>
              </a:defRPr>
            </a:defPPr>
            <a:lvl1pPr algn="l">
              <a:defRPr sz="1500" b="0">
                <a:solidFill>
                  <a:srgbClr val="111111"/>
                </a:solidFill>
              </a:defRPr>
            </a:lvl1pPr>
            <a:lvl2pPr algn="l">
              <a:defRPr sz="1500" b="0">
                <a:solidFill>
                  <a:srgbClr val="111111"/>
                </a:solidFill>
              </a:defRPr>
            </a:lvl2pPr>
            <a:lvl3pPr algn="l">
              <a:defRPr sz="1500" b="0">
                <a:solidFill>
                  <a:srgbClr val="111111"/>
                </a:solidFill>
              </a:defRPr>
            </a:lvl3pPr>
            <a:lvl4pPr algn="l">
              <a:defRPr sz="1500" b="0">
                <a:solidFill>
                  <a:srgbClr val="111111"/>
                </a:solidFill>
              </a:defRPr>
            </a:lvl4pPr>
            <a:lvl5pPr algn="l">
              <a:defRPr sz="1500" b="0">
                <a:solidFill>
                  <a:srgbClr val="111111"/>
                </a:solidFill>
              </a:defRPr>
            </a:lvl5pPr>
            <a:lvl6pPr algn="l">
              <a:defRPr sz="1500" b="0">
                <a:solidFill>
                  <a:srgbClr val="111111"/>
                </a:solidFill>
              </a:defRPr>
            </a:lvl6pPr>
            <a:lvl7pPr algn="l">
              <a:defRPr sz="1500" b="0">
                <a:solidFill>
                  <a:srgbClr val="111111"/>
                </a:solidFill>
              </a:defRPr>
            </a:lvl7pPr>
            <a:lvl8pPr algn="l">
              <a:defRPr sz="1500" b="0">
                <a:solidFill>
                  <a:srgbClr val="111111"/>
                </a:solidFill>
              </a:defRPr>
            </a:lvl8pPr>
            <a:lvl9pPr algn="l">
              <a:defRPr sz="1500" b="0">
                <a:solidFill>
                  <a:srgbClr val="111111"/>
                </a:solidFill>
              </a:defRPr>
            </a:lvl9pPr>
          </a:lstStyle>
          <a:p xmlns:a="http://schemas.openxmlformats.org/drawingml/2006/main">
            <a:pPr algn="l">
              <a:defRPr sz="1500" b="0">
                <a:solidFill>
                  <a:srgbClr val="111111"/>
                </a:solidFill>
              </a:defRPr>
            </a:pPr>
            <a:r>
              <a:rPr sz="1500" b="0">
                <a:solidFill>
                  <a:srgbClr val="111111"/>
                </a:solidFill>
              </a:rPr>
              <a:t>B</a:t>
            </a:r>
          </a:p>
        </p:txBody>
      </p:sp>
      <p:sp>
        <p:nvSpPr>
          <p:cNvPr id="86" name="">
            <a:extLst xmlns:a="http://schemas.openxmlformats.org/drawingml/2006/main">
              <a:ext uri="{FF2B5EF4-FFF2-40B4-BE49-F238E27FC236}">
                <a16:creationId xmlns:a16="http://schemas.microsoft.com/office/drawing/2014/main" id="{8B4A189D-B962-47BC-A15D-72DEB3E4C9BA}"/>
              </a:ext>
            </a:extLst>
          </p:cNvPr>
          <p:cNvSpPr>
            <a:spLocks xmlns:a="http://schemas.openxmlformats.org/drawingml/2006/main" noGrp="1"/>
          </p:cNvSpPr>
          <p:nvPr/>
        </p:nvSpPr>
        <p:spPr>
          <a:xfrm xmlns:a="http://schemas.openxmlformats.org/drawingml/2006/main">
            <a:off x="8848725" y="5524500"/>
            <a:ext cx="85725" cy="85725"/>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8EF4C59E-6CAE-4798-9E75-2925DA0ED0EA}"/>
              </a:ext>
            </a:extLst>
          </p:cNvPr>
          <p:cNvSpPr>
            <a:spLocks xmlns:a="http://schemas.openxmlformats.org/drawingml/2006/main" noGrp="1"/>
          </p:cNvSpPr>
          <p:nvPr/>
        </p:nvSpPr>
        <p:spPr>
          <a:xfrm xmlns:a="http://schemas.openxmlformats.org/drawingml/2006/main">
            <a:off x="9010650" y="545782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11111"/>
                </a:solidFill>
              </a:defRPr>
            </a:defPPr>
            <a:lvl1pPr algn="l">
              <a:defRPr sz="1500" b="0">
                <a:solidFill>
                  <a:srgbClr val="111111"/>
                </a:solidFill>
              </a:defRPr>
            </a:lvl1pPr>
            <a:lvl2pPr algn="l">
              <a:defRPr sz="1500" b="0">
                <a:solidFill>
                  <a:srgbClr val="111111"/>
                </a:solidFill>
              </a:defRPr>
            </a:lvl2pPr>
            <a:lvl3pPr algn="l">
              <a:defRPr sz="1500" b="0">
                <a:solidFill>
                  <a:srgbClr val="111111"/>
                </a:solidFill>
              </a:defRPr>
            </a:lvl3pPr>
            <a:lvl4pPr algn="l">
              <a:defRPr sz="1500" b="0">
                <a:solidFill>
                  <a:srgbClr val="111111"/>
                </a:solidFill>
              </a:defRPr>
            </a:lvl4pPr>
            <a:lvl5pPr algn="l">
              <a:defRPr sz="1500" b="0">
                <a:solidFill>
                  <a:srgbClr val="111111"/>
                </a:solidFill>
              </a:defRPr>
            </a:lvl5pPr>
            <a:lvl6pPr algn="l">
              <a:defRPr sz="1500" b="0">
                <a:solidFill>
                  <a:srgbClr val="111111"/>
                </a:solidFill>
              </a:defRPr>
            </a:lvl6pPr>
            <a:lvl7pPr algn="l">
              <a:defRPr sz="1500" b="0">
                <a:solidFill>
                  <a:srgbClr val="111111"/>
                </a:solidFill>
              </a:defRPr>
            </a:lvl7pPr>
            <a:lvl8pPr algn="l">
              <a:defRPr sz="1500" b="0">
                <a:solidFill>
                  <a:srgbClr val="111111"/>
                </a:solidFill>
              </a:defRPr>
            </a:lvl8pPr>
            <a:lvl9pPr algn="l">
              <a:defRPr sz="1500" b="0">
                <a:solidFill>
                  <a:srgbClr val="111111"/>
                </a:solidFill>
              </a:defRPr>
            </a:lvl9pPr>
          </a:lstStyle>
          <a:p xmlns:a="http://schemas.openxmlformats.org/drawingml/2006/main">
            <a:pPr algn="l">
              <a:defRPr sz="1500" b="0">
                <a:solidFill>
                  <a:srgbClr val="111111"/>
                </a:solidFill>
              </a:defRPr>
            </a:pPr>
            <a:r>
              <a:rPr sz="1500" b="0">
                <a:solidFill>
                  <a:srgbClr val="111111"/>
                </a:solidFill>
              </a:rPr>
              <a:t>Данные</a:t>
            </a:r>
          </a:p>
        </p:txBody>
      </p:sp>
      <p:sp>
        <p:nvSpPr>
          <p:cNvPr id="88" name="">
            <a:extLst xmlns:a="http://schemas.openxmlformats.org/drawingml/2006/main">
              <a:ext uri="{FF2B5EF4-FFF2-40B4-BE49-F238E27FC236}">
                <a16:creationId xmlns:a16="http://schemas.microsoft.com/office/drawing/2014/main" id="{9A6D589A-F12E-411F-AA24-298B673F47E6}"/>
              </a:ext>
            </a:extLst>
          </p:cNvPr>
          <p:cNvSpPr>
            <a:spLocks xmlns:a="http://schemas.openxmlformats.org/drawingml/2006/main" noGrp="1"/>
          </p:cNvSpPr>
          <p:nvPr/>
        </p:nvSpPr>
        <p:spPr>
          <a:xfrm xmlns:a="http://schemas.openxmlformats.org/drawingml/2006/main">
            <a:off x="609600" y="5972175"/>
            <a:ext cx="10972800" cy="7071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11111"/>
                </a:solidFill>
              </a:defRPr>
            </a:defPPr>
            <a:lvl1pPr algn="l">
              <a:defRPr sz="2175" b="0">
                <a:solidFill>
                  <a:srgbClr val="111111"/>
                </a:solidFill>
              </a:defRPr>
            </a:lvl1pPr>
            <a:lvl2pPr algn="l">
              <a:defRPr sz="2175" b="0">
                <a:solidFill>
                  <a:srgbClr val="111111"/>
                </a:solidFill>
              </a:defRPr>
            </a:lvl2pPr>
            <a:lvl3pPr algn="l">
              <a:defRPr sz="2175" b="0">
                <a:solidFill>
                  <a:srgbClr val="111111"/>
                </a:solidFill>
              </a:defRPr>
            </a:lvl3pPr>
            <a:lvl4pPr algn="l">
              <a:defRPr sz="2175" b="0">
                <a:solidFill>
                  <a:srgbClr val="111111"/>
                </a:solidFill>
              </a:defRPr>
            </a:lvl4pPr>
            <a:lvl5pPr algn="l">
              <a:defRPr sz="2175" b="0">
                <a:solidFill>
                  <a:srgbClr val="111111"/>
                </a:solidFill>
              </a:defRPr>
            </a:lvl5pPr>
            <a:lvl6pPr algn="l">
              <a:defRPr sz="2175" b="0">
                <a:solidFill>
                  <a:srgbClr val="111111"/>
                </a:solidFill>
              </a:defRPr>
            </a:lvl6pPr>
            <a:lvl7pPr algn="l">
              <a:defRPr sz="2175" b="0">
                <a:solidFill>
                  <a:srgbClr val="111111"/>
                </a:solidFill>
              </a:defRPr>
            </a:lvl7pPr>
            <a:lvl8pPr algn="l">
              <a:defRPr sz="2175" b="0">
                <a:solidFill>
                  <a:srgbClr val="111111"/>
                </a:solidFill>
              </a:defRPr>
            </a:lvl8pPr>
            <a:lvl9pPr algn="l">
              <a:defRPr sz="2175" b="0">
                <a:solidFill>
                  <a:srgbClr val="111111"/>
                </a:solidFill>
              </a:defRPr>
            </a:lvl9pPr>
          </a:lstStyle>
          <a:p xmlns:a="http://schemas.openxmlformats.org/drawingml/2006/main">
            <a:pPr algn="l">
              <a:defRPr sz="2175" b="0">
                <a:solidFill>
                  <a:srgbClr val="111111"/>
                </a:solidFill>
              </a:defRPr>
            </a:pPr>
            <a:r>
              <a:rPr sz="2175" b="0">
                <a:solidFill>
                  <a:srgbClr val="111111"/>
                </a:solidFill>
              </a:rPr>
              <a:t>Визуального сравнения недостаточно: одна модель может лучше подходить одним</a:t>
            </a:r>
          </a:p>
          <a:p xmlns:a="http://schemas.openxmlformats.org/drawingml/2006/main">
            <a:pPr algn="l">
              <a:defRPr sz="2175" b="0">
                <a:solidFill>
                  <a:srgbClr val="111111"/>
                </a:solidFill>
              </a:defRPr>
            </a:pPr>
            <a:r>
              <a:rPr sz="2175" b="0">
                <a:solidFill>
                  <a:srgbClr val="111111"/>
                </a:solidFill>
              </a:rPr>
              <a:t>точкам, другая — остальным. Нужен общий критерий ошибки.</a:t>
            </a:r>
          </a:p>
        </p:txBody>
      </p:sp>
    </p:spTree>
    <p:extLst>
      <p:ext uri="{BB962C8B-B14F-4D97-AF65-F5344CB8AC3E}">
        <p14:creationId xmlns:p14="http://schemas.microsoft.com/office/powerpoint/2010/main" val="19615954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11DEC6CC-C366-48BD-9C88-B5E37E083322}"/>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35B398-15F8-4D01-9961-FED01AF27366}"/>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Линейная регрессия</a:t>
            </a:r>
          </a:p>
        </p:txBody>
      </p:sp>
      <p:sp>
        <p:nvSpPr>
          <p:cNvPr id="3" name="">
            <a:extLst xmlns:a="http://schemas.openxmlformats.org/drawingml/2006/main">
              <a:ext uri="{FF2B5EF4-FFF2-40B4-BE49-F238E27FC236}">
                <a16:creationId xmlns:a16="http://schemas.microsoft.com/office/drawing/2014/main" id="{B2305D81-0E0E-4825-A45E-3EC499F50FF4}"/>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 name="">
            <a:extLst xmlns:a="http://schemas.openxmlformats.org/drawingml/2006/main">
              <a:ext uri="{FF2B5EF4-FFF2-40B4-BE49-F238E27FC236}">
                <a16:creationId xmlns:a16="http://schemas.microsoft.com/office/drawing/2014/main" id="{4E18338F-D80D-4D77-A45A-B0FF2DC9E3DB}"/>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5" name="">
            <a:extLst xmlns:a="http://schemas.openxmlformats.org/drawingml/2006/main">
              <a:ext uri="{FF2B5EF4-FFF2-40B4-BE49-F238E27FC236}">
                <a16:creationId xmlns:a16="http://schemas.microsoft.com/office/drawing/2014/main" id="{91CC8810-A708-40B8-9DD2-61DDC8806BF1}"/>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6" name="">
            <a:extLst xmlns:a="http://schemas.openxmlformats.org/drawingml/2006/main">
              <a:ext uri="{FF2B5EF4-FFF2-40B4-BE49-F238E27FC236}">
                <a16:creationId xmlns:a16="http://schemas.microsoft.com/office/drawing/2014/main" id="{EABB7DEC-8875-43F3-AD32-2F2C8931C9DA}"/>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7" name="">
            <a:extLst xmlns:a="http://schemas.openxmlformats.org/drawingml/2006/main">
              <a:ext uri="{FF2B5EF4-FFF2-40B4-BE49-F238E27FC236}">
                <a16:creationId xmlns:a16="http://schemas.microsoft.com/office/drawing/2014/main" id="{3EEB7884-1ABE-412C-9E3E-C6AA1BE3F13C}"/>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8" name="">
            <a:extLst xmlns:a="http://schemas.openxmlformats.org/drawingml/2006/main">
              <a:ext uri="{FF2B5EF4-FFF2-40B4-BE49-F238E27FC236}">
                <a16:creationId xmlns:a16="http://schemas.microsoft.com/office/drawing/2014/main" id="{C7FB043F-0B20-4E9E-8117-2838BDB1D25A}"/>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92FCBF7B-1B44-492D-99B2-F80235DE48D3}"/>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DAE93A3A-A738-40FF-AC9D-B6A35378CBE6}"/>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F0BBCCD5-3D4B-4C1D-BC52-AD498137BAD7}"/>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A769A95B-F6EF-48E3-AD5E-384587D12B7A}"/>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0B0528F4-A4DE-4B09-91E3-AFDFAF97E81A}"/>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FE53DDFE-C625-4B09-94E5-8B891697E771}"/>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EA4760CA-9842-4BA7-9ECD-770607CC3986}"/>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658D815D-E59B-454D-87C6-4A42B34FE1B8}"/>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561DC438-DCA6-4F14-95CD-ECD7EA128129}"/>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B30984CE-A89E-44D1-989B-7EA09F047A20}"/>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4E080E61-D4BB-4DBB-BBAC-BA9209885E24}"/>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04310FE1-12E9-4B62-8B2F-8C9A38E5B956}"/>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A07E7D88-A1B1-43D3-BCB3-D50F1EDD3227}"/>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DCD4B49B-BC73-48BF-AE9A-3EE794070AE9}"/>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00A72DF5-D298-45EE-B2DF-F615C6115F82}"/>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345703D6-6244-4FB2-88D5-DBF24B8180C9}"/>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1841F2E9-39F5-4957-BBC6-C10247D5DC12}"/>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6587FE11-E779-4529-A0B2-D987E7A0B75D}"/>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0D5AE856-CF9D-4E94-AF44-FDE457D65F76}"/>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58B97F8D-40CE-4325-8393-6C80E9E1DC45}"/>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5E98CC7B-7CAE-4677-8AA8-884A05561C97}"/>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9A0F4DC9-AC6F-4394-BC18-AF4C18733440}"/>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B8D60D7A-DBA9-439C-908D-651B7E540215}"/>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66C120FC-E982-493B-B2EE-D4C522B53B33}"/>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58E77160-C689-42E2-B612-D768A270E70E}"/>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0FAB93A2-E154-4587-A39C-30257100895B}"/>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9C95B028-6467-41B9-9C5C-56B7F57696B4}"/>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57231923-AEF4-405A-8AB6-D600A8ED2BB9}"/>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86C512C2-9B14-45E5-9E56-8B94B1B53DB7}"/>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E2A43F91-64E0-4CF0-8DC4-2CF2D812CE35}"/>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ACDD799D-089F-43C8-988D-308A4084A31B}"/>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D6F57ECE-A4E2-456E-B88C-0CD80E93BB16}"/>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FFD61BA1-9CE6-4A26-882D-5E0D2075B78F}"/>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8818AEBE-DBF6-45C4-97CC-F3B2D3F150EF}"/>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FD645DBB-322E-4A79-846D-E556D65F54FD}"/>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ACF7CF0-2F88-4127-939C-19D60E15DB77}"/>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Ошибка одного предсказания</a:t>
            </a:r>
          </a:p>
        </p:txBody>
      </p:sp>
      <p:sp>
        <p:nvSpPr>
          <p:cNvPr id="45" name="">
            <a:extLst xmlns:a="http://schemas.openxmlformats.org/drawingml/2006/main">
              <a:ext uri="{FF2B5EF4-FFF2-40B4-BE49-F238E27FC236}">
                <a16:creationId xmlns:a16="http://schemas.microsoft.com/office/drawing/2014/main" id="{34296D34-F166-4C80-A636-E5963C03F676}"/>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A50CDC7-CDED-44FE-88B2-5B823EB1A5C9}"/>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A4674133-40BC-4670-A460-9231C8A5D074}"/>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09B23DCF-2244-4A22-988C-D3D75F34F085}"/>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35E9E039-EA9A-4CCB-B268-529936F6E7C1}"/>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5 / 37</a:t>
            </a:r>
          </a:p>
        </p:txBody>
      </p:sp>
      <p:sp>
        <p:nvSpPr>
          <p:cNvPr id="50" name="">
            <a:extLst xmlns:a="http://schemas.openxmlformats.org/drawingml/2006/main">
              <a:ext uri="{FF2B5EF4-FFF2-40B4-BE49-F238E27FC236}">
                <a16:creationId xmlns:a16="http://schemas.microsoft.com/office/drawing/2014/main" id="{37BE15A0-EEB9-42FE-A2BD-D0931398AAB9}"/>
              </a:ext>
            </a:extLst>
          </p:cNvPr>
          <p:cNvSpPr>
            <a:spLocks xmlns:a="http://schemas.openxmlformats.org/drawingml/2006/main" noGrp="1"/>
          </p:cNvSpPr>
          <p:nvPr/>
        </p:nvSpPr>
        <p:spPr>
          <a:xfrm xmlns:a="http://schemas.openxmlformats.org/drawingml/2006/main">
            <a:off x="609600" y="1743075"/>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Остаток — разность между прогнозом и известным ответом:</a:t>
            </a:r>
          </a:p>
        </p:txBody>
      </p:sp>
      <p:pic>
        <p:nvPicPr>
          <p:cNvPr id="51" name="">
            <a:extLst xmlns:a="http://schemas.openxmlformats.org/drawingml/2006/main">
              <a:ext uri="{FF2B5EF4-FFF2-40B4-BE49-F238E27FC236}">
                <a16:creationId xmlns:a16="http://schemas.microsoft.com/office/drawing/2014/main" id="{87189345-04A9-4D9C-89C2-DE91ABA83DFC}"/>
              </a:ext>
            </a:extLst>
          </p:cNvPr>
          <p:cNvPicPr>
            <a:picLocks xmlns:a="http://schemas.openxmlformats.org/drawingml/2006/main" noChangeAspect="1"/>
          </p:cNvPicPr>
          <p:nvPr/>
        </p:nvPicPr>
        <p:blipFill>
          <a:blip xmlns:r="http://schemas.openxmlformats.org/officeDocument/2006/relationships" xmlns:a="http://schemas.openxmlformats.org/drawingml/2006/main" r:embed="Rf28d1daf4ce545a1">
            <a:extLst>
              <a:ext uri="{96DAC541-7B7A-43D3-8B79-37D633B846F1}">
                <asvg:svgBlip xmlns:asvg="http://schemas.microsoft.com/office/drawing/2016/SVG/main" r:embed="R2fb1a309e80e41df"/>
              </a:ext>
            </a:extLst>
          </a:blip>
          <a:stretch xmlns:a="http://schemas.openxmlformats.org/drawingml/2006/main"/>
        </p:blipFill>
        <p:spPr>
          <a:xfrm xmlns:a="http://schemas.openxmlformats.org/drawingml/2006/main">
            <a:off x="5033836" y="2337435"/>
            <a:ext cx="2124328" cy="392425"/>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DBCF3360-A222-425F-8C45-FB257945BB3F}"/>
              </a:ext>
            </a:extLst>
          </p:cNvPr>
          <p:cNvSpPr>
            <a:spLocks xmlns:a="http://schemas.openxmlformats.org/drawingml/2006/main" noGrp="1"/>
          </p:cNvSpPr>
          <p:nvPr/>
        </p:nvSpPr>
        <p:spPr>
          <a:xfrm xmlns:a="http://schemas.openxmlformats.org/drawingml/2006/main">
            <a:off x="609600" y="2958460"/>
            <a:ext cx="53149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Завышенный прогноз</a:t>
            </a:r>
          </a:p>
        </p:txBody>
      </p:sp>
      <p:sp>
        <p:nvSpPr>
          <p:cNvPr id="53" name="">
            <a:extLst xmlns:a="http://schemas.openxmlformats.org/drawingml/2006/main">
              <a:ext uri="{FF2B5EF4-FFF2-40B4-BE49-F238E27FC236}">
                <a16:creationId xmlns:a16="http://schemas.microsoft.com/office/drawing/2014/main" id="{1E7CE0EB-56DF-4277-AD74-9525EEDCFD8B}"/>
              </a:ext>
            </a:extLst>
          </p:cNvPr>
          <p:cNvSpPr>
            <a:spLocks xmlns:a="http://schemas.openxmlformats.org/drawingml/2006/main" noGrp="1"/>
          </p:cNvSpPr>
          <p:nvPr/>
        </p:nvSpPr>
        <p:spPr>
          <a:xfrm xmlns:a="http://schemas.openxmlformats.org/drawingml/2006/main">
            <a:off x="609600" y="3507862"/>
            <a:ext cx="531495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На третьей точке модель A</a:t>
            </a:r>
          </a:p>
          <a:p xmlns:a="http://schemas.openxmlformats.org/drawingml/2006/main">
            <a:pPr algn="l">
              <a:defRPr sz="2250" b="0">
                <a:solidFill>
                  <a:srgbClr val="111111"/>
                </a:solidFill>
              </a:defRPr>
            </a:pPr>
            <a:r>
              <a:rPr sz="2250" b="0">
                <a:solidFill>
                  <a:srgbClr val="111111"/>
                </a:solidFill>
              </a:rPr>
              <a:t>предсказывает 5 вместо 4. Ошибка</a:t>
            </a:r>
          </a:p>
          <a:p xmlns:a="http://schemas.openxmlformats.org/drawingml/2006/main">
            <a:pPr algn="l">
              <a:defRPr sz="2250" b="0">
                <a:solidFill>
                  <a:srgbClr val="111111"/>
                </a:solidFill>
              </a:defRPr>
            </a:pPr>
            <a:r>
              <a:rPr sz="2250" b="0">
                <a:solidFill>
                  <a:srgbClr val="111111"/>
                </a:solidFill>
              </a:rPr>
              <a:t>равна +1.</a:t>
            </a:r>
          </a:p>
        </p:txBody>
      </p:sp>
      <p:sp>
        <p:nvSpPr>
          <p:cNvPr id="54" name="">
            <a:extLst xmlns:a="http://schemas.openxmlformats.org/drawingml/2006/main">
              <a:ext uri="{FF2B5EF4-FFF2-40B4-BE49-F238E27FC236}">
                <a16:creationId xmlns:a16="http://schemas.microsoft.com/office/drawing/2014/main" id="{7EA59AE6-8D0D-417C-B5AD-367F1D4B679D}"/>
              </a:ext>
            </a:extLst>
          </p:cNvPr>
          <p:cNvSpPr>
            <a:spLocks xmlns:a="http://schemas.openxmlformats.org/drawingml/2006/main" noGrp="1"/>
          </p:cNvSpPr>
          <p:nvPr/>
        </p:nvSpPr>
        <p:spPr>
          <a:xfrm xmlns:a="http://schemas.openxmlformats.org/drawingml/2006/main">
            <a:off x="6267450" y="2958460"/>
            <a:ext cx="53149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Заниженный прогноз</a:t>
            </a:r>
          </a:p>
        </p:txBody>
      </p:sp>
      <p:sp>
        <p:nvSpPr>
          <p:cNvPr id="55" name="">
            <a:extLst xmlns:a="http://schemas.openxmlformats.org/drawingml/2006/main">
              <a:ext uri="{FF2B5EF4-FFF2-40B4-BE49-F238E27FC236}">
                <a16:creationId xmlns:a16="http://schemas.microsoft.com/office/drawing/2014/main" id="{63F3A788-E243-48E5-8CEF-C2BC580C4A48}"/>
              </a:ext>
            </a:extLst>
          </p:cNvPr>
          <p:cNvSpPr>
            <a:spLocks xmlns:a="http://schemas.openxmlformats.org/drawingml/2006/main" noGrp="1"/>
          </p:cNvSpPr>
          <p:nvPr/>
        </p:nvSpPr>
        <p:spPr>
          <a:xfrm xmlns:a="http://schemas.openxmlformats.org/drawingml/2006/main">
            <a:off x="6267450" y="3507862"/>
            <a:ext cx="531495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На пятой точке модель A</a:t>
            </a:r>
          </a:p>
          <a:p xmlns:a="http://schemas.openxmlformats.org/drawingml/2006/main">
            <a:pPr algn="l">
              <a:defRPr sz="2250" b="0">
                <a:solidFill>
                  <a:srgbClr val="111111"/>
                </a:solidFill>
              </a:defRPr>
            </a:pPr>
            <a:r>
              <a:rPr sz="2250" b="0">
                <a:solidFill>
                  <a:srgbClr val="111111"/>
                </a:solidFill>
              </a:rPr>
              <a:t>предсказывает 9 вместо 10. Ошибка</a:t>
            </a:r>
          </a:p>
          <a:p xmlns:a="http://schemas.openxmlformats.org/drawingml/2006/main">
            <a:pPr algn="l">
              <a:defRPr sz="2250" b="0">
                <a:solidFill>
                  <a:srgbClr val="111111"/>
                </a:solidFill>
              </a:defRPr>
            </a:pPr>
            <a:r>
              <a:rPr sz="2250" b="0">
                <a:solidFill>
                  <a:srgbClr val="111111"/>
                </a:solidFill>
              </a:rPr>
              <a:t>равна −1.</a:t>
            </a:r>
          </a:p>
        </p:txBody>
      </p:sp>
      <p:sp>
        <p:nvSpPr>
          <p:cNvPr id="56" name="">
            <a:extLst xmlns:a="http://schemas.openxmlformats.org/drawingml/2006/main">
              <a:ext uri="{FF2B5EF4-FFF2-40B4-BE49-F238E27FC236}">
                <a16:creationId xmlns:a16="http://schemas.microsoft.com/office/drawing/2014/main" id="{DEA6D43F-A252-4D35-A4B7-FE3BED348EE6}"/>
              </a:ext>
            </a:extLst>
          </p:cNvPr>
          <p:cNvSpPr>
            <a:spLocks xmlns:a="http://schemas.openxmlformats.org/drawingml/2006/main" noGrp="1"/>
          </p:cNvSpPr>
          <p:nvPr/>
        </p:nvSpPr>
        <p:spPr>
          <a:xfrm xmlns:a="http://schemas.openxmlformats.org/drawingml/2006/main">
            <a:off x="609600" y="4833742"/>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Эти два промаха в сумме дают ноль. Поэтому сумма ошибок со знаком плохо</a:t>
            </a:r>
          </a:p>
          <a:p xmlns:a="http://schemas.openxmlformats.org/drawingml/2006/main">
            <a:pPr algn="l">
              <a:defRPr sz="2250" b="0">
                <a:solidFill>
                  <a:srgbClr val="111111"/>
                </a:solidFill>
              </a:defRPr>
            </a:pPr>
            <a:r>
              <a:rPr sz="2250" b="0">
                <a:solidFill>
                  <a:srgbClr val="111111"/>
                </a:solidFill>
              </a:rPr>
              <a:t>отражает качество модели.</a:t>
            </a:r>
          </a:p>
        </p:txBody>
      </p:sp>
    </p:spTree>
    <p:extLst>
      <p:ext uri="{BB962C8B-B14F-4D97-AF65-F5344CB8AC3E}">
        <p14:creationId xmlns:p14="http://schemas.microsoft.com/office/powerpoint/2010/main" val="21143638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0E17D60F-4DDB-408E-9135-FE4BE6F2D293}"/>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CCDAC4-C65E-4845-B4D1-9F77312AE506}"/>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Линейная регрессия</a:t>
            </a:r>
          </a:p>
        </p:txBody>
      </p:sp>
      <p:sp>
        <p:nvSpPr>
          <p:cNvPr id="3" name="">
            <a:extLst xmlns:a="http://schemas.openxmlformats.org/drawingml/2006/main">
              <a:ext uri="{FF2B5EF4-FFF2-40B4-BE49-F238E27FC236}">
                <a16:creationId xmlns:a16="http://schemas.microsoft.com/office/drawing/2014/main" id="{6092C476-86C6-4E91-A8F2-EF17015CE7FB}"/>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 name="">
            <a:extLst xmlns:a="http://schemas.openxmlformats.org/drawingml/2006/main">
              <a:ext uri="{FF2B5EF4-FFF2-40B4-BE49-F238E27FC236}">
                <a16:creationId xmlns:a16="http://schemas.microsoft.com/office/drawing/2014/main" id="{65BEDC71-A771-4AAD-B2BF-D647BDDD31C7}"/>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5" name="">
            <a:extLst xmlns:a="http://schemas.openxmlformats.org/drawingml/2006/main">
              <a:ext uri="{FF2B5EF4-FFF2-40B4-BE49-F238E27FC236}">
                <a16:creationId xmlns:a16="http://schemas.microsoft.com/office/drawing/2014/main" id="{816C1088-04DB-427E-914C-DA9972AACC60}"/>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6" name="">
            <a:extLst xmlns:a="http://schemas.openxmlformats.org/drawingml/2006/main">
              <a:ext uri="{FF2B5EF4-FFF2-40B4-BE49-F238E27FC236}">
                <a16:creationId xmlns:a16="http://schemas.microsoft.com/office/drawing/2014/main" id="{A77DF5F1-199E-45C6-BFE8-023FA1AB16AD}"/>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7" name="">
            <a:extLst xmlns:a="http://schemas.openxmlformats.org/drawingml/2006/main">
              <a:ext uri="{FF2B5EF4-FFF2-40B4-BE49-F238E27FC236}">
                <a16:creationId xmlns:a16="http://schemas.microsoft.com/office/drawing/2014/main" id="{7710EA91-86E3-4A35-9D1F-925260D9038B}"/>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8" name="">
            <a:extLst xmlns:a="http://schemas.openxmlformats.org/drawingml/2006/main">
              <a:ext uri="{FF2B5EF4-FFF2-40B4-BE49-F238E27FC236}">
                <a16:creationId xmlns:a16="http://schemas.microsoft.com/office/drawing/2014/main" id="{7390A9BE-8753-48D3-94F8-252F2018B926}"/>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311E7745-872D-4C6A-9B80-A8B363B77A1A}"/>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807F6CC0-BFA1-4E27-A69D-1183BCCC7459}"/>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C56ED58D-48EC-4793-8C7F-6D60FEFD0D7F}"/>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23A0D88F-43D6-4E57-BB6B-BFC6CB219EA6}"/>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360B78AA-0F48-418C-9870-101062574062}"/>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F19E7BEF-D148-44F1-859E-892DF4082F15}"/>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7BE62551-F453-4EC0-BE8C-FEB593F4CF8B}"/>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61D518C4-D40F-4E70-841F-1B2DB8582FA9}"/>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0B828A27-3F9C-4EFB-B9D9-0AFEB8B83F18}"/>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1E0CE59D-562B-4EB9-99DE-1B2131BD2B8C}"/>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0F1F5F25-AD77-4365-82A8-6A8942A02F94}"/>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1741E5BE-BED1-455B-B3C3-C2B3D7AC1C0E}"/>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51646722-D267-405E-B283-4AD2903C1630}"/>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AEF5EC58-FD5F-4C9E-92E7-E0D076AD3698}"/>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5D3B35B5-F602-4046-9CEB-37BA83305271}"/>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4558B29D-3296-406E-B6E7-577CBF9649FE}"/>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46D0003C-45F5-4E39-8901-DF6E4B673ED7}"/>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A14C8E71-A92B-4ECB-A1E2-A28CA62B34C4}"/>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2122B652-1C7B-420D-8B47-1B36EC0F1B6E}"/>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45550ABC-9ED5-4A1C-89DA-4AE8486F4904}"/>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00E097ED-5C62-4E5A-A31D-8CE02EC2D6F1}"/>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EDA7ED01-9300-454E-9394-1BF56C630298}"/>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CBED85D6-5726-4456-B0CD-1F088E0F0D65}"/>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0B62A980-004B-41B8-AEBE-BCAA33C5EB39}"/>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9ECBF144-87DC-47B7-B804-320F9C6BA7C0}"/>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AF344390-226A-4351-BC7C-E29797C42719}"/>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AFB02BD9-0C4B-4467-B98E-AF4E734D989E}"/>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7E5423DD-B8E6-4FD7-A277-9114F1AE97E8}"/>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2688B198-8010-44DE-A29C-8E405D283412}"/>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D6A97B44-0F07-4407-8B88-E43E6260438D}"/>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68CE98D9-3030-42B1-9E5C-2CDF20022ECF}"/>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ECF86EC0-9E9A-4E6E-84EA-5D3F80A83E5E}"/>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502168E1-0D68-419C-8A1C-836F08EF4A7E}"/>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CE56963C-EEC8-4B2B-994C-7EF7E3C1DA52}"/>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90F32A4D-42F1-4D0A-A739-77CDDA341987}"/>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3C3F370-BF09-4D07-BF5A-1D3B8A250205}"/>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Средний квадрат ошибки</a:t>
            </a:r>
          </a:p>
        </p:txBody>
      </p:sp>
      <p:sp>
        <p:nvSpPr>
          <p:cNvPr id="45" name="">
            <a:extLst xmlns:a="http://schemas.openxmlformats.org/drawingml/2006/main">
              <a:ext uri="{FF2B5EF4-FFF2-40B4-BE49-F238E27FC236}">
                <a16:creationId xmlns:a16="http://schemas.microsoft.com/office/drawing/2014/main" id="{66F7B688-95C9-4D76-A796-A3BA547BD945}"/>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B84D4CA-1437-4C22-A1BA-98496CA9A95A}"/>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DC469B2-286C-400C-A76B-9AABBDA44FAC}"/>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61E98E83-E173-4BA8-AA33-369BFB8D5757}"/>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EDD45EAD-9C6D-46F7-BB9D-570434C5F9D0}"/>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6 / 37</a:t>
            </a:r>
          </a:p>
        </p:txBody>
      </p:sp>
      <p:sp>
        <p:nvSpPr>
          <p:cNvPr id="50" name="">
            <a:extLst xmlns:a="http://schemas.openxmlformats.org/drawingml/2006/main">
              <a:ext uri="{FF2B5EF4-FFF2-40B4-BE49-F238E27FC236}">
                <a16:creationId xmlns:a16="http://schemas.microsoft.com/office/drawing/2014/main" id="{293BC46E-4DAE-4B70-A445-73DEF58D22EC}"/>
              </a:ext>
            </a:extLst>
          </p:cNvPr>
          <p:cNvSpPr>
            <a:spLocks xmlns:a="http://schemas.openxmlformats.org/drawingml/2006/main" noGrp="1"/>
          </p:cNvSpPr>
          <p:nvPr/>
        </p:nvSpPr>
        <p:spPr>
          <a:xfrm xmlns:a="http://schemas.openxmlformats.org/drawingml/2006/main">
            <a:off x="609600" y="1743075"/>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Возведём каждый остаток в квадрат и усредним по всем объектам:</a:t>
            </a:r>
          </a:p>
        </p:txBody>
      </p:sp>
      <p:pic>
        <p:nvPicPr>
          <p:cNvPr id="51" name="">
            <a:extLst xmlns:a="http://schemas.openxmlformats.org/drawingml/2006/main">
              <a:ext uri="{FF2B5EF4-FFF2-40B4-BE49-F238E27FC236}">
                <a16:creationId xmlns:a16="http://schemas.microsoft.com/office/drawing/2014/main" id="{10C5B0DC-4D50-408E-9E27-34E47015C217}"/>
              </a:ext>
            </a:extLst>
          </p:cNvPr>
          <p:cNvPicPr>
            <a:picLocks xmlns:a="http://schemas.openxmlformats.org/drawingml/2006/main" noChangeAspect="1"/>
          </p:cNvPicPr>
          <p:nvPr/>
        </p:nvPicPr>
        <p:blipFill>
          <a:blip xmlns:r="http://schemas.openxmlformats.org/officeDocument/2006/relationships" xmlns:a="http://schemas.openxmlformats.org/drawingml/2006/main" r:embed="R86aca8a50e8847c4">
            <a:extLst>
              <a:ext uri="{96DAC541-7B7A-43D3-8B79-37D633B846F1}">
                <asvg:svgBlip xmlns:asvg="http://schemas.microsoft.com/office/drawing/2016/SVG/main" r:embed="R25f45c0305194641"/>
              </a:ext>
            </a:extLst>
          </a:blip>
          <a:stretch xmlns:a="http://schemas.openxmlformats.org/drawingml/2006/main"/>
        </p:blipFill>
        <p:spPr>
          <a:xfrm xmlns:a="http://schemas.openxmlformats.org/drawingml/2006/main">
            <a:off x="3383357" y="2337435"/>
            <a:ext cx="5425286" cy="1120315"/>
          </a:xfrm>
          <a:prstGeom xmlns:a="http://schemas.openxmlformats.org/drawingml/2006/main" prst="rect">
            <a:avLst/>
          </a:prstGeom>
        </p:spPr>
      </p:pic>
      <p:graphicFrame>
        <p:nvGraphicFramePr>
          <p:cNvPr id="52" name="">
            <a:extLst xmlns:a="http://schemas.openxmlformats.org/drawingml/2006/main">
              <a:ext uri="{FF2B5EF4-FFF2-40B4-BE49-F238E27FC236}">
                <a16:creationId xmlns:a16="http://schemas.microsoft.com/office/drawing/2014/main" id="{BC77F677-6198-4804-9CB8-D4A8A5EFB562}"/>
              </a:ext>
            </a:extLst>
          </p:cNvPr>
          <p:cNvGraphicFramePr/>
          <p:nvPr/>
        </p:nvGraphicFramePr>
        <p:xfrm>
          <a:off xmlns:a="http://schemas.openxmlformats.org/drawingml/2006/main" x="609600" y="3686350"/>
          <a:ext xmlns:a="http://schemas.openxmlformats.org/drawingml/2006/main" cx="10972800" cy="1543050"/>
        </p:xfrm>
        <a:graphic xmlns:a="http://schemas.openxmlformats.org/drawingml/2006/main">
          <a:graphicData uri="http://schemas.openxmlformats.org/drawingml/2006/table">
            <a:tbl>
              <a:tblPr/>
              <a:tblGrid>
                <a:gridCol w="3657600"/>
                <a:gridCol w="3657600"/>
                <a:gridCol w="3657600"/>
              </a:tblGrid>
              <a:tr h="514350">
                <a:tc>
                  <a:txBody>
                    <a:bodyPr/>
                    <a:lstStyle/>
                    <a:p>
                      <a:r>
                        <a:rPr sz="1875" b="1">
                          <a:solidFill>
                            <a:srgbClr val="111111"/>
                          </a:solidFill>
                        </a:rPr>
                        <a:t>Модель</a:t>
                      </a:r>
                    </a:p>
                  </a:txBody>
                  <a:tcPr marL="91440" marR="91440" marT="45720" marB="45720">
                    <a:lnL w="9525">
                      <a:solidFill>
                        <a:srgbClr val="BDBCE0"/>
                      </a:solidFill>
                    </a:lnL>
                    <a:lnR w="9525">
                      <a:solidFill>
                        <a:srgbClr val="BDBCE0"/>
                      </a:solidFill>
                    </a:lnR>
                    <a:lnT w="9525">
                      <a:solidFill>
                        <a:srgbClr val="BDBCE0"/>
                      </a:solidFill>
                    </a:lnT>
                    <a:lnB w="9525">
                      <a:solidFill>
                        <a:srgbClr val="BDBCE0"/>
                      </a:solidFill>
                    </a:lnB>
                    <a:solidFill>
                      <a:srgbClr val="EAE9F8"/>
                    </a:solidFill>
                  </a:tcPr>
                </a:tc>
                <a:tc>
                  <a:txBody>
                    <a:bodyPr/>
                    <a:lstStyle/>
                    <a:p>
                      <a:r>
                        <a:rPr sz="1875" b="1">
                          <a:solidFill>
                            <a:srgbClr val="111111"/>
                          </a:solidFill>
                        </a:rPr>
                        <a:t>Ошибки на пяти точках</a:t>
                      </a:r>
                    </a:p>
                  </a:txBody>
                  <a:tcPr marL="91440" marR="91440" marT="45720" marB="45720">
                    <a:lnR w="9525">
                      <a:solidFill>
                        <a:srgbClr val="BDBCE0"/>
                      </a:solidFill>
                    </a:lnR>
                    <a:lnT w="9525">
                      <a:solidFill>
                        <a:srgbClr val="BDBCE0"/>
                      </a:solidFill>
                    </a:lnT>
                    <a:lnB w="9525">
                      <a:solidFill>
                        <a:srgbClr val="BDBCE0"/>
                      </a:solidFill>
                    </a:lnB>
                    <a:solidFill>
                      <a:srgbClr val="EAE9F8"/>
                    </a:solidFill>
                  </a:tcPr>
                </a:tc>
                <a:tc>
                  <a:txBody>
                    <a:bodyPr/>
                    <a:lstStyle/>
                    <a:p>
                      <a:r>
                        <a:rPr sz="1875" b="1">
                          <a:solidFill>
                            <a:srgbClr val="111111"/>
                          </a:solidFill>
                        </a:rPr>
                        <a:t>MSE</a:t>
                      </a:r>
                    </a:p>
                  </a:txBody>
                  <a:tcPr marL="91440" marR="91440" marT="45720" marB="45720">
                    <a:lnR w="9525">
                      <a:solidFill>
                        <a:srgbClr val="BDBCE0"/>
                      </a:solidFill>
                    </a:lnR>
                    <a:lnT w="9525">
                      <a:solidFill>
                        <a:srgbClr val="BDBCE0"/>
                      </a:solidFill>
                    </a:lnT>
                    <a:lnB w="9525">
                      <a:solidFill>
                        <a:srgbClr val="BDBCE0"/>
                      </a:solidFill>
                    </a:lnB>
                    <a:solidFill>
                      <a:srgbClr val="EAE9F8"/>
                    </a:solidFill>
                  </a:tcPr>
                </a:tc>
              </a:tr>
              <a:tr h="514350">
                <a:tc>
                  <a:txBody>
                    <a:bodyPr/>
                    <a:lstStyle/>
                    <a:p>
                      <a:r>
                        <a:rPr sz="1875" b="0">
                          <a:solidFill>
                            <a:srgbClr val="111111"/>
                          </a:solidFill>
                        </a:rPr>
                        <a:t>A</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0, 0, 1, 0, −1</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0,4</a:t>
                      </a:r>
                    </a:p>
                  </a:txBody>
                  <a:tcPr marL="91440" marR="91440" marT="45720" marB="45720">
                    <a:lnR w="9525">
                      <a:solidFill>
                        <a:srgbClr val="BDBCE0"/>
                      </a:solidFill>
                    </a:lnR>
                    <a:lnB w="9525">
                      <a:solidFill>
                        <a:srgbClr val="BDBCE0"/>
                      </a:solidFill>
                    </a:lnB>
                    <a:solidFill>
                      <a:srgbClr val="FFFFFF"/>
                    </a:solidFill>
                  </a:tcPr>
                </a:tc>
              </a:tr>
              <a:tr h="514350">
                <a:tc>
                  <a:txBody>
                    <a:bodyPr/>
                    <a:lstStyle/>
                    <a:p>
                      <a:r>
                        <a:rPr sz="1875" b="0">
                          <a:solidFill>
                            <a:srgbClr val="111111"/>
                          </a:solidFill>
                        </a:rPr>
                        <a:t>B</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1, 0, 0, −2, −4</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4,2</a:t>
                      </a:r>
                    </a:p>
                  </a:txBody>
                  <a:tcPr marL="91440" marR="91440" marT="45720" marB="45720">
                    <a:lnR w="9525">
                      <a:solidFill>
                        <a:srgbClr val="BDBCE0"/>
                      </a:solidFill>
                    </a:lnR>
                    <a:lnB w="9525">
                      <a:solidFill>
                        <a:srgbClr val="BDBCE0"/>
                      </a:solidFill>
                    </a:lnB>
                    <a:solidFill>
                      <a:srgbClr val="FFFFFF"/>
                    </a:solidFill>
                  </a:tcPr>
                </a:tc>
              </a:tr>
            </a:tbl>
          </a:graphicData>
        </a:graphic>
      </p:graphicFrame>
      <p:sp>
        <p:nvSpPr>
          <p:cNvPr id="53" name="">
            <a:extLst xmlns:a="http://schemas.openxmlformats.org/drawingml/2006/main">
              <a:ext uri="{FF2B5EF4-FFF2-40B4-BE49-F238E27FC236}">
                <a16:creationId xmlns:a16="http://schemas.microsoft.com/office/drawing/2014/main" id="{532D214D-7552-422B-A9FD-092485BD1770}"/>
              </a:ext>
            </a:extLst>
          </p:cNvPr>
          <p:cNvSpPr>
            <a:spLocks xmlns:a="http://schemas.openxmlformats.org/drawingml/2006/main" noGrp="1"/>
          </p:cNvSpPr>
          <p:nvPr/>
        </p:nvSpPr>
        <p:spPr>
          <a:xfrm xmlns:a="http://schemas.openxmlformats.org/drawingml/2006/main">
            <a:off x="609600" y="5458000"/>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Квадраты убирают знак и сильнее штрафуют большие промахи. Обучение</a:t>
            </a:r>
          </a:p>
          <a:p xmlns:a="http://schemas.openxmlformats.org/drawingml/2006/main">
            <a:pPr algn="l">
              <a:defRPr sz="2250" b="0">
                <a:solidFill>
                  <a:srgbClr val="111111"/>
                </a:solidFill>
              </a:defRPr>
            </a:pPr>
            <a:r>
              <a:rPr sz="2250" b="0">
                <a:solidFill>
                  <a:srgbClr val="111111"/>
                </a:solidFill>
              </a:rPr>
              <a:t>означает поиск параметров с минимальным значением MSE.</a:t>
            </a:r>
          </a:p>
        </p:txBody>
      </p:sp>
    </p:spTree>
    <p:extLst>
      <p:ext uri="{BB962C8B-B14F-4D97-AF65-F5344CB8AC3E}">
        <p14:creationId xmlns:p14="http://schemas.microsoft.com/office/powerpoint/2010/main" val="2854830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E58D5993-8E8C-4364-B46C-4D80F555A9D3}"/>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3B66ED-52A0-4F4E-B555-DC0D5C3237A9}"/>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Линейная регрессия</a:t>
            </a:r>
          </a:p>
        </p:txBody>
      </p:sp>
      <p:sp>
        <p:nvSpPr>
          <p:cNvPr id="3" name="">
            <a:extLst xmlns:a="http://schemas.openxmlformats.org/drawingml/2006/main">
              <a:ext uri="{FF2B5EF4-FFF2-40B4-BE49-F238E27FC236}">
                <a16:creationId xmlns:a16="http://schemas.microsoft.com/office/drawing/2014/main" id="{423C10A2-B065-4599-A4C0-BBA896C57777}"/>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 name="">
            <a:extLst xmlns:a="http://schemas.openxmlformats.org/drawingml/2006/main">
              <a:ext uri="{FF2B5EF4-FFF2-40B4-BE49-F238E27FC236}">
                <a16:creationId xmlns:a16="http://schemas.microsoft.com/office/drawing/2014/main" id="{AA552C8A-E246-49F4-A695-14DB8E04131A}"/>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5" name="">
            <a:extLst xmlns:a="http://schemas.openxmlformats.org/drawingml/2006/main">
              <a:ext uri="{FF2B5EF4-FFF2-40B4-BE49-F238E27FC236}">
                <a16:creationId xmlns:a16="http://schemas.microsoft.com/office/drawing/2014/main" id="{FD1BAA62-74B3-4A2A-91F3-571C4C7FA1A6}"/>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6" name="">
            <a:extLst xmlns:a="http://schemas.openxmlformats.org/drawingml/2006/main">
              <a:ext uri="{FF2B5EF4-FFF2-40B4-BE49-F238E27FC236}">
                <a16:creationId xmlns:a16="http://schemas.microsoft.com/office/drawing/2014/main" id="{82B2BD28-07E0-4B76-975A-1598BC3C2CAC}"/>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7" name="">
            <a:extLst xmlns:a="http://schemas.openxmlformats.org/drawingml/2006/main">
              <a:ext uri="{FF2B5EF4-FFF2-40B4-BE49-F238E27FC236}">
                <a16:creationId xmlns:a16="http://schemas.microsoft.com/office/drawing/2014/main" id="{96763C17-1FDC-4E13-8176-0B7EBEFB42C2}"/>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8" name="">
            <a:extLst xmlns:a="http://schemas.openxmlformats.org/drawingml/2006/main">
              <a:ext uri="{FF2B5EF4-FFF2-40B4-BE49-F238E27FC236}">
                <a16:creationId xmlns:a16="http://schemas.microsoft.com/office/drawing/2014/main" id="{0C72980D-F8AC-4B76-9D97-7F5CF2A3AB73}"/>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825ACFB0-7119-4F34-B050-9577C5B9F579}"/>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C1FACEAF-AC0C-4610-847B-C043B92473E2}"/>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5B4736D2-E426-495C-8362-13D427B103B6}"/>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41DBCBCF-B94F-4D52-85E6-DE8A6B2B2E35}"/>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CB86971E-7511-40B1-BBCC-5E3DF4366460}"/>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092C6DFF-2EBF-43C7-9CA5-20744493FA6B}"/>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F77EDD28-F370-4636-A43F-53C9FC9EF7F1}"/>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B97FDC3E-8D9A-405D-9349-E267DC581536}"/>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2EF53200-47D2-4C58-9BFD-B9A1B5FE379E}"/>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E39B4BE0-2E9E-4ECA-81E2-51123B9438EA}"/>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628907D7-AC57-48C9-96C6-F7E924088523}"/>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6C94B2E4-A26A-4C27-9EEF-939BF060336B}"/>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02FFCA8D-4F22-423F-85EE-C0553C59883E}"/>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A0440AFF-01B4-4E3A-93D3-81AEA3639575}"/>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08E7D4FF-EB3E-4513-A6BC-B7A10D181993}"/>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B00AC0B1-653F-4751-A5D4-F184AE04DAF4}"/>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10BDF725-E9A1-46FF-A21E-118CB8119D1E}"/>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70FE9BF0-A964-499B-9AC5-26BCC70552F3}"/>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D2FF67CB-D76D-48E6-A2AB-BA39ECD5CAC8}"/>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4A5906A1-5416-443B-968B-899EF54FF8F5}"/>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685FF954-6DE4-47A2-AE5C-52A7A96B59C4}"/>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93E8DFFB-CB15-40C5-ACF4-FF24F98E87E7}"/>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120035A8-9648-4863-A14E-484A2117BA51}"/>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724BCCCC-30E1-44CB-86EC-76EC5F77D721}"/>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D21763C1-C506-413B-BF43-7F0B8DA46C72}"/>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33C8C127-9439-4096-9667-E33952700965}"/>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EAB83774-0C53-4A58-9137-D3C2276C31FF}"/>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435FD3B4-B0FD-4F66-A450-76B0A631F06D}"/>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E3FBFF4A-1842-4E09-851A-13F5EB6FDA30}"/>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C64B5FD7-B884-445C-99AE-3EE836AEC5E7}"/>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9EBC6EE1-295E-46D7-B058-22E882353E7B}"/>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15948607-8D8D-4C2C-9C6B-FE73A5ACF3D4}"/>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57932C74-267D-471D-B56B-96DD2AA23F0D}"/>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92D4B1A6-2DE7-46CC-93AD-0AA29076D0A8}"/>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FF81708E-6C28-4684-BEC9-F02918118E9A}"/>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DE2FA1E-B1DF-4E3E-BCD2-57B27B27877E}"/>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Геометрический смысл MSE</a:t>
            </a:r>
          </a:p>
        </p:txBody>
      </p:sp>
      <p:sp>
        <p:nvSpPr>
          <p:cNvPr id="45" name="">
            <a:extLst xmlns:a="http://schemas.openxmlformats.org/drawingml/2006/main">
              <a:ext uri="{FF2B5EF4-FFF2-40B4-BE49-F238E27FC236}">
                <a16:creationId xmlns:a16="http://schemas.microsoft.com/office/drawing/2014/main" id="{65BAE678-A922-48BA-B997-0D045A368AD6}"/>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B660A128-5CB7-4EA2-93A8-653D6B2357DF}"/>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37F75365-C64F-40F5-9249-5A6BDCB1ABE6}"/>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FA260B91-0BCF-4B1A-B33A-DC857DA4215E}"/>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C1C73219-24E3-4A52-84DE-1ECEF58B616B}"/>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7 / 37</a:t>
            </a:r>
          </a:p>
        </p:txBody>
      </p:sp>
      <p:sp>
        <p:nvSpPr>
          <p:cNvPr id="50" name="">
            <a:extLst xmlns:a="http://schemas.openxmlformats.org/drawingml/2006/main">
              <a:ext uri="{FF2B5EF4-FFF2-40B4-BE49-F238E27FC236}">
                <a16:creationId xmlns:a16="http://schemas.microsoft.com/office/drawing/2014/main" id="{A09E0032-4A43-43BD-85FD-53782103F3AA}"/>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Соберём истинные ответы и прогнозы в два вектора длины n. Их разность —</a:t>
            </a:r>
          </a:p>
          <a:p xmlns:a="http://schemas.openxmlformats.org/drawingml/2006/main">
            <a:pPr algn="l">
              <a:defRPr sz="2250" b="0">
                <a:solidFill>
                  <a:srgbClr val="111111"/>
                </a:solidFill>
              </a:defRPr>
            </a:pPr>
            <a:r>
              <a:rPr sz="2250" b="0">
                <a:solidFill>
                  <a:srgbClr val="111111"/>
                </a:solidFill>
              </a:rPr>
              <a:t>вектор ошибок.</a:t>
            </a:r>
          </a:p>
        </p:txBody>
      </p:sp>
      <p:pic>
        <p:nvPicPr>
          <p:cNvPr id="51" name="">
            <a:extLst xmlns:a="http://schemas.openxmlformats.org/drawingml/2006/main">
              <a:ext uri="{FF2B5EF4-FFF2-40B4-BE49-F238E27FC236}">
                <a16:creationId xmlns:a16="http://schemas.microsoft.com/office/drawing/2014/main" id="{75D8ABFB-84A7-430D-B089-FBC9822A1BE8}"/>
              </a:ext>
            </a:extLst>
          </p:cNvPr>
          <p:cNvPicPr>
            <a:picLocks xmlns:a="http://schemas.openxmlformats.org/drawingml/2006/main" noChangeAspect="1"/>
          </p:cNvPicPr>
          <p:nvPr/>
        </p:nvPicPr>
        <p:blipFill>
          <a:blip xmlns:r="http://schemas.openxmlformats.org/officeDocument/2006/relationships" xmlns:a="http://schemas.openxmlformats.org/drawingml/2006/main" r:embed="R789cf901ef2b4628">
            <a:extLst>
              <a:ext uri="{96DAC541-7B7A-43D3-8B79-37D633B846F1}">
                <asvg:svgBlip xmlns:asvg="http://schemas.microsoft.com/office/drawing/2016/SVG/main" r:embed="R50835c7b411041be"/>
              </a:ext>
            </a:extLst>
          </a:blip>
          <a:stretch xmlns:a="http://schemas.openxmlformats.org/drawingml/2006/main"/>
        </p:blipFill>
        <p:spPr>
          <a:xfrm xmlns:a="http://schemas.openxmlformats.org/drawingml/2006/main">
            <a:off x="4341155" y="2703195"/>
            <a:ext cx="3509690" cy="919055"/>
          </a:xfrm>
          <a:prstGeom xmlns:a="http://schemas.openxmlformats.org/drawingml/2006/main" prst="rect">
            <a:avLst/>
          </a:prstGeom>
        </p:spPr>
      </p:pic>
      <p:pic>
        <p:nvPicPr>
          <p:cNvPr id="52" name="">
            <a:extLst xmlns:a="http://schemas.openxmlformats.org/drawingml/2006/main">
              <a:ext uri="{FF2B5EF4-FFF2-40B4-BE49-F238E27FC236}">
                <a16:creationId xmlns:a16="http://schemas.microsoft.com/office/drawing/2014/main" id="{E320DA74-CF77-4D9C-A2F5-AA5FCC9A8941}"/>
              </a:ext>
            </a:extLst>
          </p:cNvPr>
          <p:cNvPicPr>
            <a:picLocks xmlns:a="http://schemas.openxmlformats.org/drawingml/2006/main" noChangeAspect="1"/>
          </p:cNvPicPr>
          <p:nvPr/>
        </p:nvPicPr>
        <p:blipFill>
          <a:blip xmlns:r="http://schemas.openxmlformats.org/officeDocument/2006/relationships" xmlns:a="http://schemas.openxmlformats.org/drawingml/2006/main" r:embed="R6289319396844851">
            <a:extLst>
              <a:ext uri="{96DAC541-7B7A-43D3-8B79-37D633B846F1}">
                <asvg:svgBlip xmlns:asvg="http://schemas.microsoft.com/office/drawing/2016/SVG/main" r:embed="R6c82b3335ef348a7"/>
              </a:ext>
            </a:extLst>
          </a:blip>
          <a:stretch xmlns:a="http://schemas.openxmlformats.org/drawingml/2006/main"/>
        </p:blipFill>
        <p:spPr>
          <a:xfrm xmlns:a="http://schemas.openxmlformats.org/drawingml/2006/main">
            <a:off x="4141506" y="3850850"/>
            <a:ext cx="3908988" cy="101610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DF0721A3-A168-4E7A-A09F-D4936545F5DE}"/>
              </a:ext>
            </a:extLst>
          </p:cNvPr>
          <p:cNvSpPr>
            <a:spLocks xmlns:a="http://schemas.openxmlformats.org/drawingml/2006/main" noGrp="1"/>
          </p:cNvSpPr>
          <p:nvPr/>
        </p:nvSpPr>
        <p:spPr>
          <a:xfrm xmlns:a="http://schemas.openxmlformats.org/drawingml/2006/main">
            <a:off x="609600" y="5095550"/>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Евклидово расстояние, его квадрат и MSE достигают минимума при одних и тех</a:t>
            </a:r>
          </a:p>
          <a:p xmlns:a="http://schemas.openxmlformats.org/drawingml/2006/main">
            <a:pPr algn="l">
              <a:defRPr sz="2250" b="0">
                <a:solidFill>
                  <a:srgbClr val="111111"/>
                </a:solidFill>
              </a:defRPr>
            </a:pPr>
            <a:r>
              <a:rPr sz="2250" b="0">
                <a:solidFill>
                  <a:srgbClr val="111111"/>
                </a:solidFill>
              </a:rPr>
              <a:t>же параметрах. Численные значения и градиенты этих функций различаются.</a:t>
            </a:r>
          </a:p>
        </p:txBody>
      </p:sp>
    </p:spTree>
    <p:extLst>
      <p:ext uri="{BB962C8B-B14F-4D97-AF65-F5344CB8AC3E}">
        <p14:creationId xmlns:p14="http://schemas.microsoft.com/office/powerpoint/2010/main" val="8453521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A55F5DA3-6333-4640-ACFF-B75ECDBF24A6}"/>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425F43-D63F-42EF-8472-427284DC4F83}"/>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F8E258D8-FDBD-4BA9-953E-47C0B8CDD2D8}"/>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4EE5452F-A273-4A57-BB16-B392E65BF637}"/>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879CDC76-330E-4BAA-BCA6-FF7B578A10D4}"/>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76306DED-10AA-404F-B562-0FB977FCD20A}"/>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6638C406-2D8E-41A5-BF35-2523EEF30ED0}"/>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4CABC3EC-3B54-4EBF-9C54-F32934BD0BFA}"/>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995CDC6E-99B3-43EA-8D43-6E360A4A2056}"/>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AABB6E3B-FE6C-4AE4-93F9-961568C03E58}"/>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Минимум функции</a:t>
            </a:r>
          </a:p>
        </p:txBody>
      </p:sp>
      <p:sp>
        <p:nvSpPr>
          <p:cNvPr id="11" name="">
            <a:extLst xmlns:a="http://schemas.openxmlformats.org/drawingml/2006/main">
              <a:ext uri="{FF2B5EF4-FFF2-40B4-BE49-F238E27FC236}">
                <a16:creationId xmlns:a16="http://schemas.microsoft.com/office/drawing/2014/main" id="{FFA66876-0A40-4565-B3B2-1E79D4858696}"/>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1571AFAF-078C-41BD-B065-D3FBFDC77EAF}"/>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AE838F56-FFF3-4EEA-A78F-6A98773A7D39}"/>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24BCA794-BDBF-4EB6-A57C-7FE7058AA165}"/>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CCEFD96B-8203-421C-9DB0-EAEB9217262A}"/>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088F2933-4C29-4964-9605-3D2593C88B8F}"/>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9B9E3CA3-1646-4668-9539-BC43205EF7AF}"/>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1F53F5B8-FA19-42E0-8D79-E0316FD67F28}"/>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EA6AF73E-FAEC-48D8-A46E-DDDF7E55B31F}"/>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947D8240-1149-4445-B62A-3A6A0EB69F49}"/>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F8795204-A553-476B-A379-AB6A71CD8D29}"/>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A26D9D31-6103-4459-8E10-AC2116C17CEA}"/>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D2D02128-126C-4197-AD70-12324182CCEF}"/>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18211EBE-A496-45A6-8BF6-19E2EA90BFF2}"/>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2766C8DA-2556-41CE-804D-4135475B4253}"/>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0C7C892A-5C89-4510-B7FD-022FEACAB92C}"/>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CCB5EEB3-84D3-4735-93BC-3B5F76FF5C2F}"/>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E5114E17-11EC-416B-80AB-B7553F5A12EC}"/>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8A910156-276C-49D8-BCD8-A8D61D582911}"/>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37BB751D-EF5B-46EB-AA4E-21807036594F}"/>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4AF2BFD0-45B0-4E86-B3C2-5E8AE6D4FDC0}"/>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3DF4B1BD-60DF-4922-905D-F973009B3900}"/>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F90EFB43-4062-41A1-AE9D-B9FC7A657D08}"/>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BB995078-3AEC-436E-B122-010CA75294FA}"/>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888D03E8-3778-42C2-A8AA-904FB0B425BC}"/>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59D7A09D-DD6B-4572-8F74-960D0527530D}"/>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573C09D1-51C3-464D-B02C-EB6B789AE77C}"/>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CD6226EF-A2A2-4F47-B1D7-DD2557E2E594}"/>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59C88BC5-C2D5-4296-B4AF-E225965D8618}"/>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BB22AEB3-427F-4C10-B539-FB6C2271EC6D}"/>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5C364C10-D283-4DC3-A81F-069DE2B9FA55}"/>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4ACD890D-829E-4B92-A873-79875B9083FF}"/>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380E6057-2E49-40A4-BA60-6D94A9D90321}"/>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0E1014D-5646-484A-9C40-B15FC7ABC650}"/>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Минимум квадратичной функции</a:t>
            </a:r>
          </a:p>
        </p:txBody>
      </p:sp>
      <p:sp>
        <p:nvSpPr>
          <p:cNvPr id="45" name="">
            <a:extLst xmlns:a="http://schemas.openxmlformats.org/drawingml/2006/main">
              <a:ext uri="{FF2B5EF4-FFF2-40B4-BE49-F238E27FC236}">
                <a16:creationId xmlns:a16="http://schemas.microsoft.com/office/drawing/2014/main" id="{5950C683-3177-4D00-9053-69C3BB29D75F}"/>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204495C7-19D2-42C4-B765-B94D60730DBB}"/>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2CB2CF7-E8A8-4104-B249-A38AD6B37810}"/>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63E5104A-CA3D-4364-94DA-CC2CDD3C19DD}"/>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28C23646-6DF4-4F36-86EE-0F69E0EFF083}"/>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8 / 37</a:t>
            </a:r>
          </a:p>
        </p:txBody>
      </p:sp>
      <p:pic>
        <p:nvPicPr>
          <p:cNvPr id="50" name="">
            <a:extLst xmlns:a="http://schemas.openxmlformats.org/drawingml/2006/main">
              <a:ext uri="{FF2B5EF4-FFF2-40B4-BE49-F238E27FC236}">
                <a16:creationId xmlns:a16="http://schemas.microsoft.com/office/drawing/2014/main" id="{2D7B8CB9-83B6-4DD6-819C-45C36EBB2653}"/>
              </a:ext>
            </a:extLst>
          </p:cNvPr>
          <p:cNvPicPr>
            <a:picLocks xmlns:a="http://schemas.openxmlformats.org/drawingml/2006/main" noChangeAspect="1"/>
          </p:cNvPicPr>
          <p:nvPr/>
        </p:nvPicPr>
        <p:blipFill>
          <a:blip xmlns:r="http://schemas.openxmlformats.org/officeDocument/2006/relationships" xmlns:a="http://schemas.openxmlformats.org/drawingml/2006/main" r:embed="R073a46562ab84d77">
            <a:extLst>
              <a:ext uri="{96DAC541-7B7A-43D3-8B79-37D633B846F1}">
                <asvg:svgBlip xmlns:asvg="http://schemas.microsoft.com/office/drawing/2016/SVG/main" r:embed="R236e357e38f741fe"/>
              </a:ext>
            </a:extLst>
          </a:blip>
          <a:stretch xmlns:a="http://schemas.openxmlformats.org/drawingml/2006/main"/>
        </p:blipFill>
        <p:spPr>
          <a:xfrm xmlns:a="http://schemas.openxmlformats.org/drawingml/2006/main">
            <a:off x="1947063" y="1743075"/>
            <a:ext cx="2640024" cy="374540"/>
          </a:xfrm>
          <a:prstGeom xmlns:a="http://schemas.openxmlformats.org/drawingml/2006/main" prst="rect">
            <a:avLst/>
          </a:prstGeom>
        </p:spPr>
      </p:pic>
      <p:pic>
        <p:nvPicPr>
          <p:cNvPr id="51" name="">
            <a:extLst xmlns:a="http://schemas.openxmlformats.org/drawingml/2006/main">
              <a:ext uri="{FF2B5EF4-FFF2-40B4-BE49-F238E27FC236}">
                <a16:creationId xmlns:a16="http://schemas.microsoft.com/office/drawing/2014/main" id="{0CA89E74-FE8E-4705-8F35-AEE997345FC5}"/>
              </a:ext>
            </a:extLst>
          </p:cNvPr>
          <p:cNvPicPr>
            <a:picLocks xmlns:a="http://schemas.openxmlformats.org/drawingml/2006/main" noChangeAspect="1"/>
          </p:cNvPicPr>
          <p:nvPr/>
        </p:nvPicPr>
        <p:blipFill>
          <a:blip xmlns:r="http://schemas.openxmlformats.org/officeDocument/2006/relationships" xmlns:a="http://schemas.openxmlformats.org/drawingml/2006/main" r:embed="R9d2261302bf14cbd">
            <a:extLst>
              <a:ext uri="{96DAC541-7B7A-43D3-8B79-37D633B846F1}">
                <asvg:svgBlip xmlns:asvg="http://schemas.microsoft.com/office/drawing/2016/SVG/main" r:embed="Raeb366e6f63a45b9"/>
              </a:ext>
            </a:extLst>
          </a:blip>
          <a:stretch xmlns:a="http://schemas.openxmlformats.org/drawingml/2006/main"/>
        </p:blipFill>
        <p:spPr>
          <a:xfrm xmlns:a="http://schemas.openxmlformats.org/drawingml/2006/main">
            <a:off x="1955920" y="2289065"/>
            <a:ext cx="2622310" cy="374540"/>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3D455AF0-8BD8-4929-ABC5-7CC40A7BD235}"/>
              </a:ext>
            </a:extLst>
          </p:cNvPr>
          <p:cNvSpPr>
            <a:spLocks xmlns:a="http://schemas.openxmlformats.org/drawingml/2006/main" noGrp="1"/>
          </p:cNvSpPr>
          <p:nvPr/>
        </p:nvSpPr>
        <p:spPr>
          <a:xfrm xmlns:a="http://schemas.openxmlformats.org/drawingml/2006/main">
            <a:off x="609600" y="2835055"/>
            <a:ext cx="531495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Квадрат неотрицателен. Наименьшее</a:t>
            </a:r>
          </a:p>
          <a:p xmlns:a="http://schemas.openxmlformats.org/drawingml/2006/main">
            <a:pPr algn="l">
              <a:defRPr sz="2250" b="0">
                <a:solidFill>
                  <a:srgbClr val="111111"/>
                </a:solidFill>
              </a:defRPr>
            </a:pPr>
            <a:r>
              <a:rPr sz="2250" b="0">
                <a:solidFill>
                  <a:srgbClr val="111111"/>
                </a:solidFill>
              </a:rPr>
              <a:t>значение равно 2 и достигается при t =</a:t>
            </a:r>
          </a:p>
          <a:p xmlns:a="http://schemas.openxmlformats.org/drawingml/2006/main">
            <a:pPr algn="l">
              <a:defRPr sz="2250" b="0">
                <a:solidFill>
                  <a:srgbClr val="111111"/>
                </a:solidFill>
              </a:defRPr>
            </a:pPr>
            <a:r>
              <a:rPr sz="2250" b="0">
                <a:solidFill>
                  <a:srgbClr val="111111"/>
                </a:solidFill>
              </a:rPr>
              <a:t>3.</a:t>
            </a:r>
          </a:p>
        </p:txBody>
      </p:sp>
      <p:graphicFrame>
        <p:nvGraphicFramePr>
          <p:cNvPr id="53" name="Chart">
            <a:extLst xmlns:a="http://schemas.openxmlformats.org/drawingml/2006/main">
              <a:ext uri="{FF2B5EF4-FFF2-40B4-BE49-F238E27FC236}">
                <a16:creationId xmlns:a16="http://schemas.microsoft.com/office/drawing/2014/main" id="{A4A2AA29-8E5D-4AA6-9000-5B9F46151E85}"/>
              </a:ext>
            </a:extLst>
          </p:cNvPr>
          <p:cNvGraphicFramePr/>
          <p:nvPr/>
        </p:nvGraphicFramePr>
        <p:xfrm>
          <a:off xmlns:a="http://schemas.openxmlformats.org/drawingml/2006/main" x="6267450" y="1743075"/>
          <a:ext xmlns:a="http://schemas.openxmlformats.org/drawingml/2006/main" cx="5314950" cy="3810000"/>
        </p:xfrm>
        <a:graphic xmlns:a="http://schemas.openxmlformats.org/drawingml/2006/main">
          <a:graphicData uri="http://schemas.openxmlformats.org/drawingml/2006/chart">
            <c:chart xmlns:r="http://schemas.openxmlformats.org/officeDocument/2006/relationships" xmlns:c="http://schemas.openxmlformats.org/drawingml/2006/chart" r:id="R8c84d73b89664d67"/>
          </a:graphicData>
        </a:graphic>
      </p:graphicFrame>
      <p:sp>
        <p:nvSpPr>
          <p:cNvPr id="54" name="">
            <a:extLst xmlns:a="http://schemas.openxmlformats.org/drawingml/2006/main">
              <a:ext uri="{FF2B5EF4-FFF2-40B4-BE49-F238E27FC236}">
                <a16:creationId xmlns:a16="http://schemas.microsoft.com/office/drawing/2014/main" id="{C3892C0F-42D8-4705-90C0-FDB588C52571}"/>
              </a:ext>
            </a:extLst>
          </p:cNvPr>
          <p:cNvSpPr>
            <a:spLocks xmlns:a="http://schemas.openxmlformats.org/drawingml/2006/main" noGrp="1"/>
          </p:cNvSpPr>
          <p:nvPr/>
        </p:nvSpPr>
        <p:spPr>
          <a:xfrm xmlns:a="http://schemas.openxmlformats.org/drawingml/2006/main">
            <a:off x="609600" y="57816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Выделение полного квадрата позволяет сразу найти минимум параболы с</a:t>
            </a:r>
          </a:p>
          <a:p xmlns:a="http://schemas.openxmlformats.org/drawingml/2006/main">
            <a:pPr algn="l">
              <a:defRPr sz="2250" b="0">
                <a:solidFill>
                  <a:srgbClr val="111111"/>
                </a:solidFill>
              </a:defRPr>
            </a:pPr>
            <a:r>
              <a:rPr sz="2250" b="0">
                <a:solidFill>
                  <a:srgbClr val="111111"/>
                </a:solidFill>
              </a:rPr>
              <a:t>ветвями вверх.</a:t>
            </a:r>
          </a:p>
        </p:txBody>
      </p:sp>
    </p:spTree>
    <p:extLst>
      <p:ext uri="{BB962C8B-B14F-4D97-AF65-F5344CB8AC3E}">
        <p14:creationId xmlns:p14="http://schemas.microsoft.com/office/powerpoint/2010/main" val="5333310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610F4B8B-E69A-4836-9FFB-FE92BE88A4D0}"/>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52ACDA-9576-4B7B-B94F-678972876F26}"/>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ACD205E5-187F-45C6-8AA9-4B8A8128C7F7}"/>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B2B945C9-A0ED-4464-AC64-2AE455C2A98E}"/>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C2B4B057-9F3A-4971-BAEA-B162981C8BF8}"/>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379AD01F-3EC7-44D5-8074-5C9B1C589897}"/>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3CDABDF7-F244-45C5-8C25-6E2415B26F43}"/>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92C8BDA3-7EAB-4B17-B49F-5173497777D0}"/>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2E44437F-A98D-4D62-852D-F59135AED7D4}"/>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F1751C52-5766-4FF1-B93D-A44CA914E9D8}"/>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Минимум функции</a:t>
            </a:r>
          </a:p>
        </p:txBody>
      </p:sp>
      <p:sp>
        <p:nvSpPr>
          <p:cNvPr id="11" name="">
            <a:extLst xmlns:a="http://schemas.openxmlformats.org/drawingml/2006/main">
              <a:ext uri="{FF2B5EF4-FFF2-40B4-BE49-F238E27FC236}">
                <a16:creationId xmlns:a16="http://schemas.microsoft.com/office/drawing/2014/main" id="{0DF25EC1-F21E-4652-8C02-5049026555D3}"/>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E7FB312F-8631-4098-8FA5-6D5126DE5149}"/>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3C452DF3-332A-42ED-AD3C-77D0C38C6B23}"/>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B2E6057A-C8AD-4655-99AE-E15DD6FA8519}"/>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10DA1F47-5A8C-49B6-9181-96977A481DC1}"/>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32EF927F-0946-4AD4-BE72-92663C6E2B1F}"/>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D22BB133-7AD7-451F-BF69-41854145BB62}"/>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6EB98CB9-B0F5-4D93-A4DD-8FC95F0BE6BC}"/>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594B3656-28B8-44D5-898F-159F006B5891}"/>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B632B81F-E15F-4EFF-B86D-5855597DB144}"/>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12281FD5-8786-4F7F-8793-CF516B046F71}"/>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2E6AF182-79A8-4223-9407-69004A342CF4}"/>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D68D8639-B920-4FCC-AEE1-4CE717DC136E}"/>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5CAF4450-B758-4695-AEE3-43928A345F3D}"/>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405FB859-A102-4A95-B68E-2DAC6E44A3BE}"/>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440D9117-F9D2-4290-AFAC-9774459DAD99}"/>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BA5CFFE7-B15C-4BB1-8B89-4B0D8756D408}"/>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252BF37C-101C-4405-86E6-96F0DFDF7D64}"/>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BD5A50FC-ABB2-4480-B7AC-995C62099B00}"/>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580D7FF9-DA11-43D8-83B8-8B7492A3B010}"/>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B02261B9-4E92-41FE-BA98-3BFC610E41EF}"/>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B428B5F3-1F4D-46A5-8887-712504E6B862}"/>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4EF20B99-BCD8-421F-9CB9-D3DC7E4EBBAA}"/>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45F22F34-3504-41FF-905B-D897E2F57E86}"/>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2ABD778B-FD2F-4237-B944-63E3F8D01814}"/>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B315E6B1-F61E-45B8-8849-A030D842F54E}"/>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8EA5C3F0-36B0-4E8D-9B46-3FE88A6E9B8C}"/>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16534514-589B-41B5-82AD-9AE67B979259}"/>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62768DD0-D995-4F57-9CDD-B714C1742E19}"/>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E3E697C5-5EAA-4880-B6FF-AE634354A504}"/>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749714BB-12DD-46DE-B491-8770260AE60B}"/>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0DA53168-616B-4BCB-AEB8-A4699D50EF6D}"/>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4965D351-E58A-4A5E-B882-A3F62F73DDE3}"/>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A5E4916-6617-4E08-ADAC-8403D9E6C0C4}"/>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Корни и минимум функции</a:t>
            </a:r>
          </a:p>
        </p:txBody>
      </p:sp>
      <p:sp>
        <p:nvSpPr>
          <p:cNvPr id="45" name="">
            <a:extLst xmlns:a="http://schemas.openxmlformats.org/drawingml/2006/main">
              <a:ext uri="{FF2B5EF4-FFF2-40B4-BE49-F238E27FC236}">
                <a16:creationId xmlns:a16="http://schemas.microsoft.com/office/drawing/2014/main" id="{4CC19DD9-C15F-439B-AEE9-FEEBA9B03E16}"/>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60E51C1B-9D66-4135-AD4E-23FA22D1CD7A}"/>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E8B2B4D-6F49-4B83-9BB0-CA9A7F3F8FDF}"/>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BED70064-B884-4476-B096-47B2154D6D27}"/>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42C3B90E-356D-460D-8AC3-83158F66C0F0}"/>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9 / 37</a:t>
            </a:r>
          </a:p>
        </p:txBody>
      </p:sp>
      <p:sp>
        <p:nvSpPr>
          <p:cNvPr id="50" name="">
            <a:extLst xmlns:a="http://schemas.openxmlformats.org/drawingml/2006/main">
              <a:ext uri="{FF2B5EF4-FFF2-40B4-BE49-F238E27FC236}">
                <a16:creationId xmlns:a16="http://schemas.microsoft.com/office/drawing/2014/main" id="{AE9EA03A-0E23-4FAB-BDDB-55BEB31B381F}"/>
              </a:ext>
            </a:extLst>
          </p:cNvPr>
          <p:cNvSpPr>
            <a:spLocks xmlns:a="http://schemas.openxmlformats.org/drawingml/2006/main" noGrp="1"/>
          </p:cNvSpPr>
          <p:nvPr/>
        </p:nvSpPr>
        <p:spPr>
          <a:xfrm xmlns:a="http://schemas.openxmlformats.org/drawingml/2006/main">
            <a:off x="609600" y="1743075"/>
            <a:ext cx="53149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111111"/>
                </a:solidFill>
              </a:defRPr>
            </a:defPPr>
            <a:lvl1pPr algn="l">
              <a:defRPr sz="2400" b="1">
                <a:solidFill>
                  <a:srgbClr val="111111"/>
                </a:solidFill>
              </a:defRPr>
            </a:lvl1pPr>
            <a:lvl2pPr algn="l">
              <a:defRPr sz="2400" b="1">
                <a:solidFill>
                  <a:srgbClr val="111111"/>
                </a:solidFill>
              </a:defRPr>
            </a:lvl2pPr>
            <a:lvl3pPr algn="l">
              <a:defRPr sz="2400" b="1">
                <a:solidFill>
                  <a:srgbClr val="111111"/>
                </a:solidFill>
              </a:defRPr>
            </a:lvl3pPr>
            <a:lvl4pPr algn="l">
              <a:defRPr sz="2400" b="1">
                <a:solidFill>
                  <a:srgbClr val="111111"/>
                </a:solidFill>
              </a:defRPr>
            </a:lvl4pPr>
            <a:lvl5pPr algn="l">
              <a:defRPr sz="2400" b="1">
                <a:solidFill>
                  <a:srgbClr val="111111"/>
                </a:solidFill>
              </a:defRPr>
            </a:lvl5pPr>
            <a:lvl6pPr algn="l">
              <a:defRPr sz="2400" b="1">
                <a:solidFill>
                  <a:srgbClr val="111111"/>
                </a:solidFill>
              </a:defRPr>
            </a:lvl6pPr>
            <a:lvl7pPr algn="l">
              <a:defRPr sz="2400" b="1">
                <a:solidFill>
                  <a:srgbClr val="111111"/>
                </a:solidFill>
              </a:defRPr>
            </a:lvl7pPr>
            <a:lvl8pPr algn="l">
              <a:defRPr sz="2400" b="1">
                <a:solidFill>
                  <a:srgbClr val="111111"/>
                </a:solidFill>
              </a:defRPr>
            </a:lvl8pPr>
            <a:lvl9pPr algn="l">
              <a:defRPr sz="2400" b="1">
                <a:solidFill>
                  <a:srgbClr val="111111"/>
                </a:solidFill>
              </a:defRPr>
            </a:lvl9pPr>
          </a:lstStyle>
          <a:p xmlns:a="http://schemas.openxmlformats.org/drawingml/2006/main">
            <a:pPr algn="l">
              <a:defRPr sz="2400" b="1">
                <a:solidFill>
                  <a:srgbClr val="111111"/>
                </a:solidFill>
              </a:defRPr>
            </a:pPr>
            <a:r>
              <a:rPr sz="2400" b="1">
                <a:solidFill>
                  <a:srgbClr val="111111"/>
                </a:solidFill>
              </a:rPr>
              <a:t>Решение уравнения</a:t>
            </a:r>
          </a:p>
        </p:txBody>
      </p:sp>
      <p:sp>
        <p:nvSpPr>
          <p:cNvPr id="51" name="">
            <a:extLst xmlns:a="http://schemas.openxmlformats.org/drawingml/2006/main">
              <a:ext uri="{FF2B5EF4-FFF2-40B4-BE49-F238E27FC236}">
                <a16:creationId xmlns:a16="http://schemas.microsoft.com/office/drawing/2014/main" id="{FEBEE9C5-DC45-4F50-BF76-C62FB708900B}"/>
              </a:ext>
            </a:extLst>
          </p:cNvPr>
          <p:cNvSpPr>
            <a:spLocks xmlns:a="http://schemas.openxmlformats.org/drawingml/2006/main" noGrp="1"/>
          </p:cNvSpPr>
          <p:nvPr/>
        </p:nvSpPr>
        <p:spPr>
          <a:xfrm xmlns:a="http://schemas.openxmlformats.org/drawingml/2006/main">
            <a:off x="609600" y="2304669"/>
            <a:ext cx="531495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Ищем точки, в которых значение</a:t>
            </a:r>
          </a:p>
          <a:p xmlns:a="http://schemas.openxmlformats.org/drawingml/2006/main">
            <a:pPr algn="l">
              <a:defRPr sz="2250" b="0">
                <a:solidFill>
                  <a:srgbClr val="111111"/>
                </a:solidFill>
              </a:defRPr>
            </a:pPr>
            <a:r>
              <a:rPr sz="2250" b="0">
                <a:solidFill>
                  <a:srgbClr val="111111"/>
                </a:solidFill>
              </a:rPr>
              <a:t>функции равно нулю. У нашей</a:t>
            </a:r>
          </a:p>
          <a:p xmlns:a="http://schemas.openxmlformats.org/drawingml/2006/main">
            <a:pPr algn="l">
              <a:defRPr sz="2250" b="0">
                <a:solidFill>
                  <a:srgbClr val="111111"/>
                </a:solidFill>
              </a:defRPr>
            </a:pPr>
            <a:r>
              <a:rPr sz="2250" b="0">
                <a:solidFill>
                  <a:srgbClr val="111111"/>
                </a:solidFill>
              </a:rPr>
              <a:t>параболы действительных корней нет.</a:t>
            </a:r>
          </a:p>
        </p:txBody>
      </p:sp>
      <p:sp>
        <p:nvSpPr>
          <p:cNvPr id="52" name="">
            <a:extLst xmlns:a="http://schemas.openxmlformats.org/drawingml/2006/main">
              <a:ext uri="{FF2B5EF4-FFF2-40B4-BE49-F238E27FC236}">
                <a16:creationId xmlns:a16="http://schemas.microsoft.com/office/drawing/2014/main" id="{5B190B5F-B9E0-4624-8246-0B1D80E8CBC7}"/>
              </a:ext>
            </a:extLst>
          </p:cNvPr>
          <p:cNvSpPr>
            <a:spLocks xmlns:a="http://schemas.openxmlformats.org/drawingml/2006/main" noGrp="1"/>
          </p:cNvSpPr>
          <p:nvPr/>
        </p:nvSpPr>
        <p:spPr>
          <a:xfrm xmlns:a="http://schemas.openxmlformats.org/drawingml/2006/main">
            <a:off x="6267450" y="1743075"/>
            <a:ext cx="53149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111111"/>
                </a:solidFill>
              </a:defRPr>
            </a:defPPr>
            <a:lvl1pPr algn="l">
              <a:defRPr sz="2400" b="1">
                <a:solidFill>
                  <a:srgbClr val="111111"/>
                </a:solidFill>
              </a:defRPr>
            </a:lvl1pPr>
            <a:lvl2pPr algn="l">
              <a:defRPr sz="2400" b="1">
                <a:solidFill>
                  <a:srgbClr val="111111"/>
                </a:solidFill>
              </a:defRPr>
            </a:lvl2pPr>
            <a:lvl3pPr algn="l">
              <a:defRPr sz="2400" b="1">
                <a:solidFill>
                  <a:srgbClr val="111111"/>
                </a:solidFill>
              </a:defRPr>
            </a:lvl3pPr>
            <a:lvl4pPr algn="l">
              <a:defRPr sz="2400" b="1">
                <a:solidFill>
                  <a:srgbClr val="111111"/>
                </a:solidFill>
              </a:defRPr>
            </a:lvl4pPr>
            <a:lvl5pPr algn="l">
              <a:defRPr sz="2400" b="1">
                <a:solidFill>
                  <a:srgbClr val="111111"/>
                </a:solidFill>
              </a:defRPr>
            </a:lvl5pPr>
            <a:lvl6pPr algn="l">
              <a:defRPr sz="2400" b="1">
                <a:solidFill>
                  <a:srgbClr val="111111"/>
                </a:solidFill>
              </a:defRPr>
            </a:lvl6pPr>
            <a:lvl7pPr algn="l">
              <a:defRPr sz="2400" b="1">
                <a:solidFill>
                  <a:srgbClr val="111111"/>
                </a:solidFill>
              </a:defRPr>
            </a:lvl7pPr>
            <a:lvl8pPr algn="l">
              <a:defRPr sz="2400" b="1">
                <a:solidFill>
                  <a:srgbClr val="111111"/>
                </a:solidFill>
              </a:defRPr>
            </a:lvl8pPr>
            <a:lvl9pPr algn="l">
              <a:defRPr sz="2400" b="1">
                <a:solidFill>
                  <a:srgbClr val="111111"/>
                </a:solidFill>
              </a:defRPr>
            </a:lvl9pPr>
          </a:lstStyle>
          <a:p xmlns:a="http://schemas.openxmlformats.org/drawingml/2006/main">
            <a:pPr algn="l">
              <a:defRPr sz="2400" b="1">
                <a:solidFill>
                  <a:srgbClr val="111111"/>
                </a:solidFill>
              </a:defRPr>
            </a:pPr>
            <a:r>
              <a:rPr sz="2400" b="1">
                <a:solidFill>
                  <a:srgbClr val="111111"/>
                </a:solidFill>
              </a:rPr>
              <a:t>Минимизация</a:t>
            </a:r>
          </a:p>
        </p:txBody>
      </p:sp>
      <p:sp>
        <p:nvSpPr>
          <p:cNvPr id="53" name="">
            <a:extLst xmlns:a="http://schemas.openxmlformats.org/drawingml/2006/main">
              <a:ext uri="{FF2B5EF4-FFF2-40B4-BE49-F238E27FC236}">
                <a16:creationId xmlns:a16="http://schemas.microsoft.com/office/drawing/2014/main" id="{C4B3EA86-61F2-4391-AF8C-B6B54F7190EF}"/>
              </a:ext>
            </a:extLst>
          </p:cNvPr>
          <p:cNvSpPr>
            <a:spLocks xmlns:a="http://schemas.openxmlformats.org/drawingml/2006/main" noGrp="1"/>
          </p:cNvSpPr>
          <p:nvPr/>
        </p:nvSpPr>
        <p:spPr>
          <a:xfrm xmlns:a="http://schemas.openxmlformats.org/drawingml/2006/main">
            <a:off x="6267450" y="2304669"/>
            <a:ext cx="531495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Ищем наименьшее значение функции.</a:t>
            </a:r>
          </a:p>
          <a:p xmlns:a="http://schemas.openxmlformats.org/drawingml/2006/main">
            <a:pPr algn="l">
              <a:defRPr sz="2250" b="0">
                <a:solidFill>
                  <a:srgbClr val="111111"/>
                </a:solidFill>
              </a:defRPr>
            </a:pPr>
            <a:r>
              <a:rPr sz="2250" b="0">
                <a:solidFill>
                  <a:srgbClr val="111111"/>
                </a:solidFill>
              </a:rPr>
              <a:t>У нашей параболы оно существует и</a:t>
            </a:r>
          </a:p>
          <a:p xmlns:a="http://schemas.openxmlformats.org/drawingml/2006/main">
            <a:pPr algn="l">
              <a:defRPr sz="2250" b="0">
                <a:solidFill>
                  <a:srgbClr val="111111"/>
                </a:solidFill>
              </a:defRPr>
            </a:pPr>
            <a:r>
              <a:rPr sz="2250" b="0">
                <a:solidFill>
                  <a:srgbClr val="111111"/>
                </a:solidFill>
              </a:rPr>
              <a:t>равно 2.</a:t>
            </a:r>
          </a:p>
        </p:txBody>
      </p:sp>
      <p:pic>
        <p:nvPicPr>
          <p:cNvPr id="54" name="">
            <a:extLst xmlns:a="http://schemas.openxmlformats.org/drawingml/2006/main">
              <a:ext uri="{FF2B5EF4-FFF2-40B4-BE49-F238E27FC236}">
                <a16:creationId xmlns:a16="http://schemas.microsoft.com/office/drawing/2014/main" id="{28FDA9CD-4246-4EF0-971F-76BE593CD1AA}"/>
              </a:ext>
            </a:extLst>
          </p:cNvPr>
          <p:cNvPicPr>
            <a:picLocks xmlns:a="http://schemas.openxmlformats.org/drawingml/2006/main" noChangeAspect="1"/>
          </p:cNvPicPr>
          <p:nvPr/>
        </p:nvPicPr>
        <p:blipFill>
          <a:blip xmlns:r="http://schemas.openxmlformats.org/officeDocument/2006/relationships" xmlns:a="http://schemas.openxmlformats.org/drawingml/2006/main" r:embed="R38eedc51f2494761">
            <a:extLst>
              <a:ext uri="{96DAC541-7B7A-43D3-8B79-37D633B846F1}">
                <asvg:svgBlip xmlns:asvg="http://schemas.microsoft.com/office/drawing/2016/SVG/main" r:embed="R26c61e27fdd0494b"/>
              </a:ext>
            </a:extLst>
          </a:blip>
          <a:stretch xmlns:a="http://schemas.openxmlformats.org/drawingml/2006/main"/>
        </p:blipFill>
        <p:spPr>
          <a:xfrm xmlns:a="http://schemas.openxmlformats.org/drawingml/2006/main">
            <a:off x="4485152" y="3630549"/>
            <a:ext cx="3221695" cy="460149"/>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5AAC01CC-E5DE-4B47-9F78-22CBB6783235}"/>
              </a:ext>
            </a:extLst>
          </p:cNvPr>
          <p:cNvSpPr>
            <a:spLocks xmlns:a="http://schemas.openxmlformats.org/drawingml/2006/main" noGrp="1"/>
          </p:cNvSpPr>
          <p:nvPr/>
        </p:nvSpPr>
        <p:spPr>
          <a:xfrm xmlns:a="http://schemas.openxmlformats.org/drawingml/2006/main">
            <a:off x="609600" y="4319298"/>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При обучении минимизируем ошибку по параметрам. Она может оставаться</a:t>
            </a:r>
          </a:p>
          <a:p xmlns:a="http://schemas.openxmlformats.org/drawingml/2006/main">
            <a:pPr algn="l">
              <a:defRPr sz="2250" b="0">
                <a:solidFill>
                  <a:srgbClr val="111111"/>
                </a:solidFill>
              </a:defRPr>
            </a:pPr>
            <a:r>
              <a:rPr sz="2250" b="0">
                <a:solidFill>
                  <a:srgbClr val="111111"/>
                </a:solidFill>
              </a:rPr>
              <a:t>положительной из-за шума или ограниченного класса моделей.</a:t>
            </a:r>
          </a:p>
        </p:txBody>
      </p:sp>
    </p:spTree>
    <p:extLst>
      <p:ext uri="{BB962C8B-B14F-4D97-AF65-F5344CB8AC3E}">
        <p14:creationId xmlns:p14="http://schemas.microsoft.com/office/powerpoint/2010/main" val="3787423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7033BD07-D750-47DD-9DC1-7BD968CB7F70}"/>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400FD1-3032-4E77-9325-271614007B47}"/>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C99E0E29-74B4-41D3-AF95-88DE2354B87D}"/>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494124F9-5AE6-4BAC-906F-0102D6875B87}"/>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1BB9C3BC-17F2-4373-8B20-AA0FC716B6A7}"/>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10CAC680-7785-4DCA-BFD1-FC66BEDE0245}"/>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C5E50E93-B1AA-4B8B-8967-CD30C1108E39}"/>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0CD988A0-1064-4D87-8016-910AF9B943E1}"/>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57A1044F-DEFD-433E-9B48-2A4297CDAC2E}"/>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C0C5FF4B-8A06-4ADD-9654-CCF4DA6F8B64}"/>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Минимум функции</a:t>
            </a:r>
          </a:p>
        </p:txBody>
      </p:sp>
      <p:sp>
        <p:nvSpPr>
          <p:cNvPr id="11" name="">
            <a:extLst xmlns:a="http://schemas.openxmlformats.org/drawingml/2006/main">
              <a:ext uri="{FF2B5EF4-FFF2-40B4-BE49-F238E27FC236}">
                <a16:creationId xmlns:a16="http://schemas.microsoft.com/office/drawing/2014/main" id="{4A11B2E7-D3AD-41B0-A925-7A5E0C6FFCDA}"/>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9CAAC823-D38C-4F42-87B3-8EBAE10F8C31}"/>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2186DC27-8CC4-4887-ABC2-F5492B315F5B}"/>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91DB3B70-684E-4561-B148-67CE7E1CE8C0}"/>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E47CD9E3-BD10-448C-BB43-9C199A529C5C}"/>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0024DC3C-A555-4264-8282-3539154D8B57}"/>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AF21E077-DCCC-4A6E-BAEE-BB2BF819EB95}"/>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DA9FF132-4B24-4AAB-94AC-C9E5EB3547B5}"/>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7F643E3C-8E26-4571-8B44-6FA5CF4C1F57}"/>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00A0858D-6D35-4EA3-B57A-70BFF900A81D}"/>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9CDB2CD3-B7C4-4A11-80F8-8E5C337FF348}"/>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BBED3F1B-F18E-48B6-A376-99C23A2CCBB5}"/>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02E7CB35-EEE9-4FC5-A1DF-9FFAC2AA626D}"/>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1132CE38-40B3-4899-943C-14F2D74956B2}"/>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EDD537B5-6F52-4115-826B-2E9C2A8F74D7}"/>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ECD4B7DC-C825-4242-A48E-5C3B49C4383D}"/>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1519EF1D-98CA-489A-B401-1B2FAE323232}"/>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9E388273-24B2-4C6B-B28C-A240FC32247E}"/>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B5B05D62-110E-4A57-81C5-F7735E888824}"/>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B2828EF1-1DD1-4848-9C01-E8BC562CD838}"/>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676742A5-4D86-4D0A-8910-1AD7821FC21B}"/>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0C47888D-E127-4DB0-82FF-8EA5BE01183E}"/>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58B9A9A2-1008-4D7A-9217-E9D2E82E6DD7}"/>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071FD571-41D9-4F09-B5C7-A07D3F76E089}"/>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45083C3F-C946-4294-90C9-72E1666DFFEB}"/>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281A0EAA-544F-4396-B747-7B9D4DB32377}"/>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3EA069B7-1196-444C-B8D6-E2EEA28D7CC2}"/>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62858640-388A-4C2C-9805-72DDB0EF0179}"/>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54AA2AA0-91E8-4F5D-B8BE-021C26678086}"/>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69E985D7-EDFB-4B2B-B520-02B1B6BF84CF}"/>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4F3F61B1-BF6F-46A9-BC23-DE0DB864363E}"/>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5A141088-A782-4B6A-A6F3-F3E4630C5185}"/>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87D8D751-BE67-4F98-8EC9-979959585390}"/>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9195BBC-24E9-4F59-BDF3-BBC7EF6B68A2}"/>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Почему ошибка квадратична</a:t>
            </a:r>
          </a:p>
        </p:txBody>
      </p:sp>
      <p:sp>
        <p:nvSpPr>
          <p:cNvPr id="45" name="">
            <a:extLst xmlns:a="http://schemas.openxmlformats.org/drawingml/2006/main">
              <a:ext uri="{FF2B5EF4-FFF2-40B4-BE49-F238E27FC236}">
                <a16:creationId xmlns:a16="http://schemas.microsoft.com/office/drawing/2014/main" id="{DACD5AA9-4E16-481F-BF06-DD75B2A4187B}"/>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3078BA9D-159B-4A40-B5F3-FE733CC8526E}"/>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A3EA8518-D2A9-499B-A910-DE4928A1C503}"/>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0592F72E-84F8-469F-84FB-6E0405B6DA07}"/>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2014684C-D9BE-4BB9-9E0D-3EAA026E6290}"/>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10 / 37</a:t>
            </a:r>
          </a:p>
        </p:txBody>
      </p:sp>
      <p:sp>
        <p:nvSpPr>
          <p:cNvPr id="50" name="">
            <a:extLst xmlns:a="http://schemas.openxmlformats.org/drawingml/2006/main">
              <a:ext uri="{FF2B5EF4-FFF2-40B4-BE49-F238E27FC236}">
                <a16:creationId xmlns:a16="http://schemas.microsoft.com/office/drawing/2014/main" id="{AC0FAC72-7438-42E6-9E14-D429BA597CCF}"/>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Зафиксируем свободный коэффициент b = 1 и подставим пять известных точек</a:t>
            </a:r>
          </a:p>
          <a:p xmlns:a="http://schemas.openxmlformats.org/drawingml/2006/main">
            <a:pPr algn="l">
              <a:defRPr sz="2250" b="0">
                <a:solidFill>
                  <a:srgbClr val="111111"/>
                </a:solidFill>
              </a:defRPr>
            </a:pPr>
            <a:r>
              <a:rPr sz="2250" b="0">
                <a:solidFill>
                  <a:srgbClr val="111111"/>
                </a:solidFill>
              </a:rPr>
              <a:t>в MSE:</a:t>
            </a:r>
          </a:p>
        </p:txBody>
      </p:sp>
      <p:pic>
        <p:nvPicPr>
          <p:cNvPr id="51" name="">
            <a:extLst xmlns:a="http://schemas.openxmlformats.org/drawingml/2006/main">
              <a:ext uri="{FF2B5EF4-FFF2-40B4-BE49-F238E27FC236}">
                <a16:creationId xmlns:a16="http://schemas.microsoft.com/office/drawing/2014/main" id="{E7F3BEF3-075A-43F4-9BBB-90E7F1A362BF}"/>
              </a:ext>
            </a:extLst>
          </p:cNvPr>
          <p:cNvPicPr>
            <a:picLocks xmlns:a="http://schemas.openxmlformats.org/drawingml/2006/main" noChangeAspect="1"/>
          </p:cNvPicPr>
          <p:nvPr/>
        </p:nvPicPr>
        <p:blipFill>
          <a:blip xmlns:r="http://schemas.openxmlformats.org/officeDocument/2006/relationships" xmlns:a="http://schemas.openxmlformats.org/drawingml/2006/main" r:embed="R40e85b9892494df3">
            <a:extLst>
              <a:ext uri="{96DAC541-7B7A-43D3-8B79-37D633B846F1}">
                <asvg:svgBlip xmlns:asvg="http://schemas.microsoft.com/office/drawing/2016/SVG/main" r:embed="R92f9a2986f744ab7"/>
              </a:ext>
            </a:extLst>
          </a:blip>
          <a:stretch xmlns:a="http://schemas.openxmlformats.org/drawingml/2006/main"/>
        </p:blipFill>
        <p:spPr>
          <a:xfrm xmlns:a="http://schemas.openxmlformats.org/drawingml/2006/main">
            <a:off x="2296837" y="2703195"/>
            <a:ext cx="7598325" cy="603187"/>
          </a:xfrm>
          <a:prstGeom xmlns:a="http://schemas.openxmlformats.org/drawingml/2006/main" prst="rect">
            <a:avLst/>
          </a:prstGeom>
        </p:spPr>
      </p:pic>
      <p:pic>
        <p:nvPicPr>
          <p:cNvPr id="52" name="">
            <a:extLst xmlns:a="http://schemas.openxmlformats.org/drawingml/2006/main">
              <a:ext uri="{FF2B5EF4-FFF2-40B4-BE49-F238E27FC236}">
                <a16:creationId xmlns:a16="http://schemas.microsoft.com/office/drawing/2014/main" id="{48224B7A-22DF-4C5D-812B-17519E2A50E9}"/>
              </a:ext>
            </a:extLst>
          </p:cNvPr>
          <p:cNvPicPr>
            <a:picLocks xmlns:a="http://schemas.openxmlformats.org/drawingml/2006/main" noChangeAspect="1"/>
          </p:cNvPicPr>
          <p:nvPr/>
        </p:nvPicPr>
        <p:blipFill>
          <a:blip xmlns:r="http://schemas.openxmlformats.org/officeDocument/2006/relationships" xmlns:a="http://schemas.openxmlformats.org/drawingml/2006/main" r:embed="R6fd17cd05d214bb1">
            <a:extLst>
              <a:ext uri="{96DAC541-7B7A-43D3-8B79-37D633B846F1}">
                <asvg:svgBlip xmlns:asvg="http://schemas.microsoft.com/office/drawing/2016/SVG/main" r:embed="Re019ef8d5aab4c8a"/>
              </a:ext>
            </a:extLst>
          </a:blip>
          <a:stretch xmlns:a="http://schemas.openxmlformats.org/drawingml/2006/main"/>
        </p:blipFill>
        <p:spPr>
          <a:xfrm xmlns:a="http://schemas.openxmlformats.org/drawingml/2006/main">
            <a:off x="3636834" y="3534982"/>
            <a:ext cx="4918333" cy="460149"/>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80DAB9E4-10BE-4B07-A905-76A1F6829798}"/>
              </a:ext>
            </a:extLst>
          </p:cNvPr>
          <p:cNvSpPr>
            <a:spLocks xmlns:a="http://schemas.openxmlformats.org/drawingml/2006/main" noGrp="1"/>
          </p:cNvSpPr>
          <p:nvPr/>
        </p:nvSpPr>
        <p:spPr>
          <a:xfrm xmlns:a="http://schemas.openxmlformats.org/drawingml/2006/main">
            <a:off x="609600" y="4223731"/>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Каждый квадрат линейного выражения даёт квадрат веса. Сумма таких</a:t>
            </a:r>
          </a:p>
          <a:p xmlns:a="http://schemas.openxmlformats.org/drawingml/2006/main">
            <a:pPr algn="l">
              <a:defRPr sz="2250" b="0">
                <a:solidFill>
                  <a:srgbClr val="111111"/>
                </a:solidFill>
              </a:defRPr>
            </a:pPr>
            <a:r>
              <a:rPr sz="2250" b="0">
                <a:solidFill>
                  <a:srgbClr val="111111"/>
                </a:solidFill>
              </a:rPr>
              <a:t>слагаемых остаётся квадратичной функцией.</a:t>
            </a:r>
          </a:p>
        </p:txBody>
      </p:sp>
      <p:sp>
        <p:nvSpPr>
          <p:cNvPr id="54" name="">
            <a:extLst xmlns:a="http://schemas.openxmlformats.org/drawingml/2006/main">
              <a:ext uri="{FF2B5EF4-FFF2-40B4-BE49-F238E27FC236}">
                <a16:creationId xmlns:a16="http://schemas.microsoft.com/office/drawing/2014/main" id="{CDA15A04-6562-4D26-AFBC-9534CF642DE0}"/>
              </a:ext>
            </a:extLst>
          </p:cNvPr>
          <p:cNvSpPr>
            <a:spLocks xmlns:a="http://schemas.openxmlformats.org/drawingml/2006/main" noGrp="1"/>
          </p:cNvSpPr>
          <p:nvPr/>
        </p:nvSpPr>
        <p:spPr>
          <a:xfrm xmlns:a="http://schemas.openxmlformats.org/drawingml/2006/main">
            <a:off x="609600" y="5183851"/>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При полном обучении меняются оба параметра. Тогда MSE — квадратичная</a:t>
            </a:r>
          </a:p>
          <a:p xmlns:a="http://schemas.openxmlformats.org/drawingml/2006/main">
            <a:pPr algn="l">
              <a:defRPr sz="2250" b="0">
                <a:solidFill>
                  <a:srgbClr val="111111"/>
                </a:solidFill>
              </a:defRPr>
            </a:pPr>
            <a:r>
              <a:rPr sz="2250" b="0">
                <a:solidFill>
                  <a:srgbClr val="111111"/>
                </a:solidFill>
              </a:rPr>
              <a:t>функция точки (w, b).</a:t>
            </a:r>
          </a:p>
        </p:txBody>
      </p:sp>
    </p:spTree>
    <p:extLst>
      <p:ext uri="{BB962C8B-B14F-4D97-AF65-F5344CB8AC3E}">
        <p14:creationId xmlns:p14="http://schemas.microsoft.com/office/powerpoint/2010/main" val="146692165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 name="">
            <a:extLst xmlns:a="http://schemas.openxmlformats.org/drawingml/2006/main">
              <a:ext uri="{FF2B5EF4-FFF2-40B4-BE49-F238E27FC236}">
                <a16:creationId xmlns:a16="http://schemas.microsoft.com/office/drawing/2014/main" id="{02E3A000-5CB2-431C-BB1F-A972F994D777}"/>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D2A053-632B-4C2E-921C-92D5E587CFE5}"/>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6497802D-70E0-4100-A47B-62DD1FC0290D}"/>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048BD418-781C-41C4-95FB-4DDB2FF5D7A5}"/>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7D92E86D-D232-4E0B-983E-F13AB110270F}"/>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C8F24EE9-8750-4BC3-8A6A-F26E4802AD65}"/>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123B6E89-E55A-430B-9A56-7114C9EBD0A1}"/>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223BA838-90CB-466C-ABCE-11E784146B0D}"/>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D88D0F75-BB4C-45C2-B180-5230C93A1B28}"/>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2ED1DE14-492C-4533-A9E7-DA06A1B8824E}"/>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Минимум функции</a:t>
            </a:r>
          </a:p>
        </p:txBody>
      </p:sp>
      <p:sp>
        <p:nvSpPr>
          <p:cNvPr id="11" name="">
            <a:extLst xmlns:a="http://schemas.openxmlformats.org/drawingml/2006/main">
              <a:ext uri="{FF2B5EF4-FFF2-40B4-BE49-F238E27FC236}">
                <a16:creationId xmlns:a16="http://schemas.microsoft.com/office/drawing/2014/main" id="{B4311FDA-7475-4DF7-A211-B599F5F72256}"/>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95620A97-4611-4485-8E18-5FA172D02DF0}"/>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E0B2101C-C5CC-450F-97D1-4514D7D5BE44}"/>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5FC3224E-632C-4251-8081-BEAF7A0D20E0}"/>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16FD42BB-5178-4807-9B01-F520918F304B}"/>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2E0F2B4B-3CE8-4CFF-A563-02A823B105CC}"/>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A0DD53DF-B08E-4979-85DE-49502C051E5D}"/>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0298A214-0A9A-4789-A055-A8AF074944D4}"/>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2536F521-FBA1-40A8-B8F6-CED5C0648CD5}"/>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7020AEDA-E4E0-4580-8C78-6B9B5ABDCA70}"/>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0C0ACB86-590A-41E4-B1CF-33DAC5DE1C2E}"/>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57018A20-F9AA-4E67-B1D3-9A6AE279FF41}"/>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097F350D-11A8-42C6-993F-997280E4DE6C}"/>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995D7810-5074-4E57-8879-DCA4D301A257}"/>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20FB5EE4-25B6-4B52-B9C2-1322A1961FB2}"/>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6C5E9149-9153-4E5A-96A6-0B6571E72AF6}"/>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2141D37C-3A85-4C10-BB7C-0F8123F16233}"/>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189217AC-47A1-4D02-9715-3A8B5E76CC79}"/>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CB35FBAB-570F-41A9-B579-634B59B0BFD5}"/>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085EAD7C-4635-4A67-97D3-80B97224DF25}"/>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DC02920B-633A-4096-BE52-AA32FD7F3F23}"/>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0B0DE9B0-4063-4D0D-9E5B-D0760C98A435}"/>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13E74EBE-6DD6-4544-A9EE-76FF20066B3B}"/>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F8A56152-12CB-4CF9-9F5F-CBE5DEF3E5FC}"/>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49756985-897D-488E-B40D-5A13988629F7}"/>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54C1A75D-1291-490A-A360-468D1C75F380}"/>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44F80CB6-E452-45A8-9F5A-91A3E0BCB1C5}"/>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43456795-C3D1-4E09-9503-5734C6289A07}"/>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B2008A92-D992-4DA1-B587-FEF466CE7CD8}"/>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7CFE4803-B0B2-490E-8012-5B97C1C4FCA7}"/>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6FE830E5-4D37-4D46-ADB1-9C33584A8AFD}"/>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4FCE2530-BC1D-4F23-BC17-41ABDEC60248}"/>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F8D8554C-B859-4746-8FD0-9B60F51E3ECE}"/>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A7B0622-F1EC-45F7-8F6C-11B72AA7DCA2}"/>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График модели и график ошибки</a:t>
            </a:r>
          </a:p>
        </p:txBody>
      </p:sp>
      <p:sp>
        <p:nvSpPr>
          <p:cNvPr id="45" name="">
            <a:extLst xmlns:a="http://schemas.openxmlformats.org/drawingml/2006/main">
              <a:ext uri="{FF2B5EF4-FFF2-40B4-BE49-F238E27FC236}">
                <a16:creationId xmlns:a16="http://schemas.microsoft.com/office/drawing/2014/main" id="{2977AEA4-C7BE-4EB3-BFB3-537E6D05B8FD}"/>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E6FF6DC-90D5-43E3-8725-A98DF3AE569A}"/>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C03AF8E-4D5F-4544-ACB0-8FAF5C60C3C2}"/>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7D8EB2D9-0625-4852-9F5B-C8AE46A65D09}"/>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DA6BEFCD-8897-498F-A922-E87ADB3F1F34}"/>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11 / 37</a:t>
            </a:r>
          </a:p>
        </p:txBody>
      </p:sp>
      <p:sp>
        <p:nvSpPr>
          <p:cNvPr id="50" name="">
            <a:extLst xmlns:a="http://schemas.openxmlformats.org/drawingml/2006/main">
              <a:ext uri="{FF2B5EF4-FFF2-40B4-BE49-F238E27FC236}">
                <a16:creationId xmlns:a16="http://schemas.microsoft.com/office/drawing/2014/main" id="{AF49F294-D700-4894-A7A9-825F9069B064}"/>
              </a:ext>
            </a:extLst>
          </p:cNvPr>
          <p:cNvSpPr>
            <a:spLocks xmlns:a="http://schemas.openxmlformats.org/drawingml/2006/main" noGrp="1"/>
          </p:cNvSpPr>
          <p:nvPr/>
        </p:nvSpPr>
        <p:spPr>
          <a:xfrm xmlns:a="http://schemas.openxmlformats.org/drawingml/2006/main">
            <a:off x="609600" y="1743075"/>
            <a:ext cx="53149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График модели</a:t>
            </a:r>
          </a:p>
        </p:txBody>
      </p:sp>
      <p:sp>
        <p:nvSpPr>
          <p:cNvPr id="51" name="">
            <a:extLst xmlns:a="http://schemas.openxmlformats.org/drawingml/2006/main">
              <a:ext uri="{FF2B5EF4-FFF2-40B4-BE49-F238E27FC236}">
                <a16:creationId xmlns:a16="http://schemas.microsoft.com/office/drawing/2014/main" id="{A6B3D995-EF19-41AC-8FEC-588A7BDF9B1A}"/>
              </a:ext>
            </a:extLst>
          </p:cNvPr>
          <p:cNvSpPr>
            <a:spLocks xmlns:a="http://schemas.openxmlformats.org/drawingml/2006/main" noGrp="1"/>
          </p:cNvSpPr>
          <p:nvPr/>
        </p:nvSpPr>
        <p:spPr>
          <a:xfrm xmlns:a="http://schemas.openxmlformats.org/drawingml/2006/main">
            <a:off x="609600" y="2292477"/>
            <a:ext cx="53149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Вход объекта и прогноз при</a:t>
            </a:r>
          </a:p>
          <a:p xmlns:a="http://schemas.openxmlformats.org/drawingml/2006/main">
            <a:pPr algn="l">
              <a:defRPr sz="2250" b="0">
                <a:solidFill>
                  <a:srgbClr val="111111"/>
                </a:solidFill>
              </a:defRPr>
            </a:pPr>
            <a:r>
              <a:rPr sz="2250" b="0">
                <a:solidFill>
                  <a:srgbClr val="111111"/>
                </a:solidFill>
              </a:rPr>
              <a:t>фиксированных параметрах.</a:t>
            </a:r>
          </a:p>
        </p:txBody>
      </p:sp>
      <p:sp>
        <p:nvSpPr>
          <p:cNvPr id="52" name="">
            <a:extLst xmlns:a="http://schemas.openxmlformats.org/drawingml/2006/main">
              <a:ext uri="{FF2B5EF4-FFF2-40B4-BE49-F238E27FC236}">
                <a16:creationId xmlns:a16="http://schemas.microsoft.com/office/drawing/2014/main" id="{54517050-086C-4A91-943A-CAE177BB59EE}"/>
              </a:ext>
            </a:extLst>
          </p:cNvPr>
          <p:cNvSpPr>
            <a:spLocks xmlns:a="http://schemas.openxmlformats.org/drawingml/2006/main" noGrp="1"/>
          </p:cNvSpPr>
          <p:nvPr/>
        </p:nvSpPr>
        <p:spPr>
          <a:xfrm xmlns:a="http://schemas.openxmlformats.org/drawingml/2006/main">
            <a:off x="1162050" y="5329047"/>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8A75C8A6-48B7-4922-9B1D-F8E7BC197EF8}"/>
              </a:ext>
            </a:extLst>
          </p:cNvPr>
          <p:cNvSpPr>
            <a:spLocks xmlns:a="http://schemas.openxmlformats.org/drawingml/2006/main" noGrp="1"/>
          </p:cNvSpPr>
          <p:nvPr/>
        </p:nvSpPr>
        <p:spPr>
          <a:xfrm xmlns:a="http://schemas.openxmlformats.org/drawingml/2006/main">
            <a:off x="609600" y="5214747"/>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0</a:t>
            </a:r>
          </a:p>
        </p:txBody>
      </p:sp>
      <p:sp>
        <p:nvSpPr>
          <p:cNvPr id="54" name="">
            <a:extLst xmlns:a="http://schemas.openxmlformats.org/drawingml/2006/main">
              <a:ext uri="{FF2B5EF4-FFF2-40B4-BE49-F238E27FC236}">
                <a16:creationId xmlns:a16="http://schemas.microsoft.com/office/drawing/2014/main" id="{D39331C3-CAB0-4FCB-B8E9-8EA27D5F3601}"/>
              </a:ext>
            </a:extLst>
          </p:cNvPr>
          <p:cNvSpPr>
            <a:spLocks xmlns:a="http://schemas.openxmlformats.org/drawingml/2006/main" noGrp="1"/>
          </p:cNvSpPr>
          <p:nvPr/>
        </p:nvSpPr>
        <p:spPr>
          <a:xfrm xmlns:a="http://schemas.openxmlformats.org/drawingml/2006/main">
            <a:off x="1162050" y="4961902"/>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1B1005AD-EEC5-4B29-A5E7-AF974B03027C}"/>
              </a:ext>
            </a:extLst>
          </p:cNvPr>
          <p:cNvSpPr>
            <a:spLocks xmlns:a="http://schemas.openxmlformats.org/drawingml/2006/main" noGrp="1"/>
          </p:cNvSpPr>
          <p:nvPr/>
        </p:nvSpPr>
        <p:spPr>
          <a:xfrm xmlns:a="http://schemas.openxmlformats.org/drawingml/2006/main">
            <a:off x="609600" y="4847602"/>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2</a:t>
            </a:r>
          </a:p>
        </p:txBody>
      </p:sp>
      <p:sp>
        <p:nvSpPr>
          <p:cNvPr id="56" name="">
            <a:extLst xmlns:a="http://schemas.openxmlformats.org/drawingml/2006/main">
              <a:ext uri="{FF2B5EF4-FFF2-40B4-BE49-F238E27FC236}">
                <a16:creationId xmlns:a16="http://schemas.microsoft.com/office/drawing/2014/main" id="{4A6A1411-B9D7-460E-BE1D-A6C6D2A6845C}"/>
              </a:ext>
            </a:extLst>
          </p:cNvPr>
          <p:cNvSpPr>
            <a:spLocks xmlns:a="http://schemas.openxmlformats.org/drawingml/2006/main" noGrp="1"/>
          </p:cNvSpPr>
          <p:nvPr/>
        </p:nvSpPr>
        <p:spPr>
          <a:xfrm xmlns:a="http://schemas.openxmlformats.org/drawingml/2006/main">
            <a:off x="1162050" y="4594756"/>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04537FA2-A1C5-4EDB-9A4A-1242DD57F6CE}"/>
              </a:ext>
            </a:extLst>
          </p:cNvPr>
          <p:cNvSpPr>
            <a:spLocks xmlns:a="http://schemas.openxmlformats.org/drawingml/2006/main" noGrp="1"/>
          </p:cNvSpPr>
          <p:nvPr/>
        </p:nvSpPr>
        <p:spPr>
          <a:xfrm xmlns:a="http://schemas.openxmlformats.org/drawingml/2006/main">
            <a:off x="609600" y="4480456"/>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4</a:t>
            </a:r>
          </a:p>
        </p:txBody>
      </p:sp>
      <p:sp>
        <p:nvSpPr>
          <p:cNvPr id="58" name="">
            <a:extLst xmlns:a="http://schemas.openxmlformats.org/drawingml/2006/main">
              <a:ext uri="{FF2B5EF4-FFF2-40B4-BE49-F238E27FC236}">
                <a16:creationId xmlns:a16="http://schemas.microsoft.com/office/drawing/2014/main" id="{9F05E023-6681-469C-BEF3-5304E3851C6F}"/>
              </a:ext>
            </a:extLst>
          </p:cNvPr>
          <p:cNvSpPr>
            <a:spLocks xmlns:a="http://schemas.openxmlformats.org/drawingml/2006/main" noGrp="1"/>
          </p:cNvSpPr>
          <p:nvPr/>
        </p:nvSpPr>
        <p:spPr>
          <a:xfrm xmlns:a="http://schemas.openxmlformats.org/drawingml/2006/main">
            <a:off x="1162050" y="4227611"/>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CED30D37-B7B4-430B-8964-429A7B6C11F8}"/>
              </a:ext>
            </a:extLst>
          </p:cNvPr>
          <p:cNvSpPr>
            <a:spLocks xmlns:a="http://schemas.openxmlformats.org/drawingml/2006/main" noGrp="1"/>
          </p:cNvSpPr>
          <p:nvPr/>
        </p:nvSpPr>
        <p:spPr>
          <a:xfrm xmlns:a="http://schemas.openxmlformats.org/drawingml/2006/main">
            <a:off x="609600" y="4113311"/>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6</a:t>
            </a:r>
          </a:p>
        </p:txBody>
      </p:sp>
      <p:sp>
        <p:nvSpPr>
          <p:cNvPr id="60" name="">
            <a:extLst xmlns:a="http://schemas.openxmlformats.org/drawingml/2006/main">
              <a:ext uri="{FF2B5EF4-FFF2-40B4-BE49-F238E27FC236}">
                <a16:creationId xmlns:a16="http://schemas.microsoft.com/office/drawing/2014/main" id="{60B0FE0A-AE00-4629-8418-421800DB0E2D}"/>
              </a:ext>
            </a:extLst>
          </p:cNvPr>
          <p:cNvSpPr>
            <a:spLocks xmlns:a="http://schemas.openxmlformats.org/drawingml/2006/main" noGrp="1"/>
          </p:cNvSpPr>
          <p:nvPr/>
        </p:nvSpPr>
        <p:spPr>
          <a:xfrm xmlns:a="http://schemas.openxmlformats.org/drawingml/2006/main">
            <a:off x="1162050" y="3860465"/>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AE2F692-190D-418C-BC64-475EAC6B3257}"/>
              </a:ext>
            </a:extLst>
          </p:cNvPr>
          <p:cNvSpPr>
            <a:spLocks xmlns:a="http://schemas.openxmlformats.org/drawingml/2006/main" noGrp="1"/>
          </p:cNvSpPr>
          <p:nvPr/>
        </p:nvSpPr>
        <p:spPr>
          <a:xfrm xmlns:a="http://schemas.openxmlformats.org/drawingml/2006/main">
            <a:off x="609600" y="374616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8</a:t>
            </a:r>
          </a:p>
        </p:txBody>
      </p:sp>
      <p:sp>
        <p:nvSpPr>
          <p:cNvPr id="62" name="">
            <a:extLst xmlns:a="http://schemas.openxmlformats.org/drawingml/2006/main">
              <a:ext uri="{FF2B5EF4-FFF2-40B4-BE49-F238E27FC236}">
                <a16:creationId xmlns:a16="http://schemas.microsoft.com/office/drawing/2014/main" id="{7A4785A6-0A3C-40E2-BEA4-43010BA5BB3A}"/>
              </a:ext>
            </a:extLst>
          </p:cNvPr>
          <p:cNvSpPr>
            <a:spLocks xmlns:a="http://schemas.openxmlformats.org/drawingml/2006/main" noGrp="1"/>
          </p:cNvSpPr>
          <p:nvPr/>
        </p:nvSpPr>
        <p:spPr>
          <a:xfrm xmlns:a="http://schemas.openxmlformats.org/drawingml/2006/main">
            <a:off x="1162050" y="3493320"/>
            <a:ext cx="4533900" cy="9525"/>
          </a:xfrm>
          <a:prstGeom xmlns:a="http://schemas.openxmlformats.org/drawingml/2006/main" prst="rect">
            <a:avLst/>
          </a:prstGeom>
          <a:solidFill xmlns:a="http://schemas.openxmlformats.org/drawingml/2006/main">
            <a:srgbClr val="E0E0E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5E0663BE-C5AF-4647-B530-84D26BB2C144}"/>
              </a:ext>
            </a:extLst>
          </p:cNvPr>
          <p:cNvSpPr>
            <a:spLocks xmlns:a="http://schemas.openxmlformats.org/drawingml/2006/main" noGrp="1"/>
          </p:cNvSpPr>
          <p:nvPr/>
        </p:nvSpPr>
        <p:spPr>
          <a:xfrm xmlns:a="http://schemas.openxmlformats.org/drawingml/2006/main">
            <a:off x="609600" y="337902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500" b="0">
                <a:solidFill>
                  <a:srgbClr val="111111"/>
                </a:solidFill>
              </a:defRPr>
            </a:defPPr>
            <a:lvl1pPr algn="r">
              <a:defRPr sz="1500" b="0">
                <a:solidFill>
                  <a:srgbClr val="111111"/>
                </a:solidFill>
              </a:defRPr>
            </a:lvl1pPr>
            <a:lvl2pPr algn="r">
              <a:defRPr sz="1500" b="0">
                <a:solidFill>
                  <a:srgbClr val="111111"/>
                </a:solidFill>
              </a:defRPr>
            </a:lvl2pPr>
            <a:lvl3pPr algn="r">
              <a:defRPr sz="1500" b="0">
                <a:solidFill>
                  <a:srgbClr val="111111"/>
                </a:solidFill>
              </a:defRPr>
            </a:lvl3pPr>
            <a:lvl4pPr algn="r">
              <a:defRPr sz="1500" b="0">
                <a:solidFill>
                  <a:srgbClr val="111111"/>
                </a:solidFill>
              </a:defRPr>
            </a:lvl4pPr>
            <a:lvl5pPr algn="r">
              <a:defRPr sz="1500" b="0">
                <a:solidFill>
                  <a:srgbClr val="111111"/>
                </a:solidFill>
              </a:defRPr>
            </a:lvl5pPr>
            <a:lvl6pPr algn="r">
              <a:defRPr sz="1500" b="0">
                <a:solidFill>
                  <a:srgbClr val="111111"/>
                </a:solidFill>
              </a:defRPr>
            </a:lvl6pPr>
            <a:lvl7pPr algn="r">
              <a:defRPr sz="1500" b="0">
                <a:solidFill>
                  <a:srgbClr val="111111"/>
                </a:solidFill>
              </a:defRPr>
            </a:lvl7pPr>
            <a:lvl8pPr algn="r">
              <a:defRPr sz="1500" b="0">
                <a:solidFill>
                  <a:srgbClr val="111111"/>
                </a:solidFill>
              </a:defRPr>
            </a:lvl8pPr>
            <a:lvl9pPr algn="r">
              <a:defRPr sz="1500" b="0">
                <a:solidFill>
                  <a:srgbClr val="111111"/>
                </a:solidFill>
              </a:defRPr>
            </a:lvl9pPr>
          </a:lstStyle>
          <a:p xmlns:a="http://schemas.openxmlformats.org/drawingml/2006/main">
            <a:pPr algn="r">
              <a:defRPr sz="1500" b="0">
                <a:solidFill>
                  <a:srgbClr val="111111"/>
                </a:solidFill>
              </a:defRPr>
            </a:pPr>
            <a:r>
              <a:rPr sz="1500" b="0">
                <a:solidFill>
                  <a:srgbClr val="111111"/>
                </a:solidFill>
              </a:rPr>
              <a:t>10</a:t>
            </a:r>
          </a:p>
        </p:txBody>
      </p:sp>
      <p:sp>
        <p:nvSpPr>
          <p:cNvPr id="64" name="">
            <a:extLst xmlns:a="http://schemas.openxmlformats.org/drawingml/2006/main">
              <a:ext uri="{FF2B5EF4-FFF2-40B4-BE49-F238E27FC236}">
                <a16:creationId xmlns:a16="http://schemas.microsoft.com/office/drawing/2014/main" id="{099E09EA-AE9F-4DE7-92B4-77057F5A3004}"/>
              </a:ext>
            </a:extLst>
          </p:cNvPr>
          <p:cNvSpPr>
            <a:spLocks xmlns:a="http://schemas.openxmlformats.org/drawingml/2006/main" noGrp="1"/>
          </p:cNvSpPr>
          <p:nvPr/>
        </p:nvSpPr>
        <p:spPr>
          <a:xfrm xmlns:a="http://schemas.openxmlformats.org/drawingml/2006/main">
            <a:off x="990600" y="5424297"/>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111111"/>
                </a:solidFill>
              </a:defRPr>
            </a:defPPr>
            <a:lvl1pPr algn="ctr">
              <a:defRPr sz="1500" b="0">
                <a:solidFill>
                  <a:srgbClr val="111111"/>
                </a:solidFill>
              </a:defRPr>
            </a:lvl1pPr>
            <a:lvl2pPr algn="ctr">
              <a:defRPr sz="1500" b="0">
                <a:solidFill>
                  <a:srgbClr val="111111"/>
                </a:solidFill>
              </a:defRPr>
            </a:lvl2pPr>
            <a:lvl3pPr algn="ctr">
              <a:defRPr sz="1500" b="0">
                <a:solidFill>
                  <a:srgbClr val="111111"/>
                </a:solidFill>
              </a:defRPr>
            </a:lvl3pPr>
            <a:lvl4pPr algn="ctr">
              <a:defRPr sz="1500" b="0">
                <a:solidFill>
                  <a:srgbClr val="111111"/>
                </a:solidFill>
              </a:defRPr>
            </a:lvl4pPr>
            <a:lvl5pPr algn="ctr">
              <a:defRPr sz="1500" b="0">
                <a:solidFill>
                  <a:srgbClr val="111111"/>
                </a:solidFill>
              </a:defRPr>
            </a:lvl5pPr>
            <a:lvl6pPr algn="ctr">
              <a:defRPr sz="1500" b="0">
                <a:solidFill>
                  <a:srgbClr val="111111"/>
                </a:solidFill>
              </a:defRPr>
            </a:lvl6pPr>
            <a:lvl7pPr algn="ctr">
              <a:defRPr sz="1500" b="0">
                <a:solidFill>
                  <a:srgbClr val="111111"/>
                </a:solidFill>
              </a:defRPr>
            </a:lvl7pPr>
            <a:lvl8pPr algn="ctr">
              <a:defRPr sz="1500" b="0">
                <a:solidFill>
                  <a:srgbClr val="111111"/>
                </a:solidFill>
              </a:defRPr>
            </a:lvl8pPr>
            <a:lvl9pPr algn="ctr">
              <a:defRPr sz="1500" b="0">
                <a:solidFill>
                  <a:srgbClr val="111111"/>
                </a:solidFill>
              </a:defRPr>
            </a:lvl9pPr>
          </a:lstStyle>
          <a:p xmlns:a="http://schemas.openxmlformats.org/drawingml/2006/main">
            <a:pPr algn="ctr">
              <a:defRPr sz="1500" b="0">
                <a:solidFill>
                  <a:srgbClr val="111111"/>
                </a:solidFill>
              </a:defRPr>
            </a:pPr>
            <a:r>
              <a:rPr sz="1500" b="0">
                <a:solidFill>
                  <a:srgbClr val="111111"/>
                </a:solidFill>
              </a:rPr>
              <a:t>0</a:t>
            </a:r>
          </a:p>
        </p:txBody>
      </p:sp>
      <p:sp>
        <p:nvSpPr>
          <p:cNvPr id="65" name="">
            <a:extLst xmlns:a="http://schemas.openxmlformats.org/drawingml/2006/main">
              <a:ext uri="{FF2B5EF4-FFF2-40B4-BE49-F238E27FC236}">
                <a16:creationId xmlns:a16="http://schemas.microsoft.com/office/drawing/2014/main" id="{7528ADEA-C499-41F8-9679-D0F06AFFC0D0}"/>
              </a:ext>
            </a:extLst>
          </p:cNvPr>
          <p:cNvSpPr>
            <a:spLocks xmlns:a="http://schemas.openxmlformats.org/drawingml/2006/main" noGrp="1"/>
          </p:cNvSpPr>
          <p:nvPr/>
        </p:nvSpPr>
        <p:spPr>
          <a:xfrm xmlns:a="http://schemas.openxmlformats.org/drawingml/2006/main">
            <a:off x="2124075" y="5424297"/>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111111"/>
                </a:solidFill>
              </a:defRPr>
            </a:defPPr>
            <a:lvl1pPr algn="ctr">
              <a:defRPr sz="1500" b="0">
                <a:solidFill>
                  <a:srgbClr val="111111"/>
                </a:solidFill>
              </a:defRPr>
            </a:lvl1pPr>
            <a:lvl2pPr algn="ctr">
              <a:defRPr sz="1500" b="0">
                <a:solidFill>
                  <a:srgbClr val="111111"/>
                </a:solidFill>
              </a:defRPr>
            </a:lvl2pPr>
            <a:lvl3pPr algn="ctr">
              <a:defRPr sz="1500" b="0">
                <a:solidFill>
                  <a:srgbClr val="111111"/>
                </a:solidFill>
              </a:defRPr>
            </a:lvl3pPr>
            <a:lvl4pPr algn="ctr">
              <a:defRPr sz="1500" b="0">
                <a:solidFill>
                  <a:srgbClr val="111111"/>
                </a:solidFill>
              </a:defRPr>
            </a:lvl4pPr>
            <a:lvl5pPr algn="ctr">
              <a:defRPr sz="1500" b="0">
                <a:solidFill>
                  <a:srgbClr val="111111"/>
                </a:solidFill>
              </a:defRPr>
            </a:lvl5pPr>
            <a:lvl6pPr algn="ctr">
              <a:defRPr sz="1500" b="0">
                <a:solidFill>
                  <a:srgbClr val="111111"/>
                </a:solidFill>
              </a:defRPr>
            </a:lvl6pPr>
            <a:lvl7pPr algn="ctr">
              <a:defRPr sz="1500" b="0">
                <a:solidFill>
                  <a:srgbClr val="111111"/>
                </a:solidFill>
              </a:defRPr>
            </a:lvl7pPr>
            <a:lvl8pPr algn="ctr">
              <a:defRPr sz="1500" b="0">
                <a:solidFill>
                  <a:srgbClr val="111111"/>
                </a:solidFill>
              </a:defRPr>
            </a:lvl8pPr>
            <a:lvl9pPr algn="ctr">
              <a:defRPr sz="1500" b="0">
                <a:solidFill>
                  <a:srgbClr val="111111"/>
                </a:solidFill>
              </a:defRPr>
            </a:lvl9pPr>
          </a:lstStyle>
          <a:p xmlns:a="http://schemas.openxmlformats.org/drawingml/2006/main">
            <a:pPr algn="ctr">
              <a:defRPr sz="1500" b="0">
                <a:solidFill>
                  <a:srgbClr val="111111"/>
                </a:solidFill>
              </a:defRPr>
            </a:pPr>
            <a:r>
              <a:rPr sz="1500" b="0">
                <a:solidFill>
                  <a:srgbClr val="111111"/>
                </a:solidFill>
              </a:rPr>
              <a:t>1</a:t>
            </a:r>
          </a:p>
        </p:txBody>
      </p:sp>
      <p:sp>
        <p:nvSpPr>
          <p:cNvPr id="66" name="">
            <a:extLst xmlns:a="http://schemas.openxmlformats.org/drawingml/2006/main">
              <a:ext uri="{FF2B5EF4-FFF2-40B4-BE49-F238E27FC236}">
                <a16:creationId xmlns:a16="http://schemas.microsoft.com/office/drawing/2014/main" id="{D59DC218-0348-4E97-8429-94F8D5DC13A5}"/>
              </a:ext>
            </a:extLst>
          </p:cNvPr>
          <p:cNvSpPr>
            <a:spLocks xmlns:a="http://schemas.openxmlformats.org/drawingml/2006/main" noGrp="1"/>
          </p:cNvSpPr>
          <p:nvPr/>
        </p:nvSpPr>
        <p:spPr>
          <a:xfrm xmlns:a="http://schemas.openxmlformats.org/drawingml/2006/main">
            <a:off x="3257550" y="5424297"/>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111111"/>
                </a:solidFill>
              </a:defRPr>
            </a:defPPr>
            <a:lvl1pPr algn="ctr">
              <a:defRPr sz="1500" b="0">
                <a:solidFill>
                  <a:srgbClr val="111111"/>
                </a:solidFill>
              </a:defRPr>
            </a:lvl1pPr>
            <a:lvl2pPr algn="ctr">
              <a:defRPr sz="1500" b="0">
                <a:solidFill>
                  <a:srgbClr val="111111"/>
                </a:solidFill>
              </a:defRPr>
            </a:lvl2pPr>
            <a:lvl3pPr algn="ctr">
              <a:defRPr sz="1500" b="0">
                <a:solidFill>
                  <a:srgbClr val="111111"/>
                </a:solidFill>
              </a:defRPr>
            </a:lvl3pPr>
            <a:lvl4pPr algn="ctr">
              <a:defRPr sz="1500" b="0">
                <a:solidFill>
                  <a:srgbClr val="111111"/>
                </a:solidFill>
              </a:defRPr>
            </a:lvl4pPr>
            <a:lvl5pPr algn="ctr">
              <a:defRPr sz="1500" b="0">
                <a:solidFill>
                  <a:srgbClr val="111111"/>
                </a:solidFill>
              </a:defRPr>
            </a:lvl5pPr>
            <a:lvl6pPr algn="ctr">
              <a:defRPr sz="1500" b="0">
                <a:solidFill>
                  <a:srgbClr val="111111"/>
                </a:solidFill>
              </a:defRPr>
            </a:lvl6pPr>
            <a:lvl7pPr algn="ctr">
              <a:defRPr sz="1500" b="0">
                <a:solidFill>
                  <a:srgbClr val="111111"/>
                </a:solidFill>
              </a:defRPr>
            </a:lvl7pPr>
            <a:lvl8pPr algn="ctr">
              <a:defRPr sz="1500" b="0">
                <a:solidFill>
                  <a:srgbClr val="111111"/>
                </a:solidFill>
              </a:defRPr>
            </a:lvl8pPr>
            <a:lvl9pPr algn="ctr">
              <a:defRPr sz="1500" b="0">
                <a:solidFill>
                  <a:srgbClr val="111111"/>
                </a:solidFill>
              </a:defRPr>
            </a:lvl9pPr>
          </a:lstStyle>
          <a:p xmlns:a="http://schemas.openxmlformats.org/drawingml/2006/main">
            <a:pPr algn="ctr">
              <a:defRPr sz="1500" b="0">
                <a:solidFill>
                  <a:srgbClr val="111111"/>
                </a:solidFill>
              </a:defRPr>
            </a:pPr>
            <a:r>
              <a:rPr sz="1500" b="0">
                <a:solidFill>
                  <a:srgbClr val="111111"/>
                </a:solidFill>
              </a:rPr>
              <a:t>2</a:t>
            </a:r>
          </a:p>
        </p:txBody>
      </p:sp>
      <p:sp>
        <p:nvSpPr>
          <p:cNvPr id="67" name="">
            <a:extLst xmlns:a="http://schemas.openxmlformats.org/drawingml/2006/main">
              <a:ext uri="{FF2B5EF4-FFF2-40B4-BE49-F238E27FC236}">
                <a16:creationId xmlns:a16="http://schemas.microsoft.com/office/drawing/2014/main" id="{9637DC03-6832-4E6D-A6A9-849A33008585}"/>
              </a:ext>
            </a:extLst>
          </p:cNvPr>
          <p:cNvSpPr>
            <a:spLocks xmlns:a="http://schemas.openxmlformats.org/drawingml/2006/main" noGrp="1"/>
          </p:cNvSpPr>
          <p:nvPr/>
        </p:nvSpPr>
        <p:spPr>
          <a:xfrm xmlns:a="http://schemas.openxmlformats.org/drawingml/2006/main">
            <a:off x="4391025" y="5424297"/>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111111"/>
                </a:solidFill>
              </a:defRPr>
            </a:defPPr>
            <a:lvl1pPr algn="ctr">
              <a:defRPr sz="1500" b="0">
                <a:solidFill>
                  <a:srgbClr val="111111"/>
                </a:solidFill>
              </a:defRPr>
            </a:lvl1pPr>
            <a:lvl2pPr algn="ctr">
              <a:defRPr sz="1500" b="0">
                <a:solidFill>
                  <a:srgbClr val="111111"/>
                </a:solidFill>
              </a:defRPr>
            </a:lvl2pPr>
            <a:lvl3pPr algn="ctr">
              <a:defRPr sz="1500" b="0">
                <a:solidFill>
                  <a:srgbClr val="111111"/>
                </a:solidFill>
              </a:defRPr>
            </a:lvl3pPr>
            <a:lvl4pPr algn="ctr">
              <a:defRPr sz="1500" b="0">
                <a:solidFill>
                  <a:srgbClr val="111111"/>
                </a:solidFill>
              </a:defRPr>
            </a:lvl4pPr>
            <a:lvl5pPr algn="ctr">
              <a:defRPr sz="1500" b="0">
                <a:solidFill>
                  <a:srgbClr val="111111"/>
                </a:solidFill>
              </a:defRPr>
            </a:lvl5pPr>
            <a:lvl6pPr algn="ctr">
              <a:defRPr sz="1500" b="0">
                <a:solidFill>
                  <a:srgbClr val="111111"/>
                </a:solidFill>
              </a:defRPr>
            </a:lvl6pPr>
            <a:lvl7pPr algn="ctr">
              <a:defRPr sz="1500" b="0">
                <a:solidFill>
                  <a:srgbClr val="111111"/>
                </a:solidFill>
              </a:defRPr>
            </a:lvl7pPr>
            <a:lvl8pPr algn="ctr">
              <a:defRPr sz="1500" b="0">
                <a:solidFill>
                  <a:srgbClr val="111111"/>
                </a:solidFill>
              </a:defRPr>
            </a:lvl8pPr>
            <a:lvl9pPr algn="ctr">
              <a:defRPr sz="1500" b="0">
                <a:solidFill>
                  <a:srgbClr val="111111"/>
                </a:solidFill>
              </a:defRPr>
            </a:lvl9pPr>
          </a:lstStyle>
          <a:p xmlns:a="http://schemas.openxmlformats.org/drawingml/2006/main">
            <a:pPr algn="ctr">
              <a:defRPr sz="1500" b="0">
                <a:solidFill>
                  <a:srgbClr val="111111"/>
                </a:solidFill>
              </a:defRPr>
            </a:pPr>
            <a:r>
              <a:rPr sz="1500" b="0">
                <a:solidFill>
                  <a:srgbClr val="111111"/>
                </a:solidFill>
              </a:rPr>
              <a:t>3</a:t>
            </a:r>
          </a:p>
        </p:txBody>
      </p:sp>
      <p:sp>
        <p:nvSpPr>
          <p:cNvPr id="68" name="">
            <a:extLst xmlns:a="http://schemas.openxmlformats.org/drawingml/2006/main">
              <a:ext uri="{FF2B5EF4-FFF2-40B4-BE49-F238E27FC236}">
                <a16:creationId xmlns:a16="http://schemas.microsoft.com/office/drawing/2014/main" id="{3DF6AFE0-0E71-4558-9154-CE38681F394A}"/>
              </a:ext>
            </a:extLst>
          </p:cNvPr>
          <p:cNvSpPr>
            <a:spLocks xmlns:a="http://schemas.openxmlformats.org/drawingml/2006/main" noGrp="1"/>
          </p:cNvSpPr>
          <p:nvPr/>
        </p:nvSpPr>
        <p:spPr>
          <a:xfrm xmlns:a="http://schemas.openxmlformats.org/drawingml/2006/main">
            <a:off x="5524500" y="5424297"/>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500" b="0">
                <a:solidFill>
                  <a:srgbClr val="111111"/>
                </a:solidFill>
              </a:defRPr>
            </a:defPPr>
            <a:lvl1pPr algn="ctr">
              <a:defRPr sz="1500" b="0">
                <a:solidFill>
                  <a:srgbClr val="111111"/>
                </a:solidFill>
              </a:defRPr>
            </a:lvl1pPr>
            <a:lvl2pPr algn="ctr">
              <a:defRPr sz="1500" b="0">
                <a:solidFill>
                  <a:srgbClr val="111111"/>
                </a:solidFill>
              </a:defRPr>
            </a:lvl2pPr>
            <a:lvl3pPr algn="ctr">
              <a:defRPr sz="1500" b="0">
                <a:solidFill>
                  <a:srgbClr val="111111"/>
                </a:solidFill>
              </a:defRPr>
            </a:lvl3pPr>
            <a:lvl4pPr algn="ctr">
              <a:defRPr sz="1500" b="0">
                <a:solidFill>
                  <a:srgbClr val="111111"/>
                </a:solidFill>
              </a:defRPr>
            </a:lvl4pPr>
            <a:lvl5pPr algn="ctr">
              <a:defRPr sz="1500" b="0">
                <a:solidFill>
                  <a:srgbClr val="111111"/>
                </a:solidFill>
              </a:defRPr>
            </a:lvl5pPr>
            <a:lvl6pPr algn="ctr">
              <a:defRPr sz="1500" b="0">
                <a:solidFill>
                  <a:srgbClr val="111111"/>
                </a:solidFill>
              </a:defRPr>
            </a:lvl6pPr>
            <a:lvl7pPr algn="ctr">
              <a:defRPr sz="1500" b="0">
                <a:solidFill>
                  <a:srgbClr val="111111"/>
                </a:solidFill>
              </a:defRPr>
            </a:lvl7pPr>
            <a:lvl8pPr algn="ctr">
              <a:defRPr sz="1500" b="0">
                <a:solidFill>
                  <a:srgbClr val="111111"/>
                </a:solidFill>
              </a:defRPr>
            </a:lvl8pPr>
            <a:lvl9pPr algn="ctr">
              <a:defRPr sz="1500" b="0">
                <a:solidFill>
                  <a:srgbClr val="111111"/>
                </a:solidFill>
              </a:defRPr>
            </a:lvl9pPr>
          </a:lstStyle>
          <a:p xmlns:a="http://schemas.openxmlformats.org/drawingml/2006/main">
            <a:pPr algn="ctr">
              <a:defRPr sz="1500" b="0">
                <a:solidFill>
                  <a:srgbClr val="111111"/>
                </a:solidFill>
              </a:defRPr>
            </a:pPr>
            <a:r>
              <a:rPr sz="1500" b="0">
                <a:solidFill>
                  <a:srgbClr val="111111"/>
                </a:solidFill>
              </a:rPr>
              <a:t>4</a:t>
            </a:r>
          </a:p>
        </p:txBody>
      </p:sp>
      <p:sp>
        <p:nvSpPr>
          <p:cNvPr id="69" name="">
            <a:extLst xmlns:a="http://schemas.openxmlformats.org/drawingml/2006/main">
              <a:ext uri="{FF2B5EF4-FFF2-40B4-BE49-F238E27FC236}">
                <a16:creationId xmlns:a16="http://schemas.microsoft.com/office/drawing/2014/main" id="{55AC9817-2591-47AB-BFBA-BDAFEB95C375}"/>
              </a:ext>
            </a:extLst>
          </p:cNvPr>
          <p:cNvSpPr>
            <a:spLocks xmlns:a="http://schemas.openxmlformats.org/drawingml/2006/main" noGrp="1"/>
          </p:cNvSpPr>
          <p:nvPr/>
        </p:nvSpPr>
        <p:spPr>
          <a:xfrm xmlns:a="http://schemas.openxmlformats.org/drawingml/2006/main">
            <a:off x="1162050" y="3309747"/>
            <a:ext cx="9525" cy="20193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BC0A23A5-EB0A-41CD-BE1E-E1C91800866B}"/>
              </a:ext>
            </a:extLst>
          </p:cNvPr>
          <p:cNvSpPr>
            <a:spLocks xmlns:a="http://schemas.openxmlformats.org/drawingml/2006/main" noGrp="1"/>
          </p:cNvSpPr>
          <p:nvPr/>
        </p:nvSpPr>
        <p:spPr>
          <a:xfrm xmlns:a="http://schemas.openxmlformats.org/drawingml/2006/main">
            <a:off x="1162050" y="5329047"/>
            <a:ext cx="4533900"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791BB576-7C6E-40D6-ACA5-8D87F6240EC3}"/>
              </a:ext>
            </a:extLst>
          </p:cNvPr>
          <p:cNvSpPr>
            <a:spLocks xmlns:a="http://schemas.openxmlformats.org/drawingml/2006/main" noGrp="1"/>
          </p:cNvSpPr>
          <p:nvPr/>
        </p:nvSpPr>
        <p:spPr>
          <a:xfrm xmlns:a="http://schemas.openxmlformats.org/drawingml/2006/main">
            <a:off x="752475" y="4176522"/>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111111"/>
                </a:solidFill>
              </a:defRPr>
            </a:defPPr>
            <a:lvl1pPr algn="l">
              <a:defRPr sz="1650" b="0">
                <a:solidFill>
                  <a:srgbClr val="111111"/>
                </a:solidFill>
              </a:defRPr>
            </a:lvl1pPr>
            <a:lvl2pPr algn="l">
              <a:defRPr sz="1650" b="0">
                <a:solidFill>
                  <a:srgbClr val="111111"/>
                </a:solidFill>
              </a:defRPr>
            </a:lvl2pPr>
            <a:lvl3pPr algn="l">
              <a:defRPr sz="1650" b="0">
                <a:solidFill>
                  <a:srgbClr val="111111"/>
                </a:solidFill>
              </a:defRPr>
            </a:lvl3pPr>
            <a:lvl4pPr algn="l">
              <a:defRPr sz="1650" b="0">
                <a:solidFill>
                  <a:srgbClr val="111111"/>
                </a:solidFill>
              </a:defRPr>
            </a:lvl4pPr>
            <a:lvl5pPr algn="l">
              <a:defRPr sz="1650" b="0">
                <a:solidFill>
                  <a:srgbClr val="111111"/>
                </a:solidFill>
              </a:defRPr>
            </a:lvl5pPr>
            <a:lvl6pPr algn="l">
              <a:defRPr sz="1650" b="0">
                <a:solidFill>
                  <a:srgbClr val="111111"/>
                </a:solidFill>
              </a:defRPr>
            </a:lvl6pPr>
            <a:lvl7pPr algn="l">
              <a:defRPr sz="1650" b="0">
                <a:solidFill>
                  <a:srgbClr val="111111"/>
                </a:solidFill>
              </a:defRPr>
            </a:lvl7pPr>
            <a:lvl8pPr algn="l">
              <a:defRPr sz="1650" b="0">
                <a:solidFill>
                  <a:srgbClr val="111111"/>
                </a:solidFill>
              </a:defRPr>
            </a:lvl8pPr>
            <a:lvl9pPr algn="l">
              <a:defRPr sz="1650" b="0">
                <a:solidFill>
                  <a:srgbClr val="111111"/>
                </a:solidFill>
              </a:defRPr>
            </a:lvl9pPr>
          </a:lstStyle>
          <a:p xmlns:a="http://schemas.openxmlformats.org/drawingml/2006/main">
            <a:pPr algn="l">
              <a:defRPr sz="1650" b="0">
                <a:solidFill>
                  <a:srgbClr val="111111"/>
                </a:solidFill>
              </a:defRPr>
            </a:pPr>
            <a:r>
              <a:rPr sz="1650" b="0">
                <a:solidFill>
                  <a:srgbClr val="111111"/>
                </a:solidFill>
              </a:rPr>
              <a:t>y</a:t>
            </a:r>
          </a:p>
        </p:txBody>
      </p:sp>
      <p:sp>
        <p:nvSpPr>
          <p:cNvPr id="72" name="">
            <a:extLst xmlns:a="http://schemas.openxmlformats.org/drawingml/2006/main">
              <a:ext uri="{FF2B5EF4-FFF2-40B4-BE49-F238E27FC236}">
                <a16:creationId xmlns:a16="http://schemas.microsoft.com/office/drawing/2014/main" id="{C9C68E4B-D1A4-4B96-9508-023A6F432548}"/>
              </a:ext>
            </a:extLst>
          </p:cNvPr>
          <p:cNvSpPr>
            <a:spLocks xmlns:a="http://schemas.openxmlformats.org/drawingml/2006/main" noGrp="1"/>
          </p:cNvSpPr>
          <p:nvPr/>
        </p:nvSpPr>
        <p:spPr>
          <a:xfrm xmlns:a="http://schemas.openxmlformats.org/drawingml/2006/main">
            <a:off x="3286125" y="5700522"/>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111111"/>
                </a:solidFill>
              </a:defRPr>
            </a:defPPr>
            <a:lvl1pPr algn="l">
              <a:defRPr sz="1650" b="0">
                <a:solidFill>
                  <a:srgbClr val="111111"/>
                </a:solidFill>
              </a:defRPr>
            </a:lvl1pPr>
            <a:lvl2pPr algn="l">
              <a:defRPr sz="1650" b="0">
                <a:solidFill>
                  <a:srgbClr val="111111"/>
                </a:solidFill>
              </a:defRPr>
            </a:lvl2pPr>
            <a:lvl3pPr algn="l">
              <a:defRPr sz="1650" b="0">
                <a:solidFill>
                  <a:srgbClr val="111111"/>
                </a:solidFill>
              </a:defRPr>
            </a:lvl3pPr>
            <a:lvl4pPr algn="l">
              <a:defRPr sz="1650" b="0">
                <a:solidFill>
                  <a:srgbClr val="111111"/>
                </a:solidFill>
              </a:defRPr>
            </a:lvl4pPr>
            <a:lvl5pPr algn="l">
              <a:defRPr sz="1650" b="0">
                <a:solidFill>
                  <a:srgbClr val="111111"/>
                </a:solidFill>
              </a:defRPr>
            </a:lvl5pPr>
            <a:lvl6pPr algn="l">
              <a:defRPr sz="1650" b="0">
                <a:solidFill>
                  <a:srgbClr val="111111"/>
                </a:solidFill>
              </a:defRPr>
            </a:lvl6pPr>
            <a:lvl7pPr algn="l">
              <a:defRPr sz="1650" b="0">
                <a:solidFill>
                  <a:srgbClr val="111111"/>
                </a:solidFill>
              </a:defRPr>
            </a:lvl7pPr>
            <a:lvl8pPr algn="l">
              <a:defRPr sz="1650" b="0">
                <a:solidFill>
                  <a:srgbClr val="111111"/>
                </a:solidFill>
              </a:defRPr>
            </a:lvl8pPr>
            <a:lvl9pPr algn="l">
              <a:defRPr sz="1650" b="0">
                <a:solidFill>
                  <a:srgbClr val="111111"/>
                </a:solidFill>
              </a:defRPr>
            </a:lvl9pPr>
          </a:lstStyle>
          <a:p xmlns:a="http://schemas.openxmlformats.org/drawingml/2006/main">
            <a:pPr algn="l">
              <a:defRPr sz="1650" b="0">
                <a:solidFill>
                  <a:srgbClr val="111111"/>
                </a:solidFill>
              </a:defRPr>
            </a:pPr>
            <a:r>
              <a:rPr sz="1650" b="0">
                <a:solidFill>
                  <a:srgbClr val="111111"/>
                </a:solidFill>
              </a:rPr>
              <a:t>x</a:t>
            </a:r>
          </a:p>
        </p:txBody>
      </p:sp>
      <p:sp>
        <p:nvSpPr>
          <p:cNvPr id="73" name="Прямая A без сглаживания">
            <a:extLst xmlns:a="http://schemas.openxmlformats.org/drawingml/2006/main">
              <a:ext uri="{FF2B5EF4-FFF2-40B4-BE49-F238E27FC236}">
                <a16:creationId xmlns:a16="http://schemas.microsoft.com/office/drawing/2014/main" id="{068D8F53-1534-42DD-BAE7-C594D5FCF308}"/>
              </a:ext>
            </a:extLst>
          </p:cNvPr>
          <p:cNvSpPr>
            <a:spLocks xmlns:a="http://schemas.openxmlformats.org/drawingml/2006/main" noGrp="1"/>
          </p:cNvSpPr>
          <p:nvPr/>
        </p:nvSpPr>
        <p:spPr>
          <a:xfrm xmlns:a="http://schemas.openxmlformats.org/drawingml/2006/main">
            <a:off x="1162050" y="3309747"/>
            <a:ext cx="4533900" cy="2019300"/>
          </a:xfrm>
          <a:custGeom xmlns:a="http://schemas.openxmlformats.org/drawingml/2006/main">
            <a:pathLst>
              <a:path w="4533900" h="2019300">
                <a:moveTo>
                  <a:pt x="0" y="1835727"/>
                </a:moveTo>
                <a:lnTo>
                  <a:pt x="4533900" y="367145"/>
                </a:lnTo>
              </a:path>
            </a:pathLst>
          </a:custGeom>
          <a:noFill xmlns:a="http://schemas.openxmlformats.org/drawingml/2006/main"/>
          <a:ln xmlns:a="http://schemas.openxmlformats.org/drawingml/2006/main" w="28575">
            <a:solidFill>
              <a:srgbClr val="3532B5"/>
            </a:solidFill>
          </a:ln>
        </p:spPr>
      </p:sp>
      <p:sp>
        <p:nvSpPr>
          <p:cNvPr id="74" name="Точка (0, 1)">
            <a:extLst xmlns:a="http://schemas.openxmlformats.org/drawingml/2006/main">
              <a:ext uri="{FF2B5EF4-FFF2-40B4-BE49-F238E27FC236}">
                <a16:creationId xmlns:a16="http://schemas.microsoft.com/office/drawing/2014/main" id="{CB933BC0-F9CD-4A62-B653-B6B21C11F384}"/>
              </a:ext>
            </a:extLst>
          </p:cNvPr>
          <p:cNvSpPr>
            <a:spLocks xmlns:a="http://schemas.openxmlformats.org/drawingml/2006/main" noGrp="1"/>
          </p:cNvSpPr>
          <p:nvPr/>
        </p:nvSpPr>
        <p:spPr>
          <a:xfrm xmlns:a="http://schemas.openxmlformats.org/drawingml/2006/main">
            <a:off x="1114425" y="5097849"/>
            <a:ext cx="95250" cy="95250"/>
          </a:xfrm>
          <a:prstGeom xmlns:a="http://schemas.openxmlformats.org/drawingml/2006/main" prst="ellipse">
            <a:avLst/>
          </a:prstGeom>
          <a:solidFill xmlns:a="http://schemas.openxmlformats.org/drawingml/2006/main">
            <a:srgbClr val="111111"/>
          </a:solidFill>
          <a:ln xmlns:a="http://schemas.openxmlformats.org/drawingml/2006/main" w="4763">
            <a:solidFill>
              <a:srgbClr val="FFFFFF"/>
            </a:solidFill>
          </a:ln>
        </p:spPr>
      </p:sp>
      <p:sp>
        <p:nvSpPr>
          <p:cNvPr id="75" name="Точка (1, 3)">
            <a:extLst xmlns:a="http://schemas.openxmlformats.org/drawingml/2006/main">
              <a:ext uri="{FF2B5EF4-FFF2-40B4-BE49-F238E27FC236}">
                <a16:creationId xmlns:a16="http://schemas.microsoft.com/office/drawing/2014/main" id="{CB600ABD-3DAC-4FA7-98C7-8AC0B42923F1}"/>
              </a:ext>
            </a:extLst>
          </p:cNvPr>
          <p:cNvSpPr>
            <a:spLocks xmlns:a="http://schemas.openxmlformats.org/drawingml/2006/main" noGrp="1"/>
          </p:cNvSpPr>
          <p:nvPr/>
        </p:nvSpPr>
        <p:spPr>
          <a:xfrm xmlns:a="http://schemas.openxmlformats.org/drawingml/2006/main">
            <a:off x="2247900" y="4730704"/>
            <a:ext cx="95250" cy="95250"/>
          </a:xfrm>
          <a:prstGeom xmlns:a="http://schemas.openxmlformats.org/drawingml/2006/main" prst="ellipse">
            <a:avLst/>
          </a:prstGeom>
          <a:solidFill xmlns:a="http://schemas.openxmlformats.org/drawingml/2006/main">
            <a:srgbClr val="111111"/>
          </a:solidFill>
          <a:ln xmlns:a="http://schemas.openxmlformats.org/drawingml/2006/main" w="4763">
            <a:solidFill>
              <a:srgbClr val="FFFFFF"/>
            </a:solidFill>
          </a:ln>
        </p:spPr>
      </p:sp>
      <p:sp>
        <p:nvSpPr>
          <p:cNvPr id="76" name="Точка (2, 4)">
            <a:extLst xmlns:a="http://schemas.openxmlformats.org/drawingml/2006/main">
              <a:ext uri="{FF2B5EF4-FFF2-40B4-BE49-F238E27FC236}">
                <a16:creationId xmlns:a16="http://schemas.microsoft.com/office/drawing/2014/main" id="{C17FC935-1E8B-4DAC-9359-CF576E262B05}"/>
              </a:ext>
            </a:extLst>
          </p:cNvPr>
          <p:cNvSpPr>
            <a:spLocks xmlns:a="http://schemas.openxmlformats.org/drawingml/2006/main" noGrp="1"/>
          </p:cNvSpPr>
          <p:nvPr/>
        </p:nvSpPr>
        <p:spPr>
          <a:xfrm xmlns:a="http://schemas.openxmlformats.org/drawingml/2006/main">
            <a:off x="3381375" y="4547131"/>
            <a:ext cx="95250" cy="95250"/>
          </a:xfrm>
          <a:prstGeom xmlns:a="http://schemas.openxmlformats.org/drawingml/2006/main" prst="ellipse">
            <a:avLst/>
          </a:prstGeom>
          <a:solidFill xmlns:a="http://schemas.openxmlformats.org/drawingml/2006/main">
            <a:srgbClr val="111111"/>
          </a:solidFill>
          <a:ln xmlns:a="http://schemas.openxmlformats.org/drawingml/2006/main" w="4763">
            <a:solidFill>
              <a:srgbClr val="FFFFFF"/>
            </a:solidFill>
          </a:ln>
        </p:spPr>
      </p:sp>
      <p:sp>
        <p:nvSpPr>
          <p:cNvPr id="77" name="Точка (3, 7)">
            <a:extLst xmlns:a="http://schemas.openxmlformats.org/drawingml/2006/main">
              <a:ext uri="{FF2B5EF4-FFF2-40B4-BE49-F238E27FC236}">
                <a16:creationId xmlns:a16="http://schemas.microsoft.com/office/drawing/2014/main" id="{0B84922F-C954-4DAA-9B9E-04DA68BECE63}"/>
              </a:ext>
            </a:extLst>
          </p:cNvPr>
          <p:cNvSpPr>
            <a:spLocks xmlns:a="http://schemas.openxmlformats.org/drawingml/2006/main" noGrp="1"/>
          </p:cNvSpPr>
          <p:nvPr/>
        </p:nvSpPr>
        <p:spPr>
          <a:xfrm xmlns:a="http://schemas.openxmlformats.org/drawingml/2006/main">
            <a:off x="4514850" y="3996413"/>
            <a:ext cx="95250" cy="95250"/>
          </a:xfrm>
          <a:prstGeom xmlns:a="http://schemas.openxmlformats.org/drawingml/2006/main" prst="ellipse">
            <a:avLst/>
          </a:prstGeom>
          <a:solidFill xmlns:a="http://schemas.openxmlformats.org/drawingml/2006/main">
            <a:srgbClr val="111111"/>
          </a:solidFill>
          <a:ln xmlns:a="http://schemas.openxmlformats.org/drawingml/2006/main" w="4763">
            <a:solidFill>
              <a:srgbClr val="FFFFFF"/>
            </a:solidFill>
          </a:ln>
        </p:spPr>
      </p:sp>
      <p:sp>
        <p:nvSpPr>
          <p:cNvPr id="78" name="Точка (4, 10)">
            <a:extLst xmlns:a="http://schemas.openxmlformats.org/drawingml/2006/main">
              <a:ext uri="{FF2B5EF4-FFF2-40B4-BE49-F238E27FC236}">
                <a16:creationId xmlns:a16="http://schemas.microsoft.com/office/drawing/2014/main" id="{DDB7758A-2240-4A07-B634-360AE3DC8742}"/>
              </a:ext>
            </a:extLst>
          </p:cNvPr>
          <p:cNvSpPr>
            <a:spLocks xmlns:a="http://schemas.openxmlformats.org/drawingml/2006/main" noGrp="1"/>
          </p:cNvSpPr>
          <p:nvPr/>
        </p:nvSpPr>
        <p:spPr>
          <a:xfrm xmlns:a="http://schemas.openxmlformats.org/drawingml/2006/main">
            <a:off x="5648325" y="3445695"/>
            <a:ext cx="95250" cy="95250"/>
          </a:xfrm>
          <a:prstGeom xmlns:a="http://schemas.openxmlformats.org/drawingml/2006/main" prst="ellipse">
            <a:avLst/>
          </a:prstGeom>
          <a:solidFill xmlns:a="http://schemas.openxmlformats.org/drawingml/2006/main">
            <a:srgbClr val="111111"/>
          </a:solidFill>
          <a:ln xmlns:a="http://schemas.openxmlformats.org/drawingml/2006/main" w="4763">
            <a:solidFill>
              <a:srgbClr val="FFFFFF"/>
            </a:solidFill>
          </a:ln>
        </p:spPr>
      </p:sp>
      <p:sp>
        <p:nvSpPr>
          <p:cNvPr id="79" name="">
            <a:extLst xmlns:a="http://schemas.openxmlformats.org/drawingml/2006/main">
              <a:ext uri="{FF2B5EF4-FFF2-40B4-BE49-F238E27FC236}">
                <a16:creationId xmlns:a16="http://schemas.microsoft.com/office/drawing/2014/main" id="{46F6EC60-74B6-4B8D-921C-38930F06E082}"/>
              </a:ext>
            </a:extLst>
          </p:cNvPr>
          <p:cNvSpPr>
            <a:spLocks xmlns:a="http://schemas.openxmlformats.org/drawingml/2006/main" noGrp="1"/>
          </p:cNvSpPr>
          <p:nvPr/>
        </p:nvSpPr>
        <p:spPr>
          <a:xfrm xmlns:a="http://schemas.openxmlformats.org/drawingml/2006/main">
            <a:off x="1238250" y="6138672"/>
            <a:ext cx="238125" cy="2857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1D134A89-8D8A-4F90-8A1B-6156044F0E5F}"/>
              </a:ext>
            </a:extLst>
          </p:cNvPr>
          <p:cNvSpPr>
            <a:spLocks xmlns:a="http://schemas.openxmlformats.org/drawingml/2006/main" noGrp="1"/>
          </p:cNvSpPr>
          <p:nvPr/>
        </p:nvSpPr>
        <p:spPr>
          <a:xfrm xmlns:a="http://schemas.openxmlformats.org/drawingml/2006/main">
            <a:off x="1543050" y="6052947"/>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11111"/>
                </a:solidFill>
              </a:defRPr>
            </a:defPPr>
            <a:lvl1pPr algn="l">
              <a:defRPr sz="1500" b="0">
                <a:solidFill>
                  <a:srgbClr val="111111"/>
                </a:solidFill>
              </a:defRPr>
            </a:lvl1pPr>
            <a:lvl2pPr algn="l">
              <a:defRPr sz="1500" b="0">
                <a:solidFill>
                  <a:srgbClr val="111111"/>
                </a:solidFill>
              </a:defRPr>
            </a:lvl2pPr>
            <a:lvl3pPr algn="l">
              <a:defRPr sz="1500" b="0">
                <a:solidFill>
                  <a:srgbClr val="111111"/>
                </a:solidFill>
              </a:defRPr>
            </a:lvl3pPr>
            <a:lvl4pPr algn="l">
              <a:defRPr sz="1500" b="0">
                <a:solidFill>
                  <a:srgbClr val="111111"/>
                </a:solidFill>
              </a:defRPr>
            </a:lvl4pPr>
            <a:lvl5pPr algn="l">
              <a:defRPr sz="1500" b="0">
                <a:solidFill>
                  <a:srgbClr val="111111"/>
                </a:solidFill>
              </a:defRPr>
            </a:lvl5pPr>
            <a:lvl6pPr algn="l">
              <a:defRPr sz="1500" b="0">
                <a:solidFill>
                  <a:srgbClr val="111111"/>
                </a:solidFill>
              </a:defRPr>
            </a:lvl6pPr>
            <a:lvl7pPr algn="l">
              <a:defRPr sz="1500" b="0">
                <a:solidFill>
                  <a:srgbClr val="111111"/>
                </a:solidFill>
              </a:defRPr>
            </a:lvl7pPr>
            <a:lvl8pPr algn="l">
              <a:defRPr sz="1500" b="0">
                <a:solidFill>
                  <a:srgbClr val="111111"/>
                </a:solidFill>
              </a:defRPr>
            </a:lvl8pPr>
            <a:lvl9pPr algn="l">
              <a:defRPr sz="1500" b="0">
                <a:solidFill>
                  <a:srgbClr val="111111"/>
                </a:solidFill>
              </a:defRPr>
            </a:lvl9pPr>
          </a:lstStyle>
          <a:p xmlns:a="http://schemas.openxmlformats.org/drawingml/2006/main">
            <a:pPr algn="l">
              <a:defRPr sz="1500" b="0">
                <a:solidFill>
                  <a:srgbClr val="111111"/>
                </a:solidFill>
              </a:defRPr>
            </a:pPr>
            <a:r>
              <a:rPr sz="1500" b="0">
                <a:solidFill>
                  <a:srgbClr val="111111"/>
                </a:solidFill>
              </a:rPr>
              <a:t>A</a:t>
            </a:r>
          </a:p>
        </p:txBody>
      </p:sp>
      <p:sp>
        <p:nvSpPr>
          <p:cNvPr id="81" name="">
            <a:extLst xmlns:a="http://schemas.openxmlformats.org/drawingml/2006/main">
              <a:ext uri="{FF2B5EF4-FFF2-40B4-BE49-F238E27FC236}">
                <a16:creationId xmlns:a16="http://schemas.microsoft.com/office/drawing/2014/main" id="{172166D6-C897-4695-8D7D-2029746288D2}"/>
              </a:ext>
            </a:extLst>
          </p:cNvPr>
          <p:cNvSpPr>
            <a:spLocks xmlns:a="http://schemas.openxmlformats.org/drawingml/2006/main" noGrp="1"/>
          </p:cNvSpPr>
          <p:nvPr/>
        </p:nvSpPr>
        <p:spPr>
          <a:xfrm xmlns:a="http://schemas.openxmlformats.org/drawingml/2006/main">
            <a:off x="3190875" y="6119622"/>
            <a:ext cx="85725" cy="85725"/>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B442137F-5376-4C22-8D7E-4F864912E0DA}"/>
              </a:ext>
            </a:extLst>
          </p:cNvPr>
          <p:cNvSpPr>
            <a:spLocks xmlns:a="http://schemas.openxmlformats.org/drawingml/2006/main" noGrp="1"/>
          </p:cNvSpPr>
          <p:nvPr/>
        </p:nvSpPr>
        <p:spPr>
          <a:xfrm xmlns:a="http://schemas.openxmlformats.org/drawingml/2006/main">
            <a:off x="3352800" y="6052947"/>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111111"/>
                </a:solidFill>
              </a:defRPr>
            </a:defPPr>
            <a:lvl1pPr algn="l">
              <a:defRPr sz="1500" b="0">
                <a:solidFill>
                  <a:srgbClr val="111111"/>
                </a:solidFill>
              </a:defRPr>
            </a:lvl1pPr>
            <a:lvl2pPr algn="l">
              <a:defRPr sz="1500" b="0">
                <a:solidFill>
                  <a:srgbClr val="111111"/>
                </a:solidFill>
              </a:defRPr>
            </a:lvl2pPr>
            <a:lvl3pPr algn="l">
              <a:defRPr sz="1500" b="0">
                <a:solidFill>
                  <a:srgbClr val="111111"/>
                </a:solidFill>
              </a:defRPr>
            </a:lvl3pPr>
            <a:lvl4pPr algn="l">
              <a:defRPr sz="1500" b="0">
                <a:solidFill>
                  <a:srgbClr val="111111"/>
                </a:solidFill>
              </a:defRPr>
            </a:lvl4pPr>
            <a:lvl5pPr algn="l">
              <a:defRPr sz="1500" b="0">
                <a:solidFill>
                  <a:srgbClr val="111111"/>
                </a:solidFill>
              </a:defRPr>
            </a:lvl5pPr>
            <a:lvl6pPr algn="l">
              <a:defRPr sz="1500" b="0">
                <a:solidFill>
                  <a:srgbClr val="111111"/>
                </a:solidFill>
              </a:defRPr>
            </a:lvl6pPr>
            <a:lvl7pPr algn="l">
              <a:defRPr sz="1500" b="0">
                <a:solidFill>
                  <a:srgbClr val="111111"/>
                </a:solidFill>
              </a:defRPr>
            </a:lvl7pPr>
            <a:lvl8pPr algn="l">
              <a:defRPr sz="1500" b="0">
                <a:solidFill>
                  <a:srgbClr val="111111"/>
                </a:solidFill>
              </a:defRPr>
            </a:lvl8pPr>
            <a:lvl9pPr algn="l">
              <a:defRPr sz="1500" b="0">
                <a:solidFill>
                  <a:srgbClr val="111111"/>
                </a:solidFill>
              </a:defRPr>
            </a:lvl9pPr>
          </a:lstStyle>
          <a:p xmlns:a="http://schemas.openxmlformats.org/drawingml/2006/main">
            <a:pPr algn="l">
              <a:defRPr sz="1500" b="0">
                <a:solidFill>
                  <a:srgbClr val="111111"/>
                </a:solidFill>
              </a:defRPr>
            </a:pPr>
            <a:r>
              <a:rPr sz="1500" b="0">
                <a:solidFill>
                  <a:srgbClr val="111111"/>
                </a:solidFill>
              </a:rPr>
              <a:t>Данные</a:t>
            </a:r>
          </a:p>
        </p:txBody>
      </p:sp>
      <p:sp>
        <p:nvSpPr>
          <p:cNvPr id="83" name="">
            <a:extLst xmlns:a="http://schemas.openxmlformats.org/drawingml/2006/main">
              <a:ext uri="{FF2B5EF4-FFF2-40B4-BE49-F238E27FC236}">
                <a16:creationId xmlns:a16="http://schemas.microsoft.com/office/drawing/2014/main" id="{9630B58A-C604-474F-ADD5-585FE5E8A91B}"/>
              </a:ext>
            </a:extLst>
          </p:cNvPr>
          <p:cNvSpPr>
            <a:spLocks xmlns:a="http://schemas.openxmlformats.org/drawingml/2006/main" noGrp="1"/>
          </p:cNvSpPr>
          <p:nvPr/>
        </p:nvSpPr>
        <p:spPr>
          <a:xfrm xmlns:a="http://schemas.openxmlformats.org/drawingml/2006/main">
            <a:off x="6267450" y="1743075"/>
            <a:ext cx="53149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График ошибки</a:t>
            </a:r>
          </a:p>
        </p:txBody>
      </p:sp>
      <p:sp>
        <p:nvSpPr>
          <p:cNvPr id="84" name="">
            <a:extLst xmlns:a="http://schemas.openxmlformats.org/drawingml/2006/main">
              <a:ext uri="{FF2B5EF4-FFF2-40B4-BE49-F238E27FC236}">
                <a16:creationId xmlns:a16="http://schemas.microsoft.com/office/drawing/2014/main" id="{A890D4D4-E3A1-4587-8C14-D8E9E50F3C50}"/>
              </a:ext>
            </a:extLst>
          </p:cNvPr>
          <p:cNvSpPr>
            <a:spLocks xmlns:a="http://schemas.openxmlformats.org/drawingml/2006/main" noGrp="1"/>
          </p:cNvSpPr>
          <p:nvPr/>
        </p:nvSpPr>
        <p:spPr>
          <a:xfrm xmlns:a="http://schemas.openxmlformats.org/drawingml/2006/main">
            <a:off x="6267450" y="2292477"/>
            <a:ext cx="53149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Параметр модели и MSE на</a:t>
            </a:r>
          </a:p>
          <a:p xmlns:a="http://schemas.openxmlformats.org/drawingml/2006/main">
            <a:pPr algn="l">
              <a:defRPr sz="2250" b="0">
                <a:solidFill>
                  <a:srgbClr val="111111"/>
                </a:solidFill>
              </a:defRPr>
            </a:pPr>
            <a:r>
              <a:rPr sz="2250" b="0">
                <a:solidFill>
                  <a:srgbClr val="111111"/>
                </a:solidFill>
              </a:rPr>
              <a:t>неизменной выборке.</a:t>
            </a:r>
          </a:p>
        </p:txBody>
      </p:sp>
      <p:graphicFrame>
        <p:nvGraphicFramePr>
          <p:cNvPr id="85" name="Chart">
            <a:extLst xmlns:a="http://schemas.openxmlformats.org/drawingml/2006/main">
              <a:ext uri="{FF2B5EF4-FFF2-40B4-BE49-F238E27FC236}">
                <a16:creationId xmlns:a16="http://schemas.microsoft.com/office/drawing/2014/main" id="{FB665173-88B0-4A39-867B-25EA3AD52C09}"/>
              </a:ext>
            </a:extLst>
          </p:cNvPr>
          <p:cNvGraphicFramePr/>
          <p:nvPr/>
        </p:nvGraphicFramePr>
        <p:xfrm>
          <a:off xmlns:a="http://schemas.openxmlformats.org/drawingml/2006/main" x="6267450" y="3195447"/>
          <a:ext xmlns:a="http://schemas.openxmlformats.org/drawingml/2006/main" cx="5314950" cy="3143250"/>
        </p:xfrm>
        <a:graphic xmlns:a="http://schemas.openxmlformats.org/drawingml/2006/main">
          <a:graphicData uri="http://schemas.openxmlformats.org/drawingml/2006/chart">
            <c:chart xmlns:r="http://schemas.openxmlformats.org/officeDocument/2006/relationships" xmlns:c="http://schemas.openxmlformats.org/drawingml/2006/chart" r:id="R021a1c69cd054457"/>
          </a:graphicData>
        </a:graphic>
      </p:graphicFrame>
      <p:sp>
        <p:nvSpPr>
          <p:cNvPr id="86" name="">
            <a:extLst xmlns:a="http://schemas.openxmlformats.org/drawingml/2006/main">
              <a:ext uri="{FF2B5EF4-FFF2-40B4-BE49-F238E27FC236}">
                <a16:creationId xmlns:a16="http://schemas.microsoft.com/office/drawing/2014/main" id="{0CD6E51C-D0C9-446A-8B11-83D6C0057DFE}"/>
              </a:ext>
            </a:extLst>
          </p:cNvPr>
          <p:cNvSpPr>
            <a:spLocks xmlns:a="http://schemas.openxmlformats.org/drawingml/2006/main" noGrp="1"/>
          </p:cNvSpPr>
          <p:nvPr/>
        </p:nvSpPr>
        <p:spPr>
          <a:xfrm xmlns:a="http://schemas.openxmlformats.org/drawingml/2006/main">
            <a:off x="609600" y="6567297"/>
            <a:ext cx="109728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Слева выбираем объект и получаем прогноз. Справа выбираем вес и оцениваем</a:t>
            </a:r>
          </a:p>
          <a:p xmlns:a="http://schemas.openxmlformats.org/drawingml/2006/main">
            <a:pPr algn="l">
              <a:defRPr sz="2250" b="0">
                <a:solidFill>
                  <a:srgbClr val="111111"/>
                </a:solidFill>
              </a:defRPr>
            </a:pPr>
            <a:r>
              <a:rPr sz="2250" b="0">
                <a:solidFill>
                  <a:srgbClr val="111111"/>
                </a:solidFill>
              </a:rPr>
              <a:t>ошибку всей модели. Прямая по признаку может давать параболу ошибки по</a:t>
            </a:r>
          </a:p>
          <a:p xmlns:a="http://schemas.openxmlformats.org/drawingml/2006/main">
            <a:pPr algn="l">
              <a:defRPr sz="2250" b="0">
                <a:solidFill>
                  <a:srgbClr val="111111"/>
                </a:solidFill>
              </a:defRPr>
            </a:pPr>
            <a:r>
              <a:rPr sz="2250" b="0">
                <a:solidFill>
                  <a:srgbClr val="111111"/>
                </a:solidFill>
              </a:rPr>
              <a:t>весу.</a:t>
            </a:r>
          </a:p>
        </p:txBody>
      </p:sp>
    </p:spTree>
    <p:extLst>
      <p:ext uri="{BB962C8B-B14F-4D97-AF65-F5344CB8AC3E}">
        <p14:creationId xmlns:p14="http://schemas.microsoft.com/office/powerpoint/2010/main" val="20734111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4D2608B4-C8CB-4322-8B77-1D5C97298685}"/>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A740B0-3A1F-42D5-ACBC-4E1B690E3515}"/>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DE509621-14A6-4EA9-A3A0-9D67FEF9AC10}"/>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28F326DC-F95A-4ABD-B4DA-F8612CAEDF02}"/>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0C955570-3042-4985-A1C8-750B1B3D9B8A}"/>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8BC7D123-2068-4F9C-9080-D4104BF1207C}"/>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3A362FBB-E29F-4887-8B64-8AFD4AF599F7}"/>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7AAAEFAE-E3C6-4282-BFB4-A24C8CD4BD63}"/>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F709F733-2AE8-4307-859C-4B5CDA8BBC47}"/>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1B3FC92A-50FE-433E-A4AF-B8360C7DE3F4}"/>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Минимум функции</a:t>
            </a:r>
          </a:p>
        </p:txBody>
      </p:sp>
      <p:sp>
        <p:nvSpPr>
          <p:cNvPr id="11" name="">
            <a:extLst xmlns:a="http://schemas.openxmlformats.org/drawingml/2006/main">
              <a:ext uri="{FF2B5EF4-FFF2-40B4-BE49-F238E27FC236}">
                <a16:creationId xmlns:a16="http://schemas.microsoft.com/office/drawing/2014/main" id="{9D86B947-C2AB-423A-B840-EF68FAB5C3BD}"/>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40779536-01E3-420D-A6F1-C66ABA2D54EA}"/>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19FD6525-384B-4AE0-94D2-54B3DEF2EA5F}"/>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1BD5420C-AF42-4E78-B430-F3564A95F5F7}"/>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F37DEE90-8137-4850-A2FC-E7AE02E97722}"/>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826F56F0-206D-40F6-B597-18123A52FD37}"/>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C8E89694-186E-4EB4-98AA-BB6A254F5C18}"/>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A8923EB0-EBAB-424F-96F5-13533912F143}"/>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683B3004-B160-494A-B14C-3B501FB1F531}"/>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6469669C-62F1-4A0F-8BC0-1C4812AE557D}"/>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D36E5D3E-0D8A-4897-B1CC-F6752D7AB52B}"/>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38CFC2B2-76BE-4BDE-B903-25D38CCBFC64}"/>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10C56CD7-2B3A-46CD-A4AC-CDAED7C3D868}"/>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D7504EF4-9D42-44A0-BE78-7654BD4D86BB}"/>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033B3E07-8943-4A4A-AD95-569A8040675D}"/>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4281D06F-87D8-44FA-8A08-45470BE91474}"/>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22DFF808-D1B6-420C-9F28-A78A878FFCFF}"/>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D03DB69B-ACC3-404E-BFEC-4704A2E68452}"/>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44BB7BD3-D51C-4D5F-833F-2EBE3946A41B}"/>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2764CB32-5508-45B2-98C7-D52793FA1FC8}"/>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3450468A-B9F5-46EF-A442-B1DABEF874CB}"/>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2E9C0DC0-994E-44BD-A808-DA58B8D8AB01}"/>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AD5C5717-C446-415E-9051-99CBB4D3EF5D}"/>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D12D52FB-F83C-4C6A-9804-59849EBA5609}"/>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49FE3E62-1DF6-4FCD-9A0E-14C6AB2B05FF}"/>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9AA2C35C-FAF9-4400-86A0-150D9C91009D}"/>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91DAF4D2-4460-4F0C-8488-D2862B4CC91C}"/>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160107BA-56F1-457E-B66D-AEDF5E67784A}"/>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63C3FE82-3F93-4852-9A31-106FD52F66CA}"/>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1C046189-3756-4583-9FDD-D5AABF3D18B8}"/>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A9C1AD03-04A8-461E-9649-FC6FD4A2FAA9}"/>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DE3821F9-9B24-452E-AF18-44FDC12FF3F5}"/>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81189BDE-9D0B-48F9-82D6-F2C2A4ED4409}"/>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A10CA64-76D9-4922-8A28-DE5A0A78A6CE}"/>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Производная как локальный наклон</a:t>
            </a:r>
          </a:p>
        </p:txBody>
      </p:sp>
      <p:sp>
        <p:nvSpPr>
          <p:cNvPr id="45" name="">
            <a:extLst xmlns:a="http://schemas.openxmlformats.org/drawingml/2006/main">
              <a:ext uri="{FF2B5EF4-FFF2-40B4-BE49-F238E27FC236}">
                <a16:creationId xmlns:a16="http://schemas.microsoft.com/office/drawing/2014/main" id="{0A0B9BA2-64B7-4A13-8819-3386CEAA02DD}"/>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3DA575A-812C-4F81-966F-F4D718BF9768}"/>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D5B1DAC-EC11-4FA4-8890-13D3AE5351A3}"/>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76EC7A02-FB5F-4967-B345-D5A16A866F60}"/>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73044637-0C8E-4885-AE4D-BD1D47E52552}"/>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12 / 37</a:t>
            </a:r>
          </a:p>
        </p:txBody>
      </p:sp>
      <p:sp>
        <p:nvSpPr>
          <p:cNvPr id="50" name="">
            <a:extLst xmlns:a="http://schemas.openxmlformats.org/drawingml/2006/main">
              <a:ext uri="{FF2B5EF4-FFF2-40B4-BE49-F238E27FC236}">
                <a16:creationId xmlns:a16="http://schemas.microsoft.com/office/drawing/2014/main" id="{53196832-4812-46FE-A745-A442953B83B9}"/>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Производная показывает, как быстро меняется функция при малом изменении</a:t>
            </a:r>
          </a:p>
          <a:p xmlns:a="http://schemas.openxmlformats.org/drawingml/2006/main">
            <a:pPr algn="l">
              <a:defRPr sz="2250" b="0">
                <a:solidFill>
                  <a:srgbClr val="111111"/>
                </a:solidFill>
              </a:defRPr>
            </a:pPr>
            <a:r>
              <a:rPr sz="2250" b="0">
                <a:solidFill>
                  <a:srgbClr val="111111"/>
                </a:solidFill>
              </a:rPr>
              <a:t>аргумента:</a:t>
            </a:r>
          </a:p>
        </p:txBody>
      </p:sp>
      <p:pic>
        <p:nvPicPr>
          <p:cNvPr id="51" name="">
            <a:extLst xmlns:a="http://schemas.openxmlformats.org/drawingml/2006/main">
              <a:ext uri="{FF2B5EF4-FFF2-40B4-BE49-F238E27FC236}">
                <a16:creationId xmlns:a16="http://schemas.microsoft.com/office/drawing/2014/main" id="{82605979-388C-4E8C-96D4-A60E1D029F5D}"/>
              </a:ext>
            </a:extLst>
          </p:cNvPr>
          <p:cNvPicPr>
            <a:picLocks xmlns:a="http://schemas.openxmlformats.org/drawingml/2006/main" noChangeAspect="1"/>
          </p:cNvPicPr>
          <p:nvPr/>
        </p:nvPicPr>
        <p:blipFill>
          <a:blip xmlns:r="http://schemas.openxmlformats.org/officeDocument/2006/relationships" xmlns:a="http://schemas.openxmlformats.org/drawingml/2006/main" r:embed="R1f966c3a89cc4a61">
            <a:extLst>
              <a:ext uri="{96DAC541-7B7A-43D3-8B79-37D633B846F1}">
                <asvg:svgBlip xmlns:asvg="http://schemas.microsoft.com/office/drawing/2016/SVG/main" r:embed="R957aa538f214441b"/>
              </a:ext>
            </a:extLst>
          </a:blip>
          <a:stretch xmlns:a="http://schemas.openxmlformats.org/drawingml/2006/main"/>
        </p:blipFill>
        <p:spPr>
          <a:xfrm xmlns:a="http://schemas.openxmlformats.org/drawingml/2006/main">
            <a:off x="3822503" y="2703195"/>
            <a:ext cx="4546994" cy="846315"/>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76D33DF6-7C9A-4A84-94CA-F2288BFC0B87}"/>
              </a:ext>
            </a:extLst>
          </p:cNvPr>
          <p:cNvSpPr>
            <a:spLocks xmlns:a="http://schemas.openxmlformats.org/drawingml/2006/main" noGrp="1"/>
          </p:cNvSpPr>
          <p:nvPr/>
        </p:nvSpPr>
        <p:spPr>
          <a:xfrm xmlns:a="http://schemas.openxmlformats.org/drawingml/2006/main">
            <a:off x="609600" y="377811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Для нашей параболы раскроем квадраты, разделим прирост на h и упростим:</a:t>
            </a:r>
          </a:p>
        </p:txBody>
      </p:sp>
      <p:pic>
        <p:nvPicPr>
          <p:cNvPr id="53" name="">
            <a:extLst xmlns:a="http://schemas.openxmlformats.org/drawingml/2006/main">
              <a:ext uri="{FF2B5EF4-FFF2-40B4-BE49-F238E27FC236}">
                <a16:creationId xmlns:a16="http://schemas.microsoft.com/office/drawing/2014/main" id="{147F9428-5734-4039-AFFB-117EA2DCD919}"/>
              </a:ext>
            </a:extLst>
          </p:cNvPr>
          <p:cNvPicPr>
            <a:picLocks xmlns:a="http://schemas.openxmlformats.org/drawingml/2006/main" noChangeAspect="1"/>
          </p:cNvPicPr>
          <p:nvPr/>
        </p:nvPicPr>
        <p:blipFill>
          <a:blip xmlns:r="http://schemas.openxmlformats.org/officeDocument/2006/relationships" xmlns:a="http://schemas.openxmlformats.org/drawingml/2006/main" r:embed="R9d97fa6e6d7b4abc">
            <a:extLst>
              <a:ext uri="{96DAC541-7B7A-43D3-8B79-37D633B846F1}">
                <asvg:svgBlip xmlns:asvg="http://schemas.microsoft.com/office/drawing/2016/SVG/main" r:embed="R16387305fda54d03"/>
              </a:ext>
            </a:extLst>
          </a:blip>
          <a:stretch xmlns:a="http://schemas.openxmlformats.org/drawingml/2006/main"/>
        </p:blipFill>
        <p:spPr>
          <a:xfrm xmlns:a="http://schemas.openxmlformats.org/drawingml/2006/main">
            <a:off x="3840902" y="4372470"/>
            <a:ext cx="4510196" cy="745564"/>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B7419A83-5771-4072-AB40-C10A2B21D0A1}"/>
              </a:ext>
            </a:extLst>
          </p:cNvPr>
          <p:cNvSpPr>
            <a:spLocks xmlns:a="http://schemas.openxmlformats.org/drawingml/2006/main" noGrp="1"/>
          </p:cNvSpPr>
          <p:nvPr/>
        </p:nvSpPr>
        <p:spPr>
          <a:xfrm xmlns:a="http://schemas.openxmlformats.org/drawingml/2006/main">
            <a:off x="609600" y="5346634"/>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При стремлении h к нулю последнее слагаемое исчезает.</a:t>
            </a:r>
          </a:p>
        </p:txBody>
      </p:sp>
      <p:pic>
        <p:nvPicPr>
          <p:cNvPr id="55" name="">
            <a:extLst xmlns:a="http://schemas.openxmlformats.org/drawingml/2006/main">
              <a:ext uri="{FF2B5EF4-FFF2-40B4-BE49-F238E27FC236}">
                <a16:creationId xmlns:a16="http://schemas.microsoft.com/office/drawing/2014/main" id="{DE69F997-31AF-4B04-8B70-BDBA9C06D8A1}"/>
              </a:ext>
            </a:extLst>
          </p:cNvPr>
          <p:cNvPicPr>
            <a:picLocks xmlns:a="http://schemas.openxmlformats.org/drawingml/2006/main" noChangeAspect="1"/>
          </p:cNvPicPr>
          <p:nvPr/>
        </p:nvPicPr>
        <p:blipFill>
          <a:blip xmlns:r="http://schemas.openxmlformats.org/officeDocument/2006/relationships" xmlns:a="http://schemas.openxmlformats.org/drawingml/2006/main" r:embed="R0b920206cac9489c">
            <a:extLst>
              <a:ext uri="{96DAC541-7B7A-43D3-8B79-37D633B846F1}">
                <asvg:svgBlip xmlns:asvg="http://schemas.microsoft.com/office/drawing/2016/SVG/main" r:embed="Rde0624f096be4243"/>
              </a:ext>
            </a:extLst>
          </a:blip>
          <a:stretch xmlns:a="http://schemas.openxmlformats.org/drawingml/2006/main"/>
        </p:blipFill>
        <p:spPr>
          <a:xfrm xmlns:a="http://schemas.openxmlformats.org/drawingml/2006/main">
            <a:off x="4809406" y="5940994"/>
            <a:ext cx="2573187" cy="420154"/>
          </a:xfrm>
          <a:prstGeom xmlns:a="http://schemas.openxmlformats.org/drawingml/2006/main" prst="rect">
            <a:avLst/>
          </a:prstGeom>
        </p:spPr>
      </p:pic>
    </p:spTree>
    <p:extLst>
      <p:ext uri="{BB962C8B-B14F-4D97-AF65-F5344CB8AC3E}">
        <p14:creationId xmlns:p14="http://schemas.microsoft.com/office/powerpoint/2010/main" val="16003486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D8DD2ABA-C482-4B4E-B3F5-ACFAD9977F08}"/>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770585-3AD6-4414-8EC1-15B0F947CDDB}"/>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D3DAC166-987E-4A8E-B0E2-787365D039DA}"/>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4F3F5B8F-BD19-4C78-B9CC-0994E62476F6}"/>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4B227884-F29F-4C2B-BC71-3005FF6FD339}"/>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58B815BC-2236-4267-92A1-62B9F242132C}"/>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A747AB2D-D883-416F-BCD3-937B66ABEAE9}"/>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B5DB9308-BF1B-44E2-BA1A-E626C3ABA2B4}"/>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8268A2FD-E81E-41E8-BA92-58710B117D7F}"/>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8473F603-1953-4AC5-B09B-57BAF496BF8D}"/>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Минимум функции</a:t>
            </a:r>
          </a:p>
        </p:txBody>
      </p:sp>
      <p:sp>
        <p:nvSpPr>
          <p:cNvPr id="11" name="">
            <a:extLst xmlns:a="http://schemas.openxmlformats.org/drawingml/2006/main">
              <a:ext uri="{FF2B5EF4-FFF2-40B4-BE49-F238E27FC236}">
                <a16:creationId xmlns:a16="http://schemas.microsoft.com/office/drawing/2014/main" id="{E0037012-419D-49BE-B0EB-14FD65A0778E}"/>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8C7B9DB3-36DB-46DD-B301-96E1ACA37F2D}"/>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C73A1A6A-8002-4C3A-B925-27187EB97DAF}"/>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B839A93C-7E54-42EE-BD7B-DB4491F3BEA2}"/>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2F795C99-2D6A-4321-91B5-06180E9B7CA7}"/>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0A394FE2-8D1A-48BD-AA31-17C29AA2CD2E}"/>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E7A22023-BEB0-44AE-94CF-0FA9A588E0CB}"/>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F4AA3404-B278-4C56-A230-DBE7ED48F6B1}"/>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552B6DDB-BB75-4688-B89A-E4D66B4EDADD}"/>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F5771AD5-827B-4B44-A58E-B4AC7323F471}"/>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F5F40FEE-F697-41F6-88E6-D1F6A70C63E2}"/>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DBF6C6CA-5FD7-43F0-B8BC-8F0F7F118CDC}"/>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8330ADA1-9C41-46ED-BD55-29DA13CCB7E2}"/>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85C0F628-4E5E-4708-804C-9F28C0A72A2F}"/>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5088B8BC-D6E3-4BDD-B7EA-FFD5025A3D2D}"/>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A9F3ED52-102E-4932-89B4-6F041236B15A}"/>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3AC20389-92F2-4B71-938F-5517744F4192}"/>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42610E63-1B41-4315-8DFC-7C295154ED15}"/>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7882A378-5B70-4E0E-AD82-BB72522C51BC}"/>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3BC07FFA-27A5-4ECA-8A23-8E6156CD85BE}"/>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89BC9514-5150-4CAE-B646-B0B5F9BF3D7B}"/>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5EBAAEA0-5AA0-46FC-B646-0A735367E066}"/>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C661DF3A-DA99-4FD4-B3E3-9A99F357F2BE}"/>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002C773D-0B80-4E0F-916D-6611D7BCD619}"/>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68EEF025-2632-4EB6-8EB4-6AE39D876626}"/>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17BC66B6-9B80-4982-A65B-B1A0BD3168E5}"/>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B9EE0541-9D4B-4EB0-AF76-B19365C3A08F}"/>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5EB4E314-BF52-41B4-87CD-ED856EE4874E}"/>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36888EB4-0F71-4999-BDF7-AB40A0F1A745}"/>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CD0FEC96-651C-4B2C-BC85-4581B4F8FD34}"/>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A47372F6-6D94-4C5D-811C-3C7E90AAF429}"/>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9A124CC5-C5D9-4EE2-9EFB-0C7F67367282}"/>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B3BA63D4-2805-4BF4-866D-B32A4DBD1DD6}"/>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C8FF546-FEFE-445F-85EE-AA5F7958D8DA}"/>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Знак производной и минимум</a:t>
            </a:r>
          </a:p>
        </p:txBody>
      </p:sp>
      <p:sp>
        <p:nvSpPr>
          <p:cNvPr id="45" name="">
            <a:extLst xmlns:a="http://schemas.openxmlformats.org/drawingml/2006/main">
              <a:ext uri="{FF2B5EF4-FFF2-40B4-BE49-F238E27FC236}">
                <a16:creationId xmlns:a16="http://schemas.microsoft.com/office/drawing/2014/main" id="{46D2369D-AE86-4B65-A55E-B85A976737E0}"/>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A9ECE0D-F6E2-4A67-AA45-4EA52389059B}"/>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C82429E-22A2-420A-B6CA-CD4AA57138B8}"/>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00626146-158B-4923-9ACC-31CF5CB55B52}"/>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1355AD33-2176-4856-A388-528D574106DD}"/>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13 / 37</a:t>
            </a:r>
          </a:p>
        </p:txBody>
      </p:sp>
      <p:pic>
        <p:nvPicPr>
          <p:cNvPr id="50" name="">
            <a:extLst xmlns:a="http://schemas.openxmlformats.org/drawingml/2006/main">
              <a:ext uri="{FF2B5EF4-FFF2-40B4-BE49-F238E27FC236}">
                <a16:creationId xmlns:a16="http://schemas.microsoft.com/office/drawing/2014/main" id="{8B960F5D-62E4-42A8-9426-79BF08E06A5F}"/>
              </a:ext>
            </a:extLst>
          </p:cNvPr>
          <p:cNvPicPr>
            <a:picLocks xmlns:a="http://schemas.openxmlformats.org/drawingml/2006/main" noChangeAspect="1"/>
          </p:cNvPicPr>
          <p:nvPr/>
        </p:nvPicPr>
        <p:blipFill>
          <a:blip xmlns:r="http://schemas.openxmlformats.org/officeDocument/2006/relationships" xmlns:a="http://schemas.openxmlformats.org/drawingml/2006/main" r:embed="R25984fa2588e4f81">
            <a:extLst>
              <a:ext uri="{96DAC541-7B7A-43D3-8B79-37D633B846F1}">
                <asvg:svgBlip xmlns:asvg="http://schemas.microsoft.com/office/drawing/2016/SVG/main" r:embed="R6a7f5e729191461d"/>
              </a:ext>
            </a:extLst>
          </a:blip>
          <a:stretch xmlns:a="http://schemas.openxmlformats.org/drawingml/2006/main"/>
        </p:blipFill>
        <p:spPr>
          <a:xfrm xmlns:a="http://schemas.openxmlformats.org/drawingml/2006/main">
            <a:off x="4748140" y="1743075"/>
            <a:ext cx="2695720" cy="440161"/>
          </a:xfrm>
          <a:prstGeom xmlns:a="http://schemas.openxmlformats.org/drawingml/2006/main" prst="rect">
            <a:avLst/>
          </a:prstGeom>
        </p:spPr>
      </p:pic>
      <p:graphicFrame>
        <p:nvGraphicFramePr>
          <p:cNvPr id="51" name="">
            <a:extLst xmlns:a="http://schemas.openxmlformats.org/drawingml/2006/main">
              <a:ext uri="{FF2B5EF4-FFF2-40B4-BE49-F238E27FC236}">
                <a16:creationId xmlns:a16="http://schemas.microsoft.com/office/drawing/2014/main" id="{7FCACCDE-D666-4D17-9546-A53C2E53FD35}"/>
              </a:ext>
            </a:extLst>
          </p:cNvPr>
          <p:cNvGraphicFramePr/>
          <p:nvPr/>
        </p:nvGraphicFramePr>
        <p:xfrm>
          <a:off xmlns:a="http://schemas.openxmlformats.org/drawingml/2006/main" x="609600" y="2411836"/>
          <a:ext xmlns:a="http://schemas.openxmlformats.org/drawingml/2006/main" cx="10972800" cy="2057400"/>
        </p:xfrm>
        <a:graphic xmlns:a="http://schemas.openxmlformats.org/drawingml/2006/main">
          <a:graphicData uri="http://schemas.openxmlformats.org/drawingml/2006/table">
            <a:tbl>
              <a:tblPr/>
              <a:tblGrid>
                <a:gridCol w="3657600"/>
                <a:gridCol w="3657600"/>
                <a:gridCol w="3657600"/>
              </a:tblGrid>
              <a:tr h="514350">
                <a:tc>
                  <a:txBody>
                    <a:bodyPr/>
                    <a:lstStyle/>
                    <a:p>
                      <a:r>
                        <a:rPr sz="1875" b="1">
                          <a:solidFill>
                            <a:srgbClr val="111111"/>
                          </a:solidFill>
                        </a:rPr>
                        <a:t>Положение</a:t>
                      </a:r>
                    </a:p>
                  </a:txBody>
                  <a:tcPr marL="91440" marR="91440" marT="45720" marB="45720">
                    <a:lnL w="9525">
                      <a:solidFill>
                        <a:srgbClr val="BDBCE0"/>
                      </a:solidFill>
                    </a:lnL>
                    <a:lnR w="9525">
                      <a:solidFill>
                        <a:srgbClr val="BDBCE0"/>
                      </a:solidFill>
                    </a:lnR>
                    <a:lnT w="9525">
                      <a:solidFill>
                        <a:srgbClr val="BDBCE0"/>
                      </a:solidFill>
                    </a:lnT>
                    <a:lnB w="9525">
                      <a:solidFill>
                        <a:srgbClr val="BDBCE0"/>
                      </a:solidFill>
                    </a:lnB>
                    <a:solidFill>
                      <a:srgbClr val="EAE9F8"/>
                    </a:solidFill>
                  </a:tcPr>
                </a:tc>
                <a:tc>
                  <a:txBody>
                    <a:bodyPr/>
                    <a:lstStyle/>
                    <a:p>
                      <a:r>
                        <a:rPr sz="1875" b="1">
                          <a:solidFill>
                            <a:srgbClr val="111111"/>
                          </a:solidFill>
                        </a:rPr>
                        <a:t>Производная</a:t>
                      </a:r>
                    </a:p>
                  </a:txBody>
                  <a:tcPr marL="91440" marR="91440" marT="45720" marB="45720">
                    <a:lnR w="9525">
                      <a:solidFill>
                        <a:srgbClr val="BDBCE0"/>
                      </a:solidFill>
                    </a:lnR>
                    <a:lnT w="9525">
                      <a:solidFill>
                        <a:srgbClr val="BDBCE0"/>
                      </a:solidFill>
                    </a:lnT>
                    <a:lnB w="9525">
                      <a:solidFill>
                        <a:srgbClr val="BDBCE0"/>
                      </a:solidFill>
                    </a:lnB>
                    <a:solidFill>
                      <a:srgbClr val="EAE9F8"/>
                    </a:solidFill>
                  </a:tcPr>
                </a:tc>
                <a:tc>
                  <a:txBody>
                    <a:bodyPr/>
                    <a:lstStyle/>
                    <a:p>
                      <a:r>
                        <a:rPr sz="1875" b="1">
                          <a:solidFill>
                            <a:srgbClr val="111111"/>
                          </a:solidFill>
                        </a:rPr>
                        <a:t>Как уменьшать функцию</a:t>
                      </a:r>
                    </a:p>
                  </a:txBody>
                  <a:tcPr marL="91440" marR="91440" marT="45720" marB="45720">
                    <a:lnR w="9525">
                      <a:solidFill>
                        <a:srgbClr val="BDBCE0"/>
                      </a:solidFill>
                    </a:lnR>
                    <a:lnT w="9525">
                      <a:solidFill>
                        <a:srgbClr val="BDBCE0"/>
                      </a:solidFill>
                    </a:lnT>
                    <a:lnB w="9525">
                      <a:solidFill>
                        <a:srgbClr val="BDBCE0"/>
                      </a:solidFill>
                    </a:lnB>
                    <a:solidFill>
                      <a:srgbClr val="EAE9F8"/>
                    </a:solidFill>
                  </a:tcPr>
                </a:tc>
              </a:tr>
              <a:tr h="514350">
                <a:tc>
                  <a:txBody>
                    <a:bodyPr/>
                    <a:lstStyle/>
                    <a:p>
                      <a:r>
                        <a:rPr sz="1875" b="0">
                          <a:solidFill>
                            <a:srgbClr val="111111"/>
                          </a:solidFill>
                        </a:rPr>
                        <a:t>Слева от 3</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Отрицательная</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Увеличивать аргумент</a:t>
                      </a:r>
                    </a:p>
                  </a:txBody>
                  <a:tcPr marL="91440" marR="91440" marT="45720" marB="45720">
                    <a:lnR w="9525">
                      <a:solidFill>
                        <a:srgbClr val="BDBCE0"/>
                      </a:solidFill>
                    </a:lnR>
                    <a:lnB w="9525">
                      <a:solidFill>
                        <a:srgbClr val="BDBCE0"/>
                      </a:solidFill>
                    </a:lnB>
                    <a:solidFill>
                      <a:srgbClr val="FFFFFF"/>
                    </a:solidFill>
                  </a:tcPr>
                </a:tc>
              </a:tr>
              <a:tr h="514350">
                <a:tc>
                  <a:txBody>
                    <a:bodyPr/>
                    <a:lstStyle/>
                    <a:p>
                      <a:r>
                        <a:rPr sz="1875" b="0">
                          <a:solidFill>
                            <a:srgbClr val="111111"/>
                          </a:solidFill>
                        </a:rPr>
                        <a:t>В точке 3</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Ноль</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Минимум параболы</a:t>
                      </a:r>
                    </a:p>
                  </a:txBody>
                  <a:tcPr marL="91440" marR="91440" marT="45720" marB="45720">
                    <a:lnR w="9525">
                      <a:solidFill>
                        <a:srgbClr val="BDBCE0"/>
                      </a:solidFill>
                    </a:lnR>
                    <a:lnB w="9525">
                      <a:solidFill>
                        <a:srgbClr val="BDBCE0"/>
                      </a:solidFill>
                    </a:lnB>
                    <a:solidFill>
                      <a:srgbClr val="FFFFFF"/>
                    </a:solidFill>
                  </a:tcPr>
                </a:tc>
              </a:tr>
              <a:tr h="514350">
                <a:tc>
                  <a:txBody>
                    <a:bodyPr/>
                    <a:lstStyle/>
                    <a:p>
                      <a:r>
                        <a:rPr sz="1875" b="0">
                          <a:solidFill>
                            <a:srgbClr val="111111"/>
                          </a:solidFill>
                        </a:rPr>
                        <a:t>Справа от 3</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Положительная</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Уменьшать аргумент</a:t>
                      </a:r>
                    </a:p>
                  </a:txBody>
                  <a:tcPr marL="91440" marR="91440" marT="45720" marB="45720">
                    <a:lnR w="9525">
                      <a:solidFill>
                        <a:srgbClr val="BDBCE0"/>
                      </a:solidFill>
                    </a:lnR>
                    <a:lnB w="9525">
                      <a:solidFill>
                        <a:srgbClr val="BDBCE0"/>
                      </a:solidFill>
                    </a:lnB>
                    <a:solidFill>
                      <a:srgbClr val="FFFFFF"/>
                    </a:solidFill>
                  </a:tcPr>
                </a:tc>
              </a:tr>
            </a:tbl>
          </a:graphicData>
        </a:graphic>
      </p:graphicFrame>
      <p:sp>
        <p:nvSpPr>
          <p:cNvPr id="52" name="">
            <a:extLst xmlns:a="http://schemas.openxmlformats.org/drawingml/2006/main">
              <a:ext uri="{FF2B5EF4-FFF2-40B4-BE49-F238E27FC236}">
                <a16:creationId xmlns:a16="http://schemas.microsoft.com/office/drawing/2014/main" id="{51E59361-135C-4D66-9207-43346879CBC6}"/>
              </a:ext>
            </a:extLst>
          </p:cNvPr>
          <p:cNvSpPr>
            <a:spLocks xmlns:a="http://schemas.openxmlformats.org/drawingml/2006/main" noGrp="1"/>
          </p:cNvSpPr>
          <p:nvPr/>
        </p:nvSpPr>
        <p:spPr>
          <a:xfrm xmlns:a="http://schemas.openxmlformats.org/drawingml/2006/main">
            <a:off x="609600" y="4697836"/>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Для параболы с ветвями вверх нулевая производная даёт минимум. Для</a:t>
            </a:r>
          </a:p>
          <a:p xmlns:a="http://schemas.openxmlformats.org/drawingml/2006/main">
            <a:pPr algn="l">
              <a:defRPr sz="2250" b="0">
                <a:solidFill>
                  <a:srgbClr val="111111"/>
                </a:solidFill>
              </a:defRPr>
            </a:pPr>
            <a:r>
              <a:rPr sz="2250" b="0">
                <a:solidFill>
                  <a:srgbClr val="111111"/>
                </a:solidFill>
              </a:rPr>
              <a:t>произвольной функции одного этого условия недостаточно.</a:t>
            </a:r>
          </a:p>
        </p:txBody>
      </p:sp>
    </p:spTree>
    <p:extLst>
      <p:ext uri="{BB962C8B-B14F-4D97-AF65-F5344CB8AC3E}">
        <p14:creationId xmlns:p14="http://schemas.microsoft.com/office/powerpoint/2010/main" val="5771548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D91C363B-9ED8-488C-AF9E-5CC3A57F49A7}"/>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2E6415-6CD8-4EFC-8803-9A115669BBDC}"/>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5C5D8E6F-2D3A-49BC-836A-1EF277207CC6}"/>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9561C765-D2DA-4B47-947B-CB9F08CCD7DC}"/>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D0F80B9F-2423-40BB-BA97-FAD450BAEA3B}"/>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5E574984-A40C-41A0-9316-2EA70A39AD90}"/>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27514FFA-85E5-4354-B74E-7885B38CDAA3}"/>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C7E1B350-4ACC-422A-892D-4C425423457F}"/>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B2035776-1BB9-437E-88CD-C1C03B242A83}"/>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D81E249D-2327-4EC0-9616-C7C51D26B4B7}"/>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1B8F34C8-29C7-4D6E-B9C2-83C48645954A}"/>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8B1C7F55-08B8-4AA3-BC9D-C1B49C9925A1}"/>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E4E997F8-1046-413C-AE15-E899B9F1E7AF}"/>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7B22C121-41A4-4F5B-905A-EE39B2AEE332}"/>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9C4A510D-BD9B-47FD-818A-70DD1385C657}"/>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8CB2C075-D787-4F6B-BA11-461B235F93BC}"/>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CA75A096-2978-4E53-951A-553C70C545C7}"/>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6B70EE2F-0330-4ECC-A0D6-E1D01DED4297}"/>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C307E8C2-1966-4767-9F76-CA3B5E4FE4D6}"/>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27B57498-1555-46F5-8F64-0403B8667C7C}"/>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35D7F93E-F2BB-46AC-AB1C-D63B43BA9FD3}"/>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B128FD54-09C1-428D-BC56-5CE6AC5027CE}"/>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ACC797ED-532D-462A-8619-6956DF00EECF}"/>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FACBD557-4465-41A9-AE53-DFB611CEA73E}"/>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17655DE6-2E99-4F2F-B674-8881A53DD318}"/>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E4D30131-A988-4960-8B98-2AF8D9C8B738}"/>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AA46C487-3D34-4EA1-93C0-64E2F6D892BA}"/>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0FCB2A60-FEBB-4503-BD6D-70F855D6B740}"/>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2AB373A2-0178-4E68-B4C8-307D65A87D7A}"/>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604E0684-9240-4ED7-AA9E-D92E61531049}"/>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7F8864A8-F867-45C8-BD02-5F1E45A93A45}"/>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2C2FFD34-B3FF-4CC8-9747-189511B6FAC2}"/>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53D5041D-C2C2-4B4F-9D44-C4B4CFD128D3}"/>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A65EDAA4-683B-4B51-BF52-D9F878FA49CE}"/>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5A5FAEF8-0AD8-48E8-A0AD-9F45E02C4972}"/>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6BB1F06A-91F6-4750-B649-9E1C4C314351}"/>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03FF0957-A61A-4949-A94B-7068E15EAFAE}"/>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73D6FEB2-66B5-447C-942F-C5D196FBC353}"/>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9F31F139-4A88-4DD1-B2CA-615EB367AB96}"/>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B5448E7F-62E3-4F8E-839F-1C5097B7CB1C}"/>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B3D432B0-2C58-470B-9296-708FB075F6AE}"/>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9F781DD2-BD9A-4901-807E-DD6EE3F43594}"/>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FDA73951-5AE8-4E06-A5D3-FD0848C8B9C7}"/>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CDC4AE9-EF3C-4584-8F9B-6EC4FE3A79DC}"/>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Итерационный поиск минимума</a:t>
            </a:r>
          </a:p>
        </p:txBody>
      </p:sp>
      <p:sp>
        <p:nvSpPr>
          <p:cNvPr id="45" name="">
            <a:extLst xmlns:a="http://schemas.openxmlformats.org/drawingml/2006/main">
              <a:ext uri="{FF2B5EF4-FFF2-40B4-BE49-F238E27FC236}">
                <a16:creationId xmlns:a16="http://schemas.microsoft.com/office/drawing/2014/main" id="{7EFD6F57-A03A-4B90-8CC1-07876863B27B}"/>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CFAB786-B70E-48D9-B062-FAC4A215FDAA}"/>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B8483B6-AEE9-4725-927E-CDE65552E90F}"/>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EA27A63E-29E9-411D-AD7F-41EE80F4F524}"/>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9DE6959F-66F8-40AE-8693-2D6B6905F155}"/>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14 / 37</a:t>
            </a:r>
          </a:p>
        </p:txBody>
      </p:sp>
      <p:sp>
        <p:nvSpPr>
          <p:cNvPr id="50" name="">
            <a:extLst xmlns:a="http://schemas.openxmlformats.org/drawingml/2006/main">
              <a:ext uri="{FF2B5EF4-FFF2-40B4-BE49-F238E27FC236}">
                <a16:creationId xmlns:a16="http://schemas.microsoft.com/office/drawing/2014/main" id="{BBB32223-3E41-4BF4-9458-765CCEC2D4CF}"/>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Начнём с некоторого приближения и будем многократно выполнять одно</a:t>
            </a:r>
          </a:p>
          <a:p xmlns:a="http://schemas.openxmlformats.org/drawingml/2006/main">
            <a:pPr algn="l">
              <a:defRPr sz="2250" b="0">
                <a:solidFill>
                  <a:srgbClr val="111111"/>
                </a:solidFill>
              </a:defRPr>
            </a:pPr>
            <a:r>
              <a:rPr sz="2250" b="0">
                <a:solidFill>
                  <a:srgbClr val="111111"/>
                </a:solidFill>
              </a:rPr>
              <a:t>правило:</a:t>
            </a:r>
          </a:p>
        </p:txBody>
      </p:sp>
      <p:pic>
        <p:nvPicPr>
          <p:cNvPr id="51" name="">
            <a:extLst xmlns:a="http://schemas.openxmlformats.org/drawingml/2006/main">
              <a:ext uri="{FF2B5EF4-FFF2-40B4-BE49-F238E27FC236}">
                <a16:creationId xmlns:a16="http://schemas.microsoft.com/office/drawing/2014/main" id="{F4ED26B6-DBF7-4C04-8740-F33DBE77BCDA}"/>
              </a:ext>
            </a:extLst>
          </p:cNvPr>
          <p:cNvPicPr>
            <a:picLocks xmlns:a="http://schemas.openxmlformats.org/drawingml/2006/main" noChangeAspect="1"/>
          </p:cNvPicPr>
          <p:nvPr/>
        </p:nvPicPr>
        <p:blipFill>
          <a:blip xmlns:r="http://schemas.openxmlformats.org/officeDocument/2006/relationships" xmlns:a="http://schemas.openxmlformats.org/drawingml/2006/main" r:embed="Rf9eb93d0a9654421">
            <a:extLst>
              <a:ext uri="{96DAC541-7B7A-43D3-8B79-37D633B846F1}">
                <asvg:svgBlip xmlns:asvg="http://schemas.microsoft.com/office/drawing/2016/SVG/main" r:embed="Rc38c6d30a5844cc0"/>
              </a:ext>
            </a:extLst>
          </a:blip>
          <a:stretch xmlns:a="http://schemas.openxmlformats.org/drawingml/2006/main"/>
        </p:blipFill>
        <p:spPr>
          <a:xfrm xmlns:a="http://schemas.openxmlformats.org/drawingml/2006/main">
            <a:off x="4333016" y="2703195"/>
            <a:ext cx="3525968" cy="460169"/>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ED48E400-D8F6-4329-AB1B-E1834339EA87}"/>
              </a:ext>
            </a:extLst>
          </p:cNvPr>
          <p:cNvSpPr>
            <a:spLocks xmlns:a="http://schemas.openxmlformats.org/drawingml/2006/main" noGrp="1"/>
          </p:cNvSpPr>
          <p:nvPr/>
        </p:nvSpPr>
        <p:spPr>
          <a:xfrm xmlns:a="http://schemas.openxmlformats.org/drawingml/2006/main">
            <a:off x="609600" y="3391964"/>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Текущее значение задаёт точку вычисления производной. Положительный шаг η</a:t>
            </a:r>
          </a:p>
          <a:p xmlns:a="http://schemas.openxmlformats.org/drawingml/2006/main">
            <a:pPr algn="l">
              <a:defRPr sz="2250" b="0">
                <a:solidFill>
                  <a:srgbClr val="111111"/>
                </a:solidFill>
              </a:defRPr>
            </a:pPr>
            <a:r>
              <a:rPr sz="2250" b="0">
                <a:solidFill>
                  <a:srgbClr val="111111"/>
                </a:solidFill>
              </a:rPr>
              <a:t>определяет величину изменения.</a:t>
            </a:r>
          </a:p>
        </p:txBody>
      </p:sp>
      <p:sp>
        <p:nvSpPr>
          <p:cNvPr id="53" name="">
            <a:extLst xmlns:a="http://schemas.openxmlformats.org/drawingml/2006/main">
              <a:ext uri="{FF2B5EF4-FFF2-40B4-BE49-F238E27FC236}">
                <a16:creationId xmlns:a16="http://schemas.microsoft.com/office/drawing/2014/main" id="{4C533D77-78A8-46D1-B842-B5E2CD6E8AB5}"/>
              </a:ext>
            </a:extLst>
          </p:cNvPr>
          <p:cNvSpPr>
            <a:spLocks xmlns:a="http://schemas.openxmlformats.org/drawingml/2006/main" noGrp="1"/>
          </p:cNvSpPr>
          <p:nvPr/>
        </p:nvSpPr>
        <p:spPr>
          <a:xfrm xmlns:a="http://schemas.openxmlformats.org/drawingml/2006/main">
            <a:off x="609600" y="4352084"/>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Вычитаем производную: при положительном наклоне движемся влево, при</a:t>
            </a:r>
          </a:p>
          <a:p xmlns:a="http://schemas.openxmlformats.org/drawingml/2006/main">
            <a:pPr algn="l">
              <a:defRPr sz="2250" b="0">
                <a:solidFill>
                  <a:srgbClr val="111111"/>
                </a:solidFill>
              </a:defRPr>
            </a:pPr>
            <a:r>
              <a:rPr sz="2250" b="0">
                <a:solidFill>
                  <a:srgbClr val="111111"/>
                </a:solidFill>
              </a:rPr>
              <a:t>отрицательном — вправо. При достаточно малом шаге функция убывает.</a:t>
            </a:r>
          </a:p>
        </p:txBody>
      </p:sp>
    </p:spTree>
    <p:extLst>
      <p:ext uri="{BB962C8B-B14F-4D97-AF65-F5344CB8AC3E}">
        <p14:creationId xmlns:p14="http://schemas.microsoft.com/office/powerpoint/2010/main" val="182171344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1CC6F442-090B-45EA-A3F7-A445FBBFA868}"/>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1CF21C-F93F-4B7D-9C1E-8B66A12FC941}"/>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B33E3830-A517-4FC0-9F8B-89C44DFE9950}"/>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79BB235D-9025-44A9-A7C7-8F6D29BEC6DD}"/>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A48446B7-E1DE-4FB1-9749-353B854CF75C}"/>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83E87689-EE35-4630-BC9F-97C5991DF134}"/>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BC856D0E-7439-48C2-8FDE-5ABDE3C3AFBE}"/>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98B77403-DE7E-49A5-B258-C3FA5F6D19A4}"/>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3F2DCECF-E2F7-47D9-8DE1-F7778BEC0C59}"/>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1B205BF8-D8BD-4D75-9D11-4108C1826E13}"/>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2E8FADB1-E03B-4A10-B83A-D516A44E468F}"/>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46498836-8B4D-498D-9A79-35429179D4CF}"/>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D230FFB5-9721-48C3-9BBC-92678E868D3B}"/>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89402573-B708-4D5E-A993-2743BC9EFFD5}"/>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B241F7A6-C0C1-40B2-8BCC-64EB8C79B0A4}"/>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86E5A11F-77EE-4BF5-A428-B36554C9FA91}"/>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F7B9B45F-7350-4227-88BC-184B4DC3A1E0}"/>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CB0D5103-203D-46BE-9F5B-FACDF1FDE69D}"/>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3D82EA03-5DDD-4E5E-B3B2-03E15A2AA62A}"/>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B9BDAEDF-6828-4B66-9D32-872A079FF391}"/>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1736F9BC-462E-4C76-AC1F-A8F189C8E419}"/>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117B52EE-3782-48C1-81AD-9824596DB097}"/>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3D160440-197F-43EC-89FC-667256C0EEB5}"/>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ABA0E26D-4651-443A-B4FD-CF0AA6B6CF21}"/>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A1FC278D-4209-444D-AE40-40B588A7DA2E}"/>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B4CD3B93-0257-4875-A156-37DB690DD760}"/>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98442DE0-59A9-4A73-874B-B130589A3E56}"/>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1F7B9E2B-596D-4A8E-91B4-D2623B98D033}"/>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99F76253-C67A-49A3-9DEC-E633AEC5D4D7}"/>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64DD0204-6CC8-4199-95FA-08FA24ADF753}"/>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05D6F29B-92E8-422E-B197-18E474B3BC08}"/>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4BA4D2A8-93C7-443E-A190-E4C486EE1B42}"/>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248BC329-574B-4D7E-8D62-23274FB1B9BF}"/>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5D6CDDCC-7028-4ED2-BFE1-2082651AAAB6}"/>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DA2CAF3B-0C5F-4C40-9C2A-285DBA910F05}"/>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B5BEEF7A-083F-490D-AAFF-4ACCA0290EFC}"/>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ABFB3D5A-85B8-4CD7-B7A9-0F61721BDCF5}"/>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58286939-FD2A-45DA-88B1-FB23DF7EB3D7}"/>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9E92BACB-0563-4F3D-B2E3-B3E3843A0F7D}"/>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FB94A1CF-0B18-41C9-A5F2-98FBDE2519A8}"/>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63FE35D4-E2D5-4E26-9D9E-A82767B4EC37}"/>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BBEB8931-1774-4B71-9F1F-D948BFAC50F0}"/>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B75F8396-5711-4EB1-9610-A601A284C224}"/>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858AD60-810E-40B4-B8F4-6B729DE91BD0}"/>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Несколько шагов вручную</a:t>
            </a:r>
          </a:p>
        </p:txBody>
      </p:sp>
      <p:sp>
        <p:nvSpPr>
          <p:cNvPr id="45" name="">
            <a:extLst xmlns:a="http://schemas.openxmlformats.org/drawingml/2006/main">
              <a:ext uri="{FF2B5EF4-FFF2-40B4-BE49-F238E27FC236}">
                <a16:creationId xmlns:a16="http://schemas.microsoft.com/office/drawing/2014/main" id="{B25A63F2-A397-43B9-8902-CD61157F4B76}"/>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C9667641-234D-4B5A-9876-05701C4D0F6B}"/>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E8A28FE-5085-434C-9BE4-8439A55E0A48}"/>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CEC365F0-4A12-47FD-BE22-0035699AA07F}"/>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987E98EC-0161-4986-95F1-2FD9C116FE25}"/>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15 / 37</a:t>
            </a:r>
          </a:p>
        </p:txBody>
      </p:sp>
      <p:pic>
        <p:nvPicPr>
          <p:cNvPr id="50" name="">
            <a:extLst xmlns:a="http://schemas.openxmlformats.org/drawingml/2006/main">
              <a:ext uri="{FF2B5EF4-FFF2-40B4-BE49-F238E27FC236}">
                <a16:creationId xmlns:a16="http://schemas.microsoft.com/office/drawing/2014/main" id="{7BBA81C0-AB6C-4EE6-99F6-45951AA7DB59}"/>
              </a:ext>
            </a:extLst>
          </p:cNvPr>
          <p:cNvPicPr>
            <a:picLocks xmlns:a="http://schemas.openxmlformats.org/drawingml/2006/main" noChangeAspect="1"/>
          </p:cNvPicPr>
          <p:nvPr/>
        </p:nvPicPr>
        <p:blipFill>
          <a:blip xmlns:r="http://schemas.openxmlformats.org/officeDocument/2006/relationships" xmlns:a="http://schemas.openxmlformats.org/drawingml/2006/main" r:embed="R25ded66667b34464">
            <a:extLst>
              <a:ext uri="{96DAC541-7B7A-43D3-8B79-37D633B846F1}">
                <asvg:svgBlip xmlns:asvg="http://schemas.microsoft.com/office/drawing/2016/SVG/main" r:embed="Rfd9ab5c191da4f18"/>
              </a:ext>
            </a:extLst>
          </a:blip>
          <a:stretch xmlns:a="http://schemas.openxmlformats.org/drawingml/2006/main"/>
        </p:blipFill>
        <p:spPr>
          <a:xfrm xmlns:a="http://schemas.openxmlformats.org/drawingml/2006/main">
            <a:off x="2836631" y="1743075"/>
            <a:ext cx="6518738" cy="385241"/>
          </a:xfrm>
          <a:prstGeom xmlns:a="http://schemas.openxmlformats.org/drawingml/2006/main" prst="rect">
            <a:avLst/>
          </a:prstGeom>
        </p:spPr>
      </p:pic>
      <p:graphicFrame>
        <p:nvGraphicFramePr>
          <p:cNvPr id="51" name="">
            <a:extLst xmlns:a="http://schemas.openxmlformats.org/drawingml/2006/main">
              <a:ext uri="{FF2B5EF4-FFF2-40B4-BE49-F238E27FC236}">
                <a16:creationId xmlns:a16="http://schemas.microsoft.com/office/drawing/2014/main" id="{F6F69CBA-8967-40F9-A099-4F5169ABBB3F}"/>
              </a:ext>
            </a:extLst>
          </p:cNvPr>
          <p:cNvGraphicFramePr/>
          <p:nvPr/>
        </p:nvGraphicFramePr>
        <p:xfrm>
          <a:off xmlns:a="http://schemas.openxmlformats.org/drawingml/2006/main" x="609600" y="2356916"/>
          <a:ext xmlns:a="http://schemas.openxmlformats.org/drawingml/2006/main" cx="10972800" cy="2057400"/>
        </p:xfrm>
        <a:graphic xmlns:a="http://schemas.openxmlformats.org/drawingml/2006/main">
          <a:graphicData uri="http://schemas.openxmlformats.org/drawingml/2006/table">
            <a:tbl>
              <a:tblPr/>
              <a:tblGrid>
                <a:gridCol w="2743200"/>
                <a:gridCol w="2743200"/>
                <a:gridCol w="2743200"/>
                <a:gridCol w="2743200"/>
              </a:tblGrid>
              <a:tr h="514350">
                <a:tc>
                  <a:txBody>
                    <a:bodyPr/>
                    <a:lstStyle/>
                    <a:p>
                      <a:r>
                        <a:rPr sz="1875" b="1">
                          <a:solidFill>
                            <a:srgbClr val="111111"/>
                          </a:solidFill>
                        </a:rPr>
                        <a:t>k</a:t>
                      </a:r>
                    </a:p>
                  </a:txBody>
                  <a:tcPr marL="91440" marR="91440" marT="45720" marB="45720">
                    <a:lnL w="9525">
                      <a:solidFill>
                        <a:srgbClr val="BDBCE0"/>
                      </a:solidFill>
                    </a:lnL>
                    <a:lnR w="9525">
                      <a:solidFill>
                        <a:srgbClr val="BDBCE0"/>
                      </a:solidFill>
                    </a:lnR>
                    <a:lnT w="9525">
                      <a:solidFill>
                        <a:srgbClr val="BDBCE0"/>
                      </a:solidFill>
                    </a:lnT>
                    <a:lnB w="9525">
                      <a:solidFill>
                        <a:srgbClr val="BDBCE0"/>
                      </a:solidFill>
                    </a:lnB>
                    <a:solidFill>
                      <a:srgbClr val="EAE9F8"/>
                    </a:solidFill>
                  </a:tcPr>
                </a:tc>
                <a:tc>
                  <a:txBody>
                    <a:bodyPr/>
                    <a:lstStyle/>
                    <a:p>
                      <a:r>
                        <a:rPr sz="1875" b="1">
                          <a:solidFill>
                            <a:srgbClr val="111111"/>
                          </a:solidFill>
                        </a:rPr>
                        <a:t>Текущее значение</a:t>
                      </a:r>
                    </a:p>
                  </a:txBody>
                  <a:tcPr marL="91440" marR="91440" marT="45720" marB="45720">
                    <a:lnR w="9525">
                      <a:solidFill>
                        <a:srgbClr val="BDBCE0"/>
                      </a:solidFill>
                    </a:lnR>
                    <a:lnT w="9525">
                      <a:solidFill>
                        <a:srgbClr val="BDBCE0"/>
                      </a:solidFill>
                    </a:lnT>
                    <a:lnB w="9525">
                      <a:solidFill>
                        <a:srgbClr val="BDBCE0"/>
                      </a:solidFill>
                    </a:lnB>
                    <a:solidFill>
                      <a:srgbClr val="EAE9F8"/>
                    </a:solidFill>
                  </a:tcPr>
                </a:tc>
                <a:tc>
                  <a:txBody>
                    <a:bodyPr/>
                    <a:lstStyle/>
                    <a:p>
                      <a:r>
                        <a:rPr sz="1875" b="1">
                          <a:solidFill>
                            <a:srgbClr val="111111"/>
                          </a:solidFill>
                        </a:rPr>
                        <a:t>Производная</a:t>
                      </a:r>
                    </a:p>
                  </a:txBody>
                  <a:tcPr marL="91440" marR="91440" marT="45720" marB="45720">
                    <a:lnR w="9525">
                      <a:solidFill>
                        <a:srgbClr val="BDBCE0"/>
                      </a:solidFill>
                    </a:lnR>
                    <a:lnT w="9525">
                      <a:solidFill>
                        <a:srgbClr val="BDBCE0"/>
                      </a:solidFill>
                    </a:lnT>
                    <a:lnB w="9525">
                      <a:solidFill>
                        <a:srgbClr val="BDBCE0"/>
                      </a:solidFill>
                    </a:lnB>
                    <a:solidFill>
                      <a:srgbClr val="EAE9F8"/>
                    </a:solidFill>
                  </a:tcPr>
                </a:tc>
                <a:tc>
                  <a:txBody>
                    <a:bodyPr/>
                    <a:lstStyle/>
                    <a:p>
                      <a:r>
                        <a:rPr sz="1875" b="1">
                          <a:solidFill>
                            <a:srgbClr val="111111"/>
                          </a:solidFill>
                        </a:rPr>
                        <a:t>Следующее значение</a:t>
                      </a:r>
                    </a:p>
                  </a:txBody>
                  <a:tcPr marL="91440" marR="91440" marT="45720" marB="45720">
                    <a:lnR w="9525">
                      <a:solidFill>
                        <a:srgbClr val="BDBCE0"/>
                      </a:solidFill>
                    </a:lnR>
                    <a:lnT w="9525">
                      <a:solidFill>
                        <a:srgbClr val="BDBCE0"/>
                      </a:solidFill>
                    </a:lnT>
                    <a:lnB w="9525">
                      <a:solidFill>
                        <a:srgbClr val="BDBCE0"/>
                      </a:solidFill>
                    </a:lnB>
                    <a:solidFill>
                      <a:srgbClr val="EAE9F8"/>
                    </a:solidFill>
                  </a:tcPr>
                </a:tc>
              </a:tr>
              <a:tr h="514350">
                <a:tc>
                  <a:txBody>
                    <a:bodyPr/>
                    <a:lstStyle/>
                    <a:p>
                      <a:r>
                        <a:rPr sz="1875" b="0">
                          <a:solidFill>
                            <a:srgbClr val="111111"/>
                          </a:solidFill>
                        </a:rPr>
                        <a:t>0</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0</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−6</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1,5</a:t>
                      </a:r>
                    </a:p>
                  </a:txBody>
                  <a:tcPr marL="91440" marR="91440" marT="45720" marB="45720">
                    <a:lnR w="9525">
                      <a:solidFill>
                        <a:srgbClr val="BDBCE0"/>
                      </a:solidFill>
                    </a:lnR>
                    <a:lnB w="9525">
                      <a:solidFill>
                        <a:srgbClr val="BDBCE0"/>
                      </a:solidFill>
                    </a:lnB>
                    <a:solidFill>
                      <a:srgbClr val="FFFFFF"/>
                    </a:solidFill>
                  </a:tcPr>
                </a:tc>
              </a:tr>
              <a:tr h="514350">
                <a:tc>
                  <a:txBody>
                    <a:bodyPr/>
                    <a:lstStyle/>
                    <a:p>
                      <a:r>
                        <a:rPr sz="1875" b="0">
                          <a:solidFill>
                            <a:srgbClr val="111111"/>
                          </a:solidFill>
                        </a:rPr>
                        <a:t>1</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1,5</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−3</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2,25</a:t>
                      </a:r>
                    </a:p>
                  </a:txBody>
                  <a:tcPr marL="91440" marR="91440" marT="45720" marB="45720">
                    <a:lnR w="9525">
                      <a:solidFill>
                        <a:srgbClr val="BDBCE0"/>
                      </a:solidFill>
                    </a:lnR>
                    <a:lnB w="9525">
                      <a:solidFill>
                        <a:srgbClr val="BDBCE0"/>
                      </a:solidFill>
                    </a:lnB>
                    <a:solidFill>
                      <a:srgbClr val="FFFFFF"/>
                    </a:solidFill>
                  </a:tcPr>
                </a:tc>
              </a:tr>
              <a:tr h="514350">
                <a:tc>
                  <a:txBody>
                    <a:bodyPr/>
                    <a:lstStyle/>
                    <a:p>
                      <a:r>
                        <a:rPr sz="1875" b="0">
                          <a:solidFill>
                            <a:srgbClr val="111111"/>
                          </a:solidFill>
                        </a:rPr>
                        <a:t>2</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2,25</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−1,5</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a:t>
                      </a:r>
                    </a:p>
                  </a:txBody>
                  <a:tcPr marL="91440" marR="91440" marT="45720" marB="45720">
                    <a:lnR w="9525">
                      <a:solidFill>
                        <a:srgbClr val="BDBCE0"/>
                      </a:solidFill>
                    </a:lnR>
                    <a:lnB w="9525">
                      <a:solidFill>
                        <a:srgbClr val="BDBCE0"/>
                      </a:solidFill>
                    </a:lnB>
                    <a:solidFill>
                      <a:srgbClr val="FFFFFF"/>
                    </a:solidFill>
                  </a:tcPr>
                </a:tc>
              </a:tr>
            </a:tbl>
          </a:graphicData>
        </a:graphic>
      </p:graphicFrame>
      <p:sp>
        <p:nvSpPr>
          <p:cNvPr id="52" name="">
            <a:extLst xmlns:a="http://schemas.openxmlformats.org/drawingml/2006/main">
              <a:ext uri="{FF2B5EF4-FFF2-40B4-BE49-F238E27FC236}">
                <a16:creationId xmlns:a16="http://schemas.microsoft.com/office/drawing/2014/main" id="{2E234156-DC34-4E7F-9AE7-AA5AC4BF6FBE}"/>
              </a:ext>
            </a:extLst>
          </p:cNvPr>
          <p:cNvSpPr>
            <a:spLocks xmlns:a="http://schemas.openxmlformats.org/drawingml/2006/main" noGrp="1"/>
          </p:cNvSpPr>
          <p:nvPr/>
        </p:nvSpPr>
        <p:spPr>
          <a:xfrm xmlns:a="http://schemas.openxmlformats.org/drawingml/2006/main">
            <a:off x="609600" y="4642916"/>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Заполните пропуск и вычислите ещё одну итерацию. Сравните расстояния до</a:t>
            </a:r>
          </a:p>
          <a:p xmlns:a="http://schemas.openxmlformats.org/drawingml/2006/main">
            <a:pPr algn="l">
              <a:defRPr sz="2250" b="0">
                <a:solidFill>
                  <a:srgbClr val="111111"/>
                </a:solidFill>
              </a:defRPr>
            </a:pPr>
            <a:r>
              <a:rPr sz="2250" b="0">
                <a:solidFill>
                  <a:srgbClr val="111111"/>
                </a:solidFill>
              </a:rPr>
              <a:t>точки минимума на соседних шагах.</a:t>
            </a:r>
          </a:p>
        </p:txBody>
      </p:sp>
    </p:spTree>
    <p:extLst>
      <p:ext uri="{BB962C8B-B14F-4D97-AF65-F5344CB8AC3E}">
        <p14:creationId xmlns:p14="http://schemas.microsoft.com/office/powerpoint/2010/main" val="18191598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599D321B-ED2F-402B-AE3E-107B288798A3}"/>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32CC8B-7242-43D3-A585-71BB7EC845F7}"/>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084A78C5-2215-4EC1-BD15-CE99CCC18840}"/>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39A531BD-421F-4D05-A993-95B83B8E525E}"/>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D5000C52-94EE-45DB-8736-875F90CEF51F}"/>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5670EE61-AD74-4CA8-9D71-F68FD4E4EBBF}"/>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EB36E534-0C2A-48C9-8A1F-378F31BEFD2C}"/>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8B718CE4-2480-4282-B3AB-EAAB446FF7AF}"/>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7575CBC6-2EE8-4F9B-880C-731258D1274E}"/>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9931A342-4444-4344-9CA8-A804C96590A6}"/>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8C3F7F8F-1793-48CC-A149-F5DACC7662D6}"/>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05FF1784-545B-4BDB-9E10-DE8A5008DCD0}"/>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89640AE6-C1C6-45EB-A89F-7D923E4EC9FC}"/>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495608FD-F3C8-4164-A1ED-08D1494562C4}"/>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39205845-83E6-4ED4-A04B-6005AED8BE1D}"/>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137FE965-33F3-4D76-BA9E-F9DAFDE3210E}"/>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9A350A58-7A6B-4725-8B74-49362E734BA8}"/>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3820F70C-4EBA-4F07-AA64-C170B48E1686}"/>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2776714A-1CDB-40FF-9FFC-CC594FA0997F}"/>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195ECC5E-4EF8-4B27-ABF9-9FFC555C70CB}"/>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1409ABB6-054D-489E-BA57-7E9E89D7AD38}"/>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B729CC56-F872-4271-AF96-5E17C6F41E9F}"/>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FDED34EE-D69B-43B5-B1D7-0DAAFC0641C3}"/>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4F1339F4-1A11-47D7-A8BB-262DBD00FCCD}"/>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468EC779-1A31-4F34-B819-BBB07D9822F8}"/>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CFA8115D-0F1C-45AD-85CE-BC14D706764E}"/>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7B5B4313-F128-452C-B363-7C7A291188CF}"/>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3555D769-91DA-406F-BF64-10A21479E34A}"/>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4AF2E7B5-93DD-4E5E-AC84-E932333BCCA5}"/>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699AF3FF-BC5B-4A6D-B2EA-21BF75062DEA}"/>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D9CC23E7-C7EC-470E-9399-6D4DCE254767}"/>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32A7CD02-4B79-4C61-99BD-09796B69E54B}"/>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62AD4A1D-9126-4F93-ADD2-9858146430F7}"/>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A72129CB-7C4F-48A3-AF2C-6859C69160FC}"/>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B63B6837-32B3-4CB0-BBD3-82E370B8EFAB}"/>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D06737BA-28D3-4E8D-B435-050685A1AD57}"/>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19AFBE45-FB31-46D3-B35E-54B3C2BFD243}"/>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4C3EEED5-E72E-4841-9120-10E2703B5EDF}"/>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6AC2F03D-F4D6-44E1-B784-679EEB79975D}"/>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3E7435B1-B1C2-4A51-AAC4-A34750434DDE}"/>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1E09D09D-C357-4149-BA09-E2901D850E90}"/>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5DE7E8A7-DDDD-4850-8165-397C55BE140D}"/>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946059E4-89B7-4C60-A5DC-61CED7269724}"/>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99885D0-121B-4091-AE78-98DFAB9613E4}"/>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Как шаг влияет на сходимость</a:t>
            </a:r>
          </a:p>
        </p:txBody>
      </p:sp>
      <p:sp>
        <p:nvSpPr>
          <p:cNvPr id="45" name="">
            <a:extLst xmlns:a="http://schemas.openxmlformats.org/drawingml/2006/main">
              <a:ext uri="{FF2B5EF4-FFF2-40B4-BE49-F238E27FC236}">
                <a16:creationId xmlns:a16="http://schemas.microsoft.com/office/drawing/2014/main" id="{FEB179EB-1208-4C95-996D-00FE715623C5}"/>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B7F6F95-BD99-41D3-9096-9DA26A9B4E90}"/>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A56530EC-4FCB-4A89-B4FB-AEDB55E8FE36}"/>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283F09E7-9EE9-4AC7-A3ED-BF04139B02F2}"/>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C8695646-2678-4E31-BA36-24E23140F849}"/>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16 / 37</a:t>
            </a:r>
          </a:p>
        </p:txBody>
      </p:sp>
      <p:sp>
        <p:nvSpPr>
          <p:cNvPr id="50" name="">
            <a:extLst xmlns:a="http://schemas.openxmlformats.org/drawingml/2006/main">
              <a:ext uri="{FF2B5EF4-FFF2-40B4-BE49-F238E27FC236}">
                <a16:creationId xmlns:a16="http://schemas.microsoft.com/office/drawing/2014/main" id="{E809BA54-9FD4-40B9-AFFE-9AD66EE21D8B}"/>
              </a:ext>
            </a:extLst>
          </p:cNvPr>
          <p:cNvSpPr>
            <a:spLocks xmlns:a="http://schemas.openxmlformats.org/drawingml/2006/main" noGrp="1"/>
          </p:cNvSpPr>
          <p:nvPr/>
        </p:nvSpPr>
        <p:spPr>
          <a:xfrm xmlns:a="http://schemas.openxmlformats.org/drawingml/2006/main">
            <a:off x="609600" y="1743075"/>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Для нашей параболы расстояние до минимума меняется по простому правилу:</a:t>
            </a:r>
          </a:p>
        </p:txBody>
      </p:sp>
      <p:pic>
        <p:nvPicPr>
          <p:cNvPr id="51" name="">
            <a:extLst xmlns:a="http://schemas.openxmlformats.org/drawingml/2006/main">
              <a:ext uri="{FF2B5EF4-FFF2-40B4-BE49-F238E27FC236}">
                <a16:creationId xmlns:a16="http://schemas.microsoft.com/office/drawing/2014/main" id="{FCFA17FA-4E0C-46E7-B9C1-C6465B7FF6FC}"/>
              </a:ext>
            </a:extLst>
          </p:cNvPr>
          <p:cNvPicPr>
            <a:picLocks xmlns:a="http://schemas.openxmlformats.org/drawingml/2006/main" noChangeAspect="1"/>
          </p:cNvPicPr>
          <p:nvPr/>
        </p:nvPicPr>
        <p:blipFill>
          <a:blip xmlns:r="http://schemas.openxmlformats.org/officeDocument/2006/relationships" xmlns:a="http://schemas.openxmlformats.org/drawingml/2006/main" r:embed="R0b0c7f46fc0b4a29">
            <a:extLst>
              <a:ext uri="{96DAC541-7B7A-43D3-8B79-37D633B846F1}">
                <asvg:svgBlip xmlns:asvg="http://schemas.microsoft.com/office/drawing/2016/SVG/main" r:embed="R8f0c054d5ee1410a"/>
              </a:ext>
            </a:extLst>
          </a:blip>
          <a:stretch xmlns:a="http://schemas.openxmlformats.org/drawingml/2006/main"/>
        </p:blipFill>
        <p:spPr>
          <a:xfrm xmlns:a="http://schemas.openxmlformats.org/drawingml/2006/main">
            <a:off x="3823112" y="2337435"/>
            <a:ext cx="4545776" cy="389066"/>
          </a:xfrm>
          <a:prstGeom xmlns:a="http://schemas.openxmlformats.org/drawingml/2006/main" prst="rect">
            <a:avLst/>
          </a:prstGeom>
        </p:spPr>
      </p:pic>
      <p:graphicFrame>
        <p:nvGraphicFramePr>
          <p:cNvPr id="52" name="">
            <a:extLst xmlns:a="http://schemas.openxmlformats.org/drawingml/2006/main">
              <a:ext uri="{FF2B5EF4-FFF2-40B4-BE49-F238E27FC236}">
                <a16:creationId xmlns:a16="http://schemas.microsoft.com/office/drawing/2014/main" id="{871EBCA3-01DC-456A-82CD-FA2426AE47D6}"/>
              </a:ext>
            </a:extLst>
          </p:cNvPr>
          <p:cNvGraphicFramePr/>
          <p:nvPr/>
        </p:nvGraphicFramePr>
        <p:xfrm>
          <a:off xmlns:a="http://schemas.openxmlformats.org/drawingml/2006/main" x="609600" y="2955101"/>
          <a:ext xmlns:a="http://schemas.openxmlformats.org/drawingml/2006/main" cx="10972800" cy="2571750"/>
        </p:xfrm>
        <a:graphic xmlns:a="http://schemas.openxmlformats.org/drawingml/2006/main">
          <a:graphicData uri="http://schemas.openxmlformats.org/drawingml/2006/table">
            <a:tbl>
              <a:tblPr/>
              <a:tblGrid>
                <a:gridCol w="3657600"/>
                <a:gridCol w="3657600"/>
                <a:gridCol w="3657600"/>
              </a:tblGrid>
              <a:tr h="514350">
                <a:tc>
                  <a:txBody>
                    <a:bodyPr/>
                    <a:lstStyle/>
                    <a:p>
                      <a:r>
                        <a:rPr sz="1875" b="1">
                          <a:solidFill>
                            <a:srgbClr val="111111"/>
                          </a:solidFill>
                        </a:rPr>
                        <a:t>Шаг η</a:t>
                      </a:r>
                    </a:p>
                  </a:txBody>
                  <a:tcPr marL="91440" marR="91440" marT="45720" marB="45720">
                    <a:lnL w="9525">
                      <a:solidFill>
                        <a:srgbClr val="BDBCE0"/>
                      </a:solidFill>
                    </a:lnL>
                    <a:lnR w="9525">
                      <a:solidFill>
                        <a:srgbClr val="BDBCE0"/>
                      </a:solidFill>
                    </a:lnR>
                    <a:lnT w="9525">
                      <a:solidFill>
                        <a:srgbClr val="BDBCE0"/>
                      </a:solidFill>
                    </a:lnT>
                    <a:lnB w="9525">
                      <a:solidFill>
                        <a:srgbClr val="BDBCE0"/>
                      </a:solidFill>
                    </a:lnB>
                    <a:solidFill>
                      <a:srgbClr val="EAE9F8"/>
                    </a:solidFill>
                  </a:tcPr>
                </a:tc>
                <a:tc>
                  <a:txBody>
                    <a:bodyPr/>
                    <a:lstStyle/>
                    <a:p>
                      <a:r>
                        <a:rPr sz="1875" b="1">
                          <a:solidFill>
                            <a:srgbClr val="111111"/>
                          </a:solidFill>
                        </a:rPr>
                        <a:t>Множитель</a:t>
                      </a:r>
                    </a:p>
                  </a:txBody>
                  <a:tcPr marL="91440" marR="91440" marT="45720" marB="45720">
                    <a:lnR w="9525">
                      <a:solidFill>
                        <a:srgbClr val="BDBCE0"/>
                      </a:solidFill>
                    </a:lnR>
                    <a:lnT w="9525">
                      <a:solidFill>
                        <a:srgbClr val="BDBCE0"/>
                      </a:solidFill>
                    </a:lnT>
                    <a:lnB w="9525">
                      <a:solidFill>
                        <a:srgbClr val="BDBCE0"/>
                      </a:solidFill>
                    </a:lnB>
                    <a:solidFill>
                      <a:srgbClr val="EAE9F8"/>
                    </a:solidFill>
                  </a:tcPr>
                </a:tc>
                <a:tc>
                  <a:txBody>
                    <a:bodyPr/>
                    <a:lstStyle/>
                    <a:p>
                      <a:r>
                        <a:rPr sz="1875" b="1">
                          <a:solidFill>
                            <a:srgbClr val="111111"/>
                          </a:solidFill>
                        </a:rPr>
                        <a:t>Поведение из нуля</a:t>
                      </a:r>
                    </a:p>
                  </a:txBody>
                  <a:tcPr marL="91440" marR="91440" marT="45720" marB="45720">
                    <a:lnR w="9525">
                      <a:solidFill>
                        <a:srgbClr val="BDBCE0"/>
                      </a:solidFill>
                    </a:lnR>
                    <a:lnT w="9525">
                      <a:solidFill>
                        <a:srgbClr val="BDBCE0"/>
                      </a:solidFill>
                    </a:lnT>
                    <a:lnB w="9525">
                      <a:solidFill>
                        <a:srgbClr val="BDBCE0"/>
                      </a:solidFill>
                    </a:lnB>
                    <a:solidFill>
                      <a:srgbClr val="EAE9F8"/>
                    </a:solidFill>
                  </a:tcPr>
                </a:tc>
              </a:tr>
              <a:tr h="514350">
                <a:tc>
                  <a:txBody>
                    <a:bodyPr/>
                    <a:lstStyle/>
                    <a:p>
                      <a:r>
                        <a:rPr sz="1875" b="0">
                          <a:solidFill>
                            <a:srgbClr val="111111"/>
                          </a:solidFill>
                        </a:rPr>
                        <a:t>0,1</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0,8</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Медленная сходимость</a:t>
                      </a:r>
                    </a:p>
                  </a:txBody>
                  <a:tcPr marL="91440" marR="91440" marT="45720" marB="45720">
                    <a:lnR w="9525">
                      <a:solidFill>
                        <a:srgbClr val="BDBCE0"/>
                      </a:solidFill>
                    </a:lnR>
                    <a:lnB w="9525">
                      <a:solidFill>
                        <a:srgbClr val="BDBCE0"/>
                      </a:solidFill>
                    </a:lnB>
                    <a:solidFill>
                      <a:srgbClr val="FFFFFF"/>
                    </a:solidFill>
                  </a:tcPr>
                </a:tc>
              </a:tr>
              <a:tr h="514350">
                <a:tc>
                  <a:txBody>
                    <a:bodyPr/>
                    <a:lstStyle/>
                    <a:p>
                      <a:r>
                        <a:rPr sz="1875" b="0">
                          <a:solidFill>
                            <a:srgbClr val="111111"/>
                          </a:solidFill>
                        </a:rPr>
                        <a:t>0,75</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−0,5</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Затухающие колебания</a:t>
                      </a:r>
                    </a:p>
                  </a:txBody>
                  <a:tcPr marL="91440" marR="91440" marT="45720" marB="45720">
                    <a:lnR w="9525">
                      <a:solidFill>
                        <a:srgbClr val="BDBCE0"/>
                      </a:solidFill>
                    </a:lnR>
                    <a:lnB w="9525">
                      <a:solidFill>
                        <a:srgbClr val="BDBCE0"/>
                      </a:solidFill>
                    </a:lnB>
                    <a:solidFill>
                      <a:srgbClr val="FFFFFF"/>
                    </a:solidFill>
                  </a:tcPr>
                </a:tc>
              </a:tr>
              <a:tr h="514350">
                <a:tc>
                  <a:txBody>
                    <a:bodyPr/>
                    <a:lstStyle/>
                    <a:p>
                      <a:r>
                        <a:rPr sz="1875" b="0">
                          <a:solidFill>
                            <a:srgbClr val="111111"/>
                          </a:solidFill>
                        </a:rPr>
                        <a:t>1</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−1</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Постоянные колебания</a:t>
                      </a:r>
                    </a:p>
                  </a:txBody>
                  <a:tcPr marL="91440" marR="91440" marT="45720" marB="45720">
                    <a:lnR w="9525">
                      <a:solidFill>
                        <a:srgbClr val="BDBCE0"/>
                      </a:solidFill>
                    </a:lnR>
                    <a:lnB w="9525">
                      <a:solidFill>
                        <a:srgbClr val="BDBCE0"/>
                      </a:solidFill>
                    </a:lnB>
                    <a:solidFill>
                      <a:srgbClr val="FFFFFF"/>
                    </a:solidFill>
                  </a:tcPr>
                </a:tc>
              </a:tr>
              <a:tr h="514350">
                <a:tc>
                  <a:txBody>
                    <a:bodyPr/>
                    <a:lstStyle/>
                    <a:p>
                      <a:r>
                        <a:rPr sz="1875" b="0">
                          <a:solidFill>
                            <a:srgbClr val="111111"/>
                          </a:solidFill>
                        </a:rPr>
                        <a:t>1,1</a:t>
                      </a:r>
                    </a:p>
                  </a:txBody>
                  <a:tcPr marL="91440" marR="91440" marT="45720" marB="45720">
                    <a:lnL w="9525">
                      <a:solidFill>
                        <a:srgbClr val="BDBCE0"/>
                      </a:solidFill>
                    </a:lnL>
                    <a:lnR w="9525">
                      <a:solidFill>
                        <a:srgbClr val="BDBCE0"/>
                      </a:solidFill>
                    </a:lnR>
                    <a:lnB w="9525">
                      <a:solidFill>
                        <a:srgbClr val="BDBCE0"/>
                      </a:solidFill>
                    </a:lnB>
                    <a:solidFill>
                      <a:srgbClr val="FFFFFF"/>
                    </a:solidFill>
                  </a:tcPr>
                </a:tc>
                <a:tc>
                  <a:txBody>
                    <a:bodyPr/>
                    <a:lstStyle/>
                    <a:p>
                      <a:r>
                        <a:rPr sz="1875" b="0">
                          <a:solidFill>
                            <a:srgbClr val="111111"/>
                          </a:solidFill>
                        </a:rPr>
                        <a:t>−1,2</a:t>
                      </a:r>
                    </a:p>
                  </a:txBody>
                  <a:tcPr marL="91440" marR="91440" marT="45720" marB="45720">
                    <a:lnR w="9525">
                      <a:solidFill>
                        <a:srgbClr val="BDBCE0"/>
                      </a:solidFill>
                    </a:lnR>
                    <a:lnB w="9525">
                      <a:solidFill>
                        <a:srgbClr val="BDBCE0"/>
                      </a:solidFill>
                    </a:lnB>
                    <a:solidFill>
                      <a:srgbClr val="FFFFFF"/>
                    </a:solidFill>
                  </a:tcPr>
                </a:tc>
                <a:tc>
                  <a:txBody>
                    <a:bodyPr/>
                    <a:lstStyle/>
                    <a:p>
                      <a:r>
                        <a:rPr sz="1875" b="0">
                          <a:solidFill>
                            <a:srgbClr val="111111"/>
                          </a:solidFill>
                        </a:rPr>
                        <a:t>Расходимость</a:t>
                      </a:r>
                    </a:p>
                  </a:txBody>
                  <a:tcPr marL="91440" marR="91440" marT="45720" marB="45720">
                    <a:lnR w="9525">
                      <a:solidFill>
                        <a:srgbClr val="BDBCE0"/>
                      </a:solidFill>
                    </a:lnR>
                    <a:lnB w="9525">
                      <a:solidFill>
                        <a:srgbClr val="BDBCE0"/>
                      </a:solidFill>
                    </a:lnB>
                    <a:solidFill>
                      <a:srgbClr val="FFFFFF"/>
                    </a:solidFill>
                  </a:tcPr>
                </a:tc>
              </a:tr>
            </a:tbl>
          </a:graphicData>
        </a:graphic>
      </p:graphicFrame>
      <p:sp>
        <p:nvSpPr>
          <p:cNvPr id="53" name="">
            <a:extLst xmlns:a="http://schemas.openxmlformats.org/drawingml/2006/main">
              <a:ext uri="{FF2B5EF4-FFF2-40B4-BE49-F238E27FC236}">
                <a16:creationId xmlns:a16="http://schemas.microsoft.com/office/drawing/2014/main" id="{971A88C3-46CB-4A52-AF83-B8E7E2DE3B35}"/>
              </a:ext>
            </a:extLst>
          </p:cNvPr>
          <p:cNvSpPr>
            <a:spLocks xmlns:a="http://schemas.openxmlformats.org/drawingml/2006/main" noGrp="1"/>
          </p:cNvSpPr>
          <p:nvPr/>
        </p:nvSpPr>
        <p:spPr>
          <a:xfrm xmlns:a="http://schemas.openxmlformats.org/drawingml/2006/main">
            <a:off x="609600" y="5755451"/>
            <a:ext cx="10972800" cy="7071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111111"/>
                </a:solidFill>
              </a:defRPr>
            </a:defPPr>
            <a:lvl1pPr algn="l">
              <a:defRPr sz="2175" b="0">
                <a:solidFill>
                  <a:srgbClr val="111111"/>
                </a:solidFill>
              </a:defRPr>
            </a:lvl1pPr>
            <a:lvl2pPr algn="l">
              <a:defRPr sz="2175" b="0">
                <a:solidFill>
                  <a:srgbClr val="111111"/>
                </a:solidFill>
              </a:defRPr>
            </a:lvl2pPr>
            <a:lvl3pPr algn="l">
              <a:defRPr sz="2175" b="0">
                <a:solidFill>
                  <a:srgbClr val="111111"/>
                </a:solidFill>
              </a:defRPr>
            </a:lvl3pPr>
            <a:lvl4pPr algn="l">
              <a:defRPr sz="2175" b="0">
                <a:solidFill>
                  <a:srgbClr val="111111"/>
                </a:solidFill>
              </a:defRPr>
            </a:lvl4pPr>
            <a:lvl5pPr algn="l">
              <a:defRPr sz="2175" b="0">
                <a:solidFill>
                  <a:srgbClr val="111111"/>
                </a:solidFill>
              </a:defRPr>
            </a:lvl5pPr>
            <a:lvl6pPr algn="l">
              <a:defRPr sz="2175" b="0">
                <a:solidFill>
                  <a:srgbClr val="111111"/>
                </a:solidFill>
              </a:defRPr>
            </a:lvl6pPr>
            <a:lvl7pPr algn="l">
              <a:defRPr sz="2175" b="0">
                <a:solidFill>
                  <a:srgbClr val="111111"/>
                </a:solidFill>
              </a:defRPr>
            </a:lvl7pPr>
            <a:lvl8pPr algn="l">
              <a:defRPr sz="2175" b="0">
                <a:solidFill>
                  <a:srgbClr val="111111"/>
                </a:solidFill>
              </a:defRPr>
            </a:lvl8pPr>
            <a:lvl9pPr algn="l">
              <a:defRPr sz="2175" b="0">
                <a:solidFill>
                  <a:srgbClr val="111111"/>
                </a:solidFill>
              </a:defRPr>
            </a:lvl9pPr>
          </a:lstStyle>
          <a:p xmlns:a="http://schemas.openxmlformats.org/drawingml/2006/main">
            <a:pPr algn="l">
              <a:defRPr sz="2175" b="0">
                <a:solidFill>
                  <a:srgbClr val="111111"/>
                </a:solidFill>
              </a:defRPr>
            </a:pPr>
            <a:r>
              <a:rPr sz="2175" b="0">
                <a:solidFill>
                  <a:srgbClr val="111111"/>
                </a:solidFill>
              </a:rPr>
              <a:t>Для сходимости из любой начальной точки модуль множителя должен быть</a:t>
            </a:r>
          </a:p>
          <a:p xmlns:a="http://schemas.openxmlformats.org/drawingml/2006/main">
            <a:pPr algn="l">
              <a:defRPr sz="2175" b="0">
                <a:solidFill>
                  <a:srgbClr val="111111"/>
                </a:solidFill>
              </a:defRPr>
            </a:pPr>
            <a:r>
              <a:rPr sz="2175" b="0">
                <a:solidFill>
                  <a:srgbClr val="111111"/>
                </a:solidFill>
              </a:rPr>
              <a:t>меньше единицы. Здесь это означает 0 &lt; η &lt; 1.</a:t>
            </a:r>
          </a:p>
        </p:txBody>
      </p:sp>
    </p:spTree>
    <p:extLst>
      <p:ext uri="{BB962C8B-B14F-4D97-AF65-F5344CB8AC3E}">
        <p14:creationId xmlns:p14="http://schemas.microsoft.com/office/powerpoint/2010/main" val="1272231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EEBEDA64-A1EC-4BA4-AE1E-8E551E05F20B}"/>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0DABE2-189B-4615-9AF0-F0A9670F7C00}"/>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4B58F653-3D24-42EB-862D-ABB2B043DC91}"/>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0A2A3DC1-48D1-4CE5-9FD6-E9C126649E10}"/>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918D5FA2-5D26-4E99-B23E-18B20A7CB775}"/>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2D51EF81-B7A4-460C-BD19-F1E13D5B492B}"/>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0005FC6F-87B4-456B-BEAF-BE1D876789E4}"/>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955DEA7C-C9D2-455D-9C5E-1B1F7451EDA1}"/>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D6071877-0422-4688-81DA-8F387E9CF5CA}"/>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7739ED40-FAEB-4CF0-8D4E-39ACD7D0C5F9}"/>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005173AD-F45D-402A-8BFF-4589F7CA2376}"/>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32461BDB-45AD-4467-8AC2-9857A534D357}"/>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0AE67B8F-9FD9-42A1-A98B-7EB113DF53FE}"/>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C72BF120-2453-43F7-807F-7A0E06037CDE}"/>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1227642E-7ECD-499F-9667-92CF3E62B270}"/>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B2085264-3D38-46AA-99C8-D07A06F534DB}"/>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2564137C-2081-4448-9191-6EF267B9B32F}"/>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1598594D-AF99-4C68-8216-710117B044D5}"/>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0BE29057-F126-4C41-A8FC-5B311D6A0F23}"/>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6A670FF0-E642-4E9E-8D24-D5E34330BF2D}"/>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BF0B9DC0-5CA9-4C09-A0B6-D7E19C94766A}"/>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75909B84-181A-4EDB-88B4-62A5881440C2}"/>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32688BEC-C220-499C-B6D0-8737E40042BE}"/>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476EDA2F-04C3-4ACC-AA06-BE171D9F19B5}"/>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DD15A200-2081-49A1-90F6-F73D50F2C923}"/>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9F0EFA75-A4DC-4079-8B28-F2AFF93BF4BC}"/>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F7D2F5A6-00A3-4A4D-A290-3CBE39C6148E}"/>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E183E6FD-228B-4BA7-998C-750F3CFF3E7F}"/>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DC4B9022-D65D-4058-A424-046B0782B88C}"/>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DD2882D3-C56C-4DF8-9AA5-B9DD49F28B33}"/>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9852FF3F-8EB2-4043-BDCC-BC26D35C4262}"/>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48DD4BAD-B072-46F2-9D32-1C7838D7F556}"/>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E963E96F-E081-419D-8220-4546CA2A550D}"/>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87422E0E-2A4A-475F-B955-98757A5F6B73}"/>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A310D710-E49C-46B7-AAE6-B40DDC8233AC}"/>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5A039FBF-7B14-4DED-8C5C-1009F4276857}"/>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64C22EED-41C1-49C3-974B-DE412C7033AC}"/>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30B42B37-6335-48CB-8932-0C77D0335683}"/>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317A905C-4022-411D-9B20-D505ADE94582}"/>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C9366C9F-728C-4E91-9B46-24D5EB705649}"/>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B17C2F88-0910-4F98-AA32-7C1894149AB6}"/>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B71277E8-8F05-478A-91CD-B0CE4B482832}"/>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E01770D0-4ADC-4C90-94B7-6E18599FB777}"/>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7AC59E0-08DD-4C69-9ED9-1843FD857CA0}"/>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Траектории при разных шагах</a:t>
            </a:r>
          </a:p>
        </p:txBody>
      </p:sp>
      <p:sp>
        <p:nvSpPr>
          <p:cNvPr id="45" name="">
            <a:extLst xmlns:a="http://schemas.openxmlformats.org/drawingml/2006/main">
              <a:ext uri="{FF2B5EF4-FFF2-40B4-BE49-F238E27FC236}">
                <a16:creationId xmlns:a16="http://schemas.microsoft.com/office/drawing/2014/main" id="{9F5F89F9-8232-4D6F-B176-44EBBC35D172}"/>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AB3C70C-BE1D-4C9C-8AA0-5CEB3FF795C2}"/>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09DC0956-DEBE-4C24-AF10-4AAA2660D5D9}"/>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3B80CA16-91A2-4409-A562-990A9CD88C5E}"/>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317CEAF7-B56B-4B79-BB2D-FF18578DE6E9}"/>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17 / 37</a:t>
            </a:r>
          </a:p>
        </p:txBody>
      </p:sp>
      <p:sp>
        <p:nvSpPr>
          <p:cNvPr id="50" name="">
            <a:extLst xmlns:a="http://schemas.openxmlformats.org/drawingml/2006/main">
              <a:ext uri="{FF2B5EF4-FFF2-40B4-BE49-F238E27FC236}">
                <a16:creationId xmlns:a16="http://schemas.microsoft.com/office/drawing/2014/main" id="{9F40B27D-619D-463F-8580-F7BB9EC54C84}"/>
              </a:ext>
            </a:extLst>
          </p:cNvPr>
          <p:cNvSpPr>
            <a:spLocks xmlns:a="http://schemas.openxmlformats.org/drawingml/2006/main" noGrp="1"/>
          </p:cNvSpPr>
          <p:nvPr/>
        </p:nvSpPr>
        <p:spPr>
          <a:xfrm xmlns:a="http://schemas.openxmlformats.org/drawingml/2006/main">
            <a:off x="609600" y="1743075"/>
            <a:ext cx="53149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Одна функция и один старт. Меняется</a:t>
            </a:r>
          </a:p>
          <a:p xmlns:a="http://schemas.openxmlformats.org/drawingml/2006/main">
            <a:pPr algn="l">
              <a:defRPr sz="2250" b="0">
                <a:solidFill>
                  <a:srgbClr val="111111"/>
                </a:solidFill>
              </a:defRPr>
            </a:pPr>
            <a:r>
              <a:rPr sz="2250" b="0">
                <a:solidFill>
                  <a:srgbClr val="111111"/>
                </a:solidFill>
              </a:rPr>
              <a:t>только шаг.</a:t>
            </a:r>
          </a:p>
        </p:txBody>
      </p:sp>
      <p:sp>
        <p:nvSpPr>
          <p:cNvPr id="51" name="">
            <a:extLst xmlns:a="http://schemas.openxmlformats.org/drawingml/2006/main">
              <a:ext uri="{FF2B5EF4-FFF2-40B4-BE49-F238E27FC236}">
                <a16:creationId xmlns:a16="http://schemas.microsoft.com/office/drawing/2014/main" id="{BDC7C330-9FE9-49C8-B3A0-748AA6975D1B}"/>
              </a:ext>
            </a:extLst>
          </p:cNvPr>
          <p:cNvSpPr>
            <a:spLocks xmlns:a="http://schemas.openxmlformats.org/drawingml/2006/main" noGrp="1"/>
          </p:cNvSpPr>
          <p:nvPr/>
        </p:nvSpPr>
        <p:spPr>
          <a:xfrm xmlns:a="http://schemas.openxmlformats.org/drawingml/2006/main">
            <a:off x="609600" y="2646045"/>
            <a:ext cx="531495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Колебания могут затухать или</a:t>
            </a:r>
          </a:p>
          <a:p xmlns:a="http://schemas.openxmlformats.org/drawingml/2006/main">
            <a:pPr algn="l">
              <a:defRPr sz="2250" b="0">
                <a:solidFill>
                  <a:srgbClr val="111111"/>
                </a:solidFill>
              </a:defRPr>
            </a:pPr>
            <a:r>
              <a:rPr sz="2250" b="0">
                <a:solidFill>
                  <a:srgbClr val="111111"/>
                </a:solidFill>
              </a:rPr>
              <a:t>нарастать. Важен их размер, а не сам</a:t>
            </a:r>
          </a:p>
          <a:p xmlns:a="http://schemas.openxmlformats.org/drawingml/2006/main">
            <a:pPr algn="l">
              <a:defRPr sz="2250" b="0">
                <a:solidFill>
                  <a:srgbClr val="111111"/>
                </a:solidFill>
              </a:defRPr>
            </a:pPr>
            <a:r>
              <a:rPr sz="2250" b="0">
                <a:solidFill>
                  <a:srgbClr val="111111"/>
                </a:solidFill>
              </a:rPr>
              <a:t>факт смены направления.</a:t>
            </a:r>
          </a:p>
        </p:txBody>
      </p:sp>
      <p:graphicFrame>
        <p:nvGraphicFramePr>
          <p:cNvPr id="52" name="Chart">
            <a:extLst xmlns:a="http://schemas.openxmlformats.org/drawingml/2006/main">
              <a:ext uri="{FF2B5EF4-FFF2-40B4-BE49-F238E27FC236}">
                <a16:creationId xmlns:a16="http://schemas.microsoft.com/office/drawing/2014/main" id="{38DD8F08-D69B-4B10-B74C-0B051597A90A}"/>
              </a:ext>
            </a:extLst>
          </p:cNvPr>
          <p:cNvGraphicFramePr/>
          <p:nvPr/>
        </p:nvGraphicFramePr>
        <p:xfrm>
          <a:off xmlns:a="http://schemas.openxmlformats.org/drawingml/2006/main" x="6267450" y="1743075"/>
          <a:ext xmlns:a="http://schemas.openxmlformats.org/drawingml/2006/main" cx="5314950" cy="4000500"/>
        </p:xfrm>
        <a:graphic xmlns:a="http://schemas.openxmlformats.org/drawingml/2006/main">
          <a:graphicData uri="http://schemas.openxmlformats.org/drawingml/2006/chart">
            <c:chart xmlns:r="http://schemas.openxmlformats.org/officeDocument/2006/relationships" xmlns:c="http://schemas.openxmlformats.org/drawingml/2006/chart" r:id="R98fcc3e44a2749e0"/>
          </a:graphicData>
        </a:graphic>
      </p:graphicFrame>
      <p:sp>
        <p:nvSpPr>
          <p:cNvPr id="53" name="">
            <a:extLst xmlns:a="http://schemas.openxmlformats.org/drawingml/2006/main">
              <a:ext uri="{FF2B5EF4-FFF2-40B4-BE49-F238E27FC236}">
                <a16:creationId xmlns:a16="http://schemas.microsoft.com/office/drawing/2014/main" id="{A63622A1-584E-44F4-9153-278325BA0536}"/>
              </a:ext>
            </a:extLst>
          </p:cNvPr>
          <p:cNvSpPr>
            <a:spLocks xmlns:a="http://schemas.openxmlformats.org/drawingml/2006/main" noGrp="1"/>
          </p:cNvSpPr>
          <p:nvPr/>
        </p:nvSpPr>
        <p:spPr>
          <a:xfrm xmlns:a="http://schemas.openxmlformats.org/drawingml/2006/main">
            <a:off x="609600" y="59721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Маленький шаг даёт устойчивое, но медленное движение. Слишком большой</a:t>
            </a:r>
          </a:p>
          <a:p xmlns:a="http://schemas.openxmlformats.org/drawingml/2006/main">
            <a:pPr algn="l">
              <a:defRPr sz="2250" b="0">
                <a:solidFill>
                  <a:srgbClr val="111111"/>
                </a:solidFill>
              </a:defRPr>
            </a:pPr>
            <a:r>
              <a:rPr sz="2250" b="0">
                <a:solidFill>
                  <a:srgbClr val="111111"/>
                </a:solidFill>
              </a:rPr>
              <a:t>шаг уводит от минимума.</a:t>
            </a:r>
          </a:p>
        </p:txBody>
      </p:sp>
    </p:spTree>
    <p:extLst>
      <p:ext uri="{BB962C8B-B14F-4D97-AF65-F5344CB8AC3E}">
        <p14:creationId xmlns:p14="http://schemas.microsoft.com/office/powerpoint/2010/main" val="19609135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B2FE98DE-8C71-4007-93A2-013C94E9EB86}"/>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92BCCF-9DFE-471C-A8A5-BC7795027ABC}"/>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17FCB780-9BB3-412E-A741-BC434EDF73B1}"/>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71DCBDDA-015C-4A78-83B5-C83CD38A5638}"/>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0BF16B27-2DFA-4304-A3BC-3C2494BC744D}"/>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BD4FD6AA-C0D4-418D-9383-D66E9C6C287B}"/>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2A7386EA-F3A0-47AD-B593-9EB5A01CFB17}"/>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BF5E5758-D28D-4B7E-B29D-207B412366E8}"/>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772145D8-F190-4C6C-AF95-08F6F57DEB80}"/>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0100D95E-5FAC-4F12-AD12-285D03765C1A}"/>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C41114FA-9EC2-4108-AB4A-17EDCD8B4665}"/>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CEC155EF-93D6-400F-A13B-C34BF7382336}"/>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2B98B399-7F79-4627-B307-07DD5CADB894}"/>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F5D8F7FD-BF04-4CD0-AD41-6538E7D8A738}"/>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B2B40DF1-AB11-413E-A47A-8E8EDCF0F8E2}"/>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5D23F4F8-E810-45BF-8494-8C3788C32A28}"/>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2852F9EA-454E-46BC-AFAD-17E9C2067F39}"/>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2BFCD86D-A23C-4486-8D35-1895F791605F}"/>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A1B31E54-8534-47F8-AE0B-B3765FBC8A03}"/>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79825829-6B77-4F2E-8321-0782017B41A5}"/>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ABDE4100-3497-4C6A-88A0-D41D621DB32E}"/>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13D14892-5BFE-463E-87D5-626604E34981}"/>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BE069AEC-AEE2-4D66-9EE2-9B857CC9CEE3}"/>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67939A03-A052-47C6-9FD0-C20AD6CD0AEC}"/>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6FBC15C9-01A7-44C1-9112-0108340F5FFB}"/>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597D7EA8-8CE5-414F-A626-771E3FE3ACDA}"/>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E3043AE6-4E6F-49D0-8CF7-4E6E0FB6EB51}"/>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82349AF0-ADAD-4130-8666-BFFBDB0DCF3F}"/>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9C41995E-070B-4D62-A6BD-CB6C10C72B8D}"/>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A57FCDF1-C814-44CA-9324-402FE0A32E56}"/>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39068387-D34F-4197-AEC8-27E383C18BBE}"/>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30ACD062-71BE-4E6D-B2B0-339704663EF6}"/>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5013D3AD-2C20-45A3-B69A-E86C3B7B2B59}"/>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CBD0A87F-E810-4B08-8CAD-53C1C0EC2FBB}"/>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9FFA6BC3-AAEC-4BAD-9BE1-7B5CA460525E}"/>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A32500A0-5C8B-4286-A122-4D812E40D04A}"/>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30B63C81-0D88-4E35-87D7-B66320432751}"/>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D07AA27F-F1F4-4880-B28B-D0411893363B}"/>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F1B1B270-5E1F-44EC-9F95-FCB22264A251}"/>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BA3CEF62-9C53-4514-845C-409095E8F593}"/>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C366DC03-E6FE-4794-8C1B-CB893CA77C1C}"/>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57944B44-BA5C-43BB-B09B-BDC929EB1549}"/>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9856BE64-42E5-4387-BA81-FCC4D2CFE848}"/>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D9895CB-5DAD-44A1-A67F-0170B0EB1DD6}"/>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Частные производные и градиент</a:t>
            </a:r>
          </a:p>
        </p:txBody>
      </p:sp>
      <p:sp>
        <p:nvSpPr>
          <p:cNvPr id="45" name="">
            <a:extLst xmlns:a="http://schemas.openxmlformats.org/drawingml/2006/main">
              <a:ext uri="{FF2B5EF4-FFF2-40B4-BE49-F238E27FC236}">
                <a16:creationId xmlns:a16="http://schemas.microsoft.com/office/drawing/2014/main" id="{483BB613-5BAD-4BA5-A754-9AF9DDA6E182}"/>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DCAA2E0-194A-4608-BDB6-1427951F06EA}"/>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C1D00EB-699A-4AB2-99CC-4076A1C74379}"/>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924204FC-BE13-40FD-A64E-34DA4CA1CB60}"/>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774D4F35-E18F-4165-BA89-249F08CE4B7E}"/>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18 / 37</a:t>
            </a:r>
          </a:p>
        </p:txBody>
      </p:sp>
      <p:sp>
        <p:nvSpPr>
          <p:cNvPr id="50" name="">
            <a:extLst xmlns:a="http://schemas.openxmlformats.org/drawingml/2006/main">
              <a:ext uri="{FF2B5EF4-FFF2-40B4-BE49-F238E27FC236}">
                <a16:creationId xmlns:a16="http://schemas.microsoft.com/office/drawing/2014/main" id="{B13D88EC-9C6C-4848-8463-F4825A980F0D}"/>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Ошибка зависит от двух параметров. Чтобы изучить изменение по одному из</a:t>
            </a:r>
          </a:p>
          <a:p xmlns:a="http://schemas.openxmlformats.org/drawingml/2006/main">
            <a:pPr algn="l">
              <a:defRPr sz="2250" b="0">
                <a:solidFill>
                  <a:srgbClr val="111111"/>
                </a:solidFill>
              </a:defRPr>
            </a:pPr>
            <a:r>
              <a:rPr sz="2250" b="0">
                <a:solidFill>
                  <a:srgbClr val="111111"/>
                </a:solidFill>
              </a:rPr>
              <a:t>них, удерживаем другой постоянным.</a:t>
            </a:r>
          </a:p>
        </p:txBody>
      </p:sp>
      <p:pic>
        <p:nvPicPr>
          <p:cNvPr id="51" name="">
            <a:extLst xmlns:a="http://schemas.openxmlformats.org/drawingml/2006/main">
              <a:ext uri="{FF2B5EF4-FFF2-40B4-BE49-F238E27FC236}">
                <a16:creationId xmlns:a16="http://schemas.microsoft.com/office/drawing/2014/main" id="{4751E3B2-C23A-4CC1-8F4C-C5EE6232C6A2}"/>
              </a:ext>
            </a:extLst>
          </p:cNvPr>
          <p:cNvPicPr>
            <a:picLocks xmlns:a="http://schemas.openxmlformats.org/drawingml/2006/main" noChangeAspect="1"/>
          </p:cNvPicPr>
          <p:nvPr/>
        </p:nvPicPr>
        <p:blipFill>
          <a:blip xmlns:r="http://schemas.openxmlformats.org/officeDocument/2006/relationships" xmlns:a="http://schemas.openxmlformats.org/drawingml/2006/main" r:embed="R2f507cab0b704f61">
            <a:extLst>
              <a:ext uri="{96DAC541-7B7A-43D3-8B79-37D633B846F1}">
                <asvg:svgBlip xmlns:asvg="http://schemas.microsoft.com/office/drawing/2016/SVG/main" r:embed="R448b6dd951334bb8"/>
              </a:ext>
            </a:extLst>
          </a:blip>
          <a:stretch xmlns:a="http://schemas.openxmlformats.org/drawingml/2006/main"/>
        </p:blipFill>
        <p:spPr>
          <a:xfrm xmlns:a="http://schemas.openxmlformats.org/drawingml/2006/main">
            <a:off x="3027407" y="2703195"/>
            <a:ext cx="479337" cy="757420"/>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37B370A4-1773-4EEF-8648-AD7103CB4F4A}"/>
              </a:ext>
            </a:extLst>
          </p:cNvPr>
          <p:cNvSpPr>
            <a:spLocks xmlns:a="http://schemas.openxmlformats.org/drawingml/2006/main" noGrp="1"/>
          </p:cNvSpPr>
          <p:nvPr/>
        </p:nvSpPr>
        <p:spPr>
          <a:xfrm xmlns:a="http://schemas.openxmlformats.org/drawingml/2006/main">
            <a:off x="609600" y="3632065"/>
            <a:ext cx="53149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Изменяем только наклон прямой.</a:t>
            </a:r>
          </a:p>
        </p:txBody>
      </p:sp>
      <p:pic>
        <p:nvPicPr>
          <p:cNvPr id="53" name="">
            <a:extLst xmlns:a="http://schemas.openxmlformats.org/drawingml/2006/main">
              <a:ext uri="{FF2B5EF4-FFF2-40B4-BE49-F238E27FC236}">
                <a16:creationId xmlns:a16="http://schemas.microsoft.com/office/drawing/2014/main" id="{F4A5557A-65A5-4EE6-BA66-3380C5B7FD05}"/>
              </a:ext>
            </a:extLst>
          </p:cNvPr>
          <p:cNvPicPr>
            <a:picLocks xmlns:a="http://schemas.openxmlformats.org/drawingml/2006/main" noChangeAspect="1"/>
          </p:cNvPicPr>
          <p:nvPr/>
        </p:nvPicPr>
        <p:blipFill>
          <a:blip xmlns:r="http://schemas.openxmlformats.org/officeDocument/2006/relationships" xmlns:a="http://schemas.openxmlformats.org/drawingml/2006/main" r:embed="Rbd4984b15e724705">
            <a:extLst>
              <a:ext uri="{96DAC541-7B7A-43D3-8B79-37D633B846F1}">
                <asvg:svgBlip xmlns:asvg="http://schemas.microsoft.com/office/drawing/2016/SVG/main" r:embed="R6056ee499800452c"/>
              </a:ext>
            </a:extLst>
          </a:blip>
          <a:stretch xmlns:a="http://schemas.openxmlformats.org/drawingml/2006/main"/>
        </p:blipFill>
        <p:spPr>
          <a:xfrm xmlns:a="http://schemas.openxmlformats.org/drawingml/2006/main">
            <a:off x="8696484" y="2703195"/>
            <a:ext cx="456883" cy="757420"/>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3A70780E-D2CE-4BD5-A1ED-B84EF8CCC6F7}"/>
              </a:ext>
            </a:extLst>
          </p:cNvPr>
          <p:cNvSpPr>
            <a:spLocks xmlns:a="http://schemas.openxmlformats.org/drawingml/2006/main" noGrp="1"/>
          </p:cNvSpPr>
          <p:nvPr/>
        </p:nvSpPr>
        <p:spPr>
          <a:xfrm xmlns:a="http://schemas.openxmlformats.org/drawingml/2006/main">
            <a:off x="6267450" y="3632065"/>
            <a:ext cx="53149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Изменяем только свободный</a:t>
            </a:r>
          </a:p>
          <a:p xmlns:a="http://schemas.openxmlformats.org/drawingml/2006/main">
            <a:pPr algn="l">
              <a:defRPr sz="2250" b="0">
                <a:solidFill>
                  <a:srgbClr val="111111"/>
                </a:solidFill>
              </a:defRPr>
            </a:pPr>
            <a:r>
              <a:rPr sz="2250" b="0">
                <a:solidFill>
                  <a:srgbClr val="111111"/>
                </a:solidFill>
              </a:rPr>
              <a:t>коэффициент.</a:t>
            </a:r>
          </a:p>
        </p:txBody>
      </p:sp>
      <p:pic>
        <p:nvPicPr>
          <p:cNvPr id="55" name="">
            <a:extLst xmlns:a="http://schemas.openxmlformats.org/drawingml/2006/main">
              <a:ext uri="{FF2B5EF4-FFF2-40B4-BE49-F238E27FC236}">
                <a16:creationId xmlns:a16="http://schemas.microsoft.com/office/drawing/2014/main" id="{11503ADD-997D-4DC6-A8C7-77CF6813D9C5}"/>
              </a:ext>
            </a:extLst>
          </p:cNvPr>
          <p:cNvPicPr>
            <a:picLocks xmlns:a="http://schemas.openxmlformats.org/drawingml/2006/main" noChangeAspect="1"/>
          </p:cNvPicPr>
          <p:nvPr/>
        </p:nvPicPr>
        <p:blipFill>
          <a:blip xmlns:r="http://schemas.openxmlformats.org/officeDocument/2006/relationships" xmlns:a="http://schemas.openxmlformats.org/drawingml/2006/main" r:embed="R246697b2b24e4053">
            <a:extLst>
              <a:ext uri="{96DAC541-7B7A-43D3-8B79-37D633B846F1}">
                <asvg:svgBlip xmlns:asvg="http://schemas.microsoft.com/office/drawing/2016/SVG/main" r:embed="R2ece72243ac84e43"/>
              </a:ext>
            </a:extLst>
          </a:blip>
          <a:stretch xmlns:a="http://schemas.openxmlformats.org/drawingml/2006/main"/>
        </p:blipFill>
        <p:spPr>
          <a:xfrm xmlns:a="http://schemas.openxmlformats.org/drawingml/2006/main">
            <a:off x="5128258" y="4592185"/>
            <a:ext cx="1935485" cy="1471803"/>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6466B48C-C084-4F3C-AD5B-6032C5DA01B0}"/>
              </a:ext>
            </a:extLst>
          </p:cNvPr>
          <p:cNvSpPr>
            <a:spLocks xmlns:a="http://schemas.openxmlformats.org/drawingml/2006/main" noGrp="1"/>
          </p:cNvSpPr>
          <p:nvPr/>
        </p:nvSpPr>
        <p:spPr>
          <a:xfrm xmlns:a="http://schemas.openxmlformats.org/drawingml/2006/main">
            <a:off x="609600" y="6292588"/>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Градиент объединяет частные производные в вектор. Он указывает</a:t>
            </a:r>
          </a:p>
          <a:p xmlns:a="http://schemas.openxmlformats.org/drawingml/2006/main">
            <a:pPr algn="l">
              <a:defRPr sz="2250" b="0">
                <a:solidFill>
                  <a:srgbClr val="111111"/>
                </a:solidFill>
              </a:defRPr>
            </a:pPr>
            <a:r>
              <a:rPr sz="2250" b="0">
                <a:solidFill>
                  <a:srgbClr val="111111"/>
                </a:solidFill>
              </a:rPr>
              <a:t>направление наиболее быстрого локального роста функции.</a:t>
            </a:r>
          </a:p>
        </p:txBody>
      </p:sp>
    </p:spTree>
    <p:extLst>
      <p:ext uri="{BB962C8B-B14F-4D97-AF65-F5344CB8AC3E}">
        <p14:creationId xmlns:p14="http://schemas.microsoft.com/office/powerpoint/2010/main" val="12859485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0BD24413-7E56-455F-B6C1-2EE43E8D09D0}"/>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7B5EDB-CC26-4253-96C6-5652494F4C37}"/>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73500672-37C7-4D0F-9118-5C83C3BAD2CD}"/>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C02A011B-7EEB-4503-A95C-FF62C15DC17F}"/>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D421D5E3-AEE6-4B16-96D2-82BE12CD00FE}"/>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B56214F8-0352-4515-ACCF-413BAA99EA1E}"/>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7D792EF2-3C83-4AF9-9500-9E589FBDC628}"/>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FF511189-C72A-459E-ADE9-5C15985F3ED1}"/>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EDED157E-A68A-415D-8041-152F35F31CE6}"/>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94DCC17A-05D7-444C-B1BE-83DABBB6DD0C}"/>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B2DD0A1C-7AD0-4A06-BB8C-57A462C3B95A}"/>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436A93C9-F16E-4A8D-B592-1D2D1BC8D98B}"/>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C467E749-1A0C-4C74-B70A-F5A4211D12B7}"/>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A918AD1C-F1C1-4E71-A7D7-CDAECE940E8F}"/>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893CEDE9-2A26-4E9E-A0BE-063A9708D1D7}"/>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488795CF-9EB3-45F2-888A-A444EB540096}"/>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D003F12D-D752-4AF8-BA75-BD93B6B517CC}"/>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CB14BBD9-2CF6-41AC-A4E4-078D879591D3}"/>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5E349AF0-C958-4493-99CA-FD78202269BC}"/>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3B50FF97-9B41-4ECF-B237-5278F47C98A8}"/>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DC54CAFB-E4D5-454A-85DC-D25CC6586673}"/>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F9CED73F-DE8D-4B0E-B9E1-EBED40672E79}"/>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398EBD01-6E07-431B-8775-A4CA2EEF23C7}"/>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A9410F22-C3E9-4774-83C4-F152DF37D500}"/>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A30AB703-7633-4235-9436-58578B94E3C5}"/>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1F73FE35-CFDB-4655-9A3C-4CB2FC1C9B8F}"/>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BB8DD312-7440-4533-B942-0047A5E472F4}"/>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733D6370-D30E-4CA8-B20B-EF855D1DF7D9}"/>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E744C3BC-2D59-4127-B306-4EA4717830AA}"/>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38695AEE-3FEC-46C5-9C8B-C0715577630E}"/>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00CBD7B0-2AF8-4D9E-B39F-051B2F1E5F48}"/>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4B66E43B-FEEB-44F8-B333-F65651066863}"/>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8A0571B6-14DB-466C-9066-E5E2C8F25B03}"/>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3AC72774-777B-4870-A9C2-7853C61CD197}"/>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69F935E8-C10C-4AD4-8179-0341FB619B59}"/>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8665A956-CB3F-496F-8941-40A5DBF5C82D}"/>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9CD84BB4-0982-4997-B2E0-D7D992A42535}"/>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BC4F0CF4-8187-4B5D-B8DA-925DB9D76A3F}"/>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E40074BE-3D0B-402E-81D9-52AAFFF2DD78}"/>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2ECFDB90-9B1A-4D2E-8465-6DBFACEF7D2A}"/>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57CD4235-1831-415A-8220-1F2733AB026B}"/>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97C1D2A0-9262-4C2F-8121-83E1BEC77E30}"/>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C571D537-640D-4347-90DA-036B1128E9D2}"/>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81164BC-9E0A-4ED6-BB54-44FD46C5072C}"/>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Производная квадрата ошибки</a:t>
            </a:r>
          </a:p>
        </p:txBody>
      </p:sp>
      <p:sp>
        <p:nvSpPr>
          <p:cNvPr id="45" name="">
            <a:extLst xmlns:a="http://schemas.openxmlformats.org/drawingml/2006/main">
              <a:ext uri="{FF2B5EF4-FFF2-40B4-BE49-F238E27FC236}">
                <a16:creationId xmlns:a16="http://schemas.microsoft.com/office/drawing/2014/main" id="{8CD7920B-1A28-4A9F-B1AE-E28BECEB3789}"/>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8923264-72B7-4C62-B382-9481AFA6E34F}"/>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BDB4551-4C90-433B-B53F-D0957A0B873A}"/>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69A5EC86-F52E-4098-9EE9-C5C5E4AA1A5D}"/>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D3D33E9A-8EA0-4194-9ED8-995504873BD0}"/>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19 / 37</a:t>
            </a:r>
          </a:p>
        </p:txBody>
      </p:sp>
      <p:pic>
        <p:nvPicPr>
          <p:cNvPr id="50" name="">
            <a:extLst xmlns:a="http://schemas.openxmlformats.org/drawingml/2006/main">
              <a:ext uri="{FF2B5EF4-FFF2-40B4-BE49-F238E27FC236}">
                <a16:creationId xmlns:a16="http://schemas.microsoft.com/office/drawing/2014/main" id="{38AB9116-B0BD-4F4E-A449-7E88A6843449}"/>
              </a:ext>
            </a:extLst>
          </p:cNvPr>
          <p:cNvPicPr>
            <a:picLocks xmlns:a="http://schemas.openxmlformats.org/drawingml/2006/main" noChangeAspect="1"/>
          </p:cNvPicPr>
          <p:nvPr/>
        </p:nvPicPr>
        <p:blipFill>
          <a:blip xmlns:r="http://schemas.openxmlformats.org/officeDocument/2006/relationships" xmlns:a="http://schemas.openxmlformats.org/drawingml/2006/main" r:embed="R14be551df3bb4c9b">
            <a:extLst>
              <a:ext uri="{96DAC541-7B7A-43D3-8B79-37D633B846F1}">
                <asvg:svgBlip xmlns:asvg="http://schemas.microsoft.com/office/drawing/2016/SVG/main" r:embed="Re8d306bd7275431c"/>
              </a:ext>
            </a:extLst>
          </a:blip>
          <a:stretch xmlns:a="http://schemas.openxmlformats.org/drawingml/2006/main"/>
        </p:blipFill>
        <p:spPr>
          <a:xfrm xmlns:a="http://schemas.openxmlformats.org/drawingml/2006/main">
            <a:off x="4667731" y="1743075"/>
            <a:ext cx="2856537" cy="34977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CC67F1A4-4E02-489F-A584-2B6E8128F414}"/>
              </a:ext>
            </a:extLst>
          </p:cNvPr>
          <p:cNvSpPr>
            <a:spLocks xmlns:a="http://schemas.openxmlformats.org/drawingml/2006/main" noGrp="1"/>
          </p:cNvSpPr>
          <p:nvPr/>
        </p:nvSpPr>
        <p:spPr>
          <a:xfrm xmlns:a="http://schemas.openxmlformats.org/drawingml/2006/main">
            <a:off x="609600" y="232144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Изменение веса на h увеличивает остаток на произведение h и признака.</a:t>
            </a:r>
          </a:p>
          <a:p xmlns:a="http://schemas.openxmlformats.org/drawingml/2006/main">
            <a:pPr algn="l">
              <a:defRPr sz="2250" b="0">
                <a:solidFill>
                  <a:srgbClr val="111111"/>
                </a:solidFill>
              </a:defRPr>
            </a:pPr>
            <a:r>
              <a:rPr sz="2250" b="0">
                <a:solidFill>
                  <a:srgbClr val="111111"/>
                </a:solidFill>
              </a:rPr>
              <a:t>Изменение сдвига на h увеличивает остаток на h.</a:t>
            </a:r>
          </a:p>
        </p:txBody>
      </p:sp>
      <p:sp>
        <p:nvSpPr>
          <p:cNvPr id="52" name="">
            <a:extLst xmlns:a="http://schemas.openxmlformats.org/drawingml/2006/main">
              <a:ext uri="{FF2B5EF4-FFF2-40B4-BE49-F238E27FC236}">
                <a16:creationId xmlns:a16="http://schemas.microsoft.com/office/drawing/2014/main" id="{C1C6A41F-82F0-4DE4-92DF-24FE7DC3E5C2}"/>
              </a:ext>
            </a:extLst>
          </p:cNvPr>
          <p:cNvSpPr>
            <a:spLocks xmlns:a="http://schemas.openxmlformats.org/drawingml/2006/main" noGrp="1"/>
          </p:cNvSpPr>
          <p:nvPr/>
        </p:nvSpPr>
        <p:spPr>
          <a:xfrm xmlns:a="http://schemas.openxmlformats.org/drawingml/2006/main">
            <a:off x="609600" y="3281565"/>
            <a:ext cx="53149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По параметру w</a:t>
            </a:r>
          </a:p>
        </p:txBody>
      </p:sp>
      <p:pic>
        <p:nvPicPr>
          <p:cNvPr id="53" name="">
            <a:extLst xmlns:a="http://schemas.openxmlformats.org/drawingml/2006/main">
              <a:ext uri="{FF2B5EF4-FFF2-40B4-BE49-F238E27FC236}">
                <a16:creationId xmlns:a16="http://schemas.microsoft.com/office/drawing/2014/main" id="{FC3727EF-2E2B-4606-8641-4763778DD989}"/>
              </a:ext>
            </a:extLst>
          </p:cNvPr>
          <p:cNvPicPr>
            <a:picLocks xmlns:a="http://schemas.openxmlformats.org/drawingml/2006/main" noChangeAspect="1"/>
          </p:cNvPicPr>
          <p:nvPr/>
        </p:nvPicPr>
        <p:blipFill>
          <a:blip xmlns:r="http://schemas.openxmlformats.org/officeDocument/2006/relationships" xmlns:a="http://schemas.openxmlformats.org/drawingml/2006/main" r:embed="Rce2c5b1e8f3942a0">
            <a:extLst>
              <a:ext uri="{96DAC541-7B7A-43D3-8B79-37D633B846F1}">
                <asvg:svgBlip xmlns:asvg="http://schemas.microsoft.com/office/drawing/2016/SVG/main" r:embed="Rd0ee08e9d3d340ee"/>
              </a:ext>
            </a:extLst>
          </a:blip>
          <a:stretch xmlns:a="http://schemas.openxmlformats.org/drawingml/2006/main"/>
        </p:blipFill>
        <p:spPr>
          <a:xfrm xmlns:a="http://schemas.openxmlformats.org/drawingml/2006/main">
            <a:off x="750780" y="3830967"/>
            <a:ext cx="5032591" cy="605741"/>
          </a:xfrm>
          <a:prstGeom xmlns:a="http://schemas.openxmlformats.org/drawingml/2006/main" prst="rect">
            <a:avLst/>
          </a:prstGeom>
        </p:spPr>
      </p:pic>
      <p:pic>
        <p:nvPicPr>
          <p:cNvPr id="54" name="">
            <a:extLst xmlns:a="http://schemas.openxmlformats.org/drawingml/2006/main">
              <a:ext uri="{FF2B5EF4-FFF2-40B4-BE49-F238E27FC236}">
                <a16:creationId xmlns:a16="http://schemas.microsoft.com/office/drawing/2014/main" id="{6678AF97-A63D-4DB4-B20C-3AB4E820FD5C}"/>
              </a:ext>
            </a:extLst>
          </p:cNvPr>
          <p:cNvPicPr>
            <a:picLocks xmlns:a="http://schemas.openxmlformats.org/drawingml/2006/main" noChangeAspect="1"/>
          </p:cNvPicPr>
          <p:nvPr/>
        </p:nvPicPr>
        <p:blipFill>
          <a:blip xmlns:r="http://schemas.openxmlformats.org/officeDocument/2006/relationships" xmlns:a="http://schemas.openxmlformats.org/drawingml/2006/main" r:embed="Rc554643fe06f45aa">
            <a:extLst>
              <a:ext uri="{96DAC541-7B7A-43D3-8B79-37D633B846F1}">
                <asvg:svgBlip xmlns:asvg="http://schemas.microsoft.com/office/drawing/2016/SVG/main" r:embed="R7ae62f633acb4429"/>
              </a:ext>
            </a:extLst>
          </a:blip>
          <a:stretch xmlns:a="http://schemas.openxmlformats.org/drawingml/2006/main"/>
        </p:blipFill>
        <p:spPr>
          <a:xfrm xmlns:a="http://schemas.openxmlformats.org/drawingml/2006/main">
            <a:off x="2323855" y="4608158"/>
            <a:ext cx="1886440" cy="713728"/>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1CCE9D74-E334-44DE-9C0B-18A9F5127C70}"/>
              </a:ext>
            </a:extLst>
          </p:cNvPr>
          <p:cNvSpPr>
            <a:spLocks xmlns:a="http://schemas.openxmlformats.org/drawingml/2006/main" noGrp="1"/>
          </p:cNvSpPr>
          <p:nvPr/>
        </p:nvSpPr>
        <p:spPr>
          <a:xfrm xmlns:a="http://schemas.openxmlformats.org/drawingml/2006/main">
            <a:off x="6267450" y="3281565"/>
            <a:ext cx="53149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По параметру b</a:t>
            </a:r>
          </a:p>
        </p:txBody>
      </p:sp>
      <p:pic>
        <p:nvPicPr>
          <p:cNvPr id="56" name="">
            <a:extLst xmlns:a="http://schemas.openxmlformats.org/drawingml/2006/main">
              <a:ext uri="{FF2B5EF4-FFF2-40B4-BE49-F238E27FC236}">
                <a16:creationId xmlns:a16="http://schemas.microsoft.com/office/drawing/2014/main" id="{37710589-124D-40F7-9172-11CB586D5FFB}"/>
              </a:ext>
            </a:extLst>
          </p:cNvPr>
          <p:cNvPicPr>
            <a:picLocks xmlns:a="http://schemas.openxmlformats.org/drawingml/2006/main" noChangeAspect="1"/>
          </p:cNvPicPr>
          <p:nvPr/>
        </p:nvPicPr>
        <p:blipFill>
          <a:blip xmlns:r="http://schemas.openxmlformats.org/officeDocument/2006/relationships" xmlns:a="http://schemas.openxmlformats.org/drawingml/2006/main" r:embed="Rd5adcee8e99744bf">
            <a:extLst>
              <a:ext uri="{96DAC541-7B7A-43D3-8B79-37D633B846F1}">
                <asvg:svgBlip xmlns:asvg="http://schemas.microsoft.com/office/drawing/2016/SVG/main" r:embed="Ra2eebda2234a4386"/>
              </a:ext>
            </a:extLst>
          </a:blip>
          <a:stretch xmlns:a="http://schemas.openxmlformats.org/drawingml/2006/main"/>
        </p:blipFill>
        <p:spPr>
          <a:xfrm xmlns:a="http://schemas.openxmlformats.org/drawingml/2006/main">
            <a:off x="6922348" y="3830967"/>
            <a:ext cx="4005155" cy="605741"/>
          </a:xfrm>
          <a:prstGeom xmlns:a="http://schemas.openxmlformats.org/drawingml/2006/main" prst="rect">
            <a:avLst/>
          </a:prstGeom>
        </p:spPr>
      </p:pic>
      <p:pic>
        <p:nvPicPr>
          <p:cNvPr id="57" name="">
            <a:extLst xmlns:a="http://schemas.openxmlformats.org/drawingml/2006/main">
              <a:ext uri="{FF2B5EF4-FFF2-40B4-BE49-F238E27FC236}">
                <a16:creationId xmlns:a16="http://schemas.microsoft.com/office/drawing/2014/main" id="{3795CDB2-1727-4B44-A91E-CFE73CB65B4B}"/>
              </a:ext>
            </a:extLst>
          </p:cNvPr>
          <p:cNvPicPr>
            <a:picLocks xmlns:a="http://schemas.openxmlformats.org/drawingml/2006/main" noChangeAspect="1"/>
          </p:cNvPicPr>
          <p:nvPr/>
        </p:nvPicPr>
        <p:blipFill>
          <a:blip xmlns:r="http://schemas.openxmlformats.org/officeDocument/2006/relationships" xmlns:a="http://schemas.openxmlformats.org/drawingml/2006/main" r:embed="Rcc56ef4bb3bd493e">
            <a:extLst>
              <a:ext uri="{96DAC541-7B7A-43D3-8B79-37D633B846F1}">
                <asvg:svgBlip xmlns:asvg="http://schemas.microsoft.com/office/drawing/2016/SVG/main" r:embed="Rfbdd3cc9093c4469"/>
              </a:ext>
            </a:extLst>
          </a:blip>
          <a:stretch xmlns:a="http://schemas.openxmlformats.org/drawingml/2006/main"/>
        </p:blipFill>
        <p:spPr>
          <a:xfrm xmlns:a="http://schemas.openxmlformats.org/drawingml/2006/main">
            <a:off x="8127612" y="4608158"/>
            <a:ext cx="1594626" cy="713728"/>
          </a:xfrm>
          <a:prstGeom xmlns:a="http://schemas.openxmlformats.org/drawingml/2006/main" prst="rect">
            <a:avLst/>
          </a:prstGeom>
        </p:spPr>
      </p:pic>
      <p:sp>
        <p:nvSpPr>
          <p:cNvPr id="58" name="">
            <a:extLst xmlns:a="http://schemas.openxmlformats.org/drawingml/2006/main">
              <a:ext uri="{FF2B5EF4-FFF2-40B4-BE49-F238E27FC236}">
                <a16:creationId xmlns:a16="http://schemas.microsoft.com/office/drawing/2014/main" id="{2B0E13DC-F01B-47B7-9FC9-27A85A6B0B06}"/>
              </a:ext>
            </a:extLst>
          </p:cNvPr>
          <p:cNvSpPr>
            <a:spLocks xmlns:a="http://schemas.openxmlformats.org/drawingml/2006/main" noGrp="1"/>
          </p:cNvSpPr>
          <p:nvPr/>
        </p:nvSpPr>
        <p:spPr>
          <a:xfrm xmlns:a="http://schemas.openxmlformats.org/drawingml/2006/main">
            <a:off x="609600" y="5550486"/>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Так объясняется множитель признака в производной по весу.</a:t>
            </a:r>
          </a:p>
        </p:txBody>
      </p:sp>
    </p:spTree>
    <p:extLst>
      <p:ext uri="{BB962C8B-B14F-4D97-AF65-F5344CB8AC3E}">
        <p14:creationId xmlns:p14="http://schemas.microsoft.com/office/powerpoint/2010/main" val="135498491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09B3E56-FABC-45A3-95EB-3A14997B8058}"/>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0A6952-7F5D-43E0-9EA0-8EEE3FC4B74E}"/>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70B58A4A-AC5C-4386-A3C1-AD8F77467712}"/>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293A315B-C04B-4394-BBAA-FC103E7A94F3}"/>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80B15A5C-A767-4014-A650-3B9657CB08CD}"/>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D4B422D0-AC2F-4A3A-B603-B3F19C51E002}"/>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51CEF806-83B7-4944-B0A7-A13BE6D61F02}"/>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D02C2C23-E2DA-4DD6-A480-EDF348BE3004}"/>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B07F11A8-4BC4-4AB2-9856-A6B552D299A0}"/>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7894A281-DE6A-48EB-8C51-728BB59E359C}"/>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B3D69BF1-C30A-4950-86AF-AE12BC02C644}"/>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89CB5210-C05D-49EB-BBAC-A21DE7547613}"/>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A852A627-5ACC-4A86-9D3B-72FEAEFF7205}"/>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EEF5047B-7F52-47E1-B837-839B7A0FF3D9}"/>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9CA9B033-C1AA-4FD3-BFC8-5D9F1F1BF353}"/>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13FC6201-D1A0-4176-866B-6F1B9EBDFCF6}"/>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20388AE2-9027-4674-B05C-299B40D24C60}"/>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6CE2903B-F98B-4B15-90D0-01A1E398172C}"/>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A9149F92-1C88-46AF-8F2E-E7D79D837672}"/>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41E5A748-E70C-4DC1-895D-DAA97DDEB9AE}"/>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62FDB48F-C376-4918-87AE-329652511814}"/>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FA0C037D-3F0F-4C95-9EAD-078A33739FB9}"/>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97D1531E-D343-4CF1-BD55-49AC13F35AA5}"/>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85C5AEF0-851E-46A3-8F93-31352011F7F2}"/>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B33C33C8-AF9B-462F-9A13-1ABA0FABBA30}"/>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E4F5E362-1014-4ADD-93E7-DCB18B15EC97}"/>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8D90FF5D-0261-4898-8F89-3AABEBB6DA1F}"/>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1C7D81FB-2D97-477A-A63B-966B00B18D7E}"/>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2E679CE8-D72C-4AAA-9DDA-2497C0289B12}"/>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2388401B-E00D-4640-B8E7-1F28A3730DD2}"/>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E16D27CF-2AC2-45DA-AF6F-C4B36B32B1F5}"/>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1F047CBA-3582-41BF-884E-F90976C5D7A7}"/>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1DE91E46-1C7F-4729-80F5-49BAA1BD4C04}"/>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B0396A84-7928-4251-A297-76309235746E}"/>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1853FBC2-7C73-4BE6-8F23-9C7027014667}"/>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62360791-70D1-47D4-97A9-7149859A441A}"/>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A1D44526-0317-4A11-A4C9-806D3AC02CDD}"/>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6E7CED97-B526-4551-B8AC-2B0AA5B2DD48}"/>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684609AB-B156-49C9-9B2B-DC93C75C82D9}"/>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51DF65D7-4E66-431C-9B87-6394E28170D4}"/>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26C56B87-5B30-4354-95E7-1AB0F41E53DD}"/>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AF3D98A5-D3FD-4E64-A333-0B8C74230260}"/>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F9031BE2-D3C6-4EB8-B410-49268BCBD732}"/>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AC92642-835A-41C2-9DE6-84B3618151F5}"/>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Градиент ошибки модели</a:t>
            </a:r>
          </a:p>
        </p:txBody>
      </p:sp>
      <p:sp>
        <p:nvSpPr>
          <p:cNvPr id="45" name="">
            <a:extLst xmlns:a="http://schemas.openxmlformats.org/drawingml/2006/main">
              <a:ext uri="{FF2B5EF4-FFF2-40B4-BE49-F238E27FC236}">
                <a16:creationId xmlns:a16="http://schemas.microsoft.com/office/drawing/2014/main" id="{D8426802-E1CD-485F-8F39-E3E1561701F8}"/>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8F9CBF5-20B8-47CF-8D86-7F6656618E1F}"/>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11A8863-949B-44AE-B93E-AE4CDECC6986}"/>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828BA274-C5A6-45CF-9B54-EDDA1B4B0E79}"/>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CA85BA8F-2540-4108-BD4D-EA94F23E6CE5}"/>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20 / 37</a:t>
            </a:r>
          </a:p>
        </p:txBody>
      </p:sp>
      <p:sp>
        <p:nvSpPr>
          <p:cNvPr id="50" name="">
            <a:extLst xmlns:a="http://schemas.openxmlformats.org/drawingml/2006/main">
              <a:ext uri="{FF2B5EF4-FFF2-40B4-BE49-F238E27FC236}">
                <a16:creationId xmlns:a16="http://schemas.microsoft.com/office/drawing/2014/main" id="{6286F79A-0AF4-4496-86D5-90308A9B0689}"/>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Производную суммы можно вычислять по слагаемым. Множитель усреднения</a:t>
            </a:r>
          </a:p>
          <a:p xmlns:a="http://schemas.openxmlformats.org/drawingml/2006/main">
            <a:pPr algn="l">
              <a:defRPr sz="2250" b="0">
                <a:solidFill>
                  <a:srgbClr val="111111"/>
                </a:solidFill>
              </a:defRPr>
            </a:pPr>
            <a:r>
              <a:rPr sz="2250" b="0">
                <a:solidFill>
                  <a:srgbClr val="111111"/>
                </a:solidFill>
              </a:rPr>
              <a:t>сохраняется:</a:t>
            </a:r>
          </a:p>
        </p:txBody>
      </p:sp>
      <p:pic>
        <p:nvPicPr>
          <p:cNvPr id="51" name="">
            <a:extLst xmlns:a="http://schemas.openxmlformats.org/drawingml/2006/main">
              <a:ext uri="{FF2B5EF4-FFF2-40B4-BE49-F238E27FC236}">
                <a16:creationId xmlns:a16="http://schemas.microsoft.com/office/drawing/2014/main" id="{008C0AEF-56FD-4274-BE29-5793DE52D52A}"/>
              </a:ext>
            </a:extLst>
          </p:cNvPr>
          <p:cNvPicPr>
            <a:picLocks xmlns:a="http://schemas.openxmlformats.org/drawingml/2006/main" noChangeAspect="1"/>
          </p:cNvPicPr>
          <p:nvPr/>
        </p:nvPicPr>
        <p:blipFill>
          <a:blip xmlns:r="http://schemas.openxmlformats.org/officeDocument/2006/relationships" xmlns:a="http://schemas.openxmlformats.org/drawingml/2006/main" r:embed="R607a75254f224a41">
            <a:extLst>
              <a:ext uri="{96DAC541-7B7A-43D3-8B79-37D633B846F1}">
                <asvg:svgBlip xmlns:asvg="http://schemas.microsoft.com/office/drawing/2016/SVG/main" r:embed="R6cca3d9c75e3425c"/>
              </a:ext>
            </a:extLst>
          </a:blip>
          <a:stretch xmlns:a="http://schemas.openxmlformats.org/drawingml/2006/main"/>
        </p:blipFill>
        <p:spPr>
          <a:xfrm xmlns:a="http://schemas.openxmlformats.org/drawingml/2006/main">
            <a:off x="3340760" y="2703195"/>
            <a:ext cx="5510479" cy="1016100"/>
          </a:xfrm>
          <a:prstGeom xmlns:a="http://schemas.openxmlformats.org/drawingml/2006/main" prst="rect">
            <a:avLst/>
          </a:prstGeom>
        </p:spPr>
      </p:pic>
      <p:pic>
        <p:nvPicPr>
          <p:cNvPr id="52" name="">
            <a:extLst xmlns:a="http://schemas.openxmlformats.org/drawingml/2006/main">
              <a:ext uri="{FF2B5EF4-FFF2-40B4-BE49-F238E27FC236}">
                <a16:creationId xmlns:a16="http://schemas.microsoft.com/office/drawing/2014/main" id="{19066D7E-3B45-4CC9-9F91-59935A2BB6E2}"/>
              </a:ext>
            </a:extLst>
          </p:cNvPr>
          <p:cNvPicPr>
            <a:picLocks xmlns:a="http://schemas.openxmlformats.org/drawingml/2006/main" noChangeAspect="1"/>
          </p:cNvPicPr>
          <p:nvPr/>
        </p:nvPicPr>
        <p:blipFill>
          <a:blip xmlns:r="http://schemas.openxmlformats.org/officeDocument/2006/relationships" xmlns:a="http://schemas.openxmlformats.org/drawingml/2006/main" r:embed="R973ce533e3da43f9">
            <a:extLst>
              <a:ext uri="{96DAC541-7B7A-43D3-8B79-37D633B846F1}">
                <asvg:svgBlip xmlns:asvg="http://schemas.microsoft.com/office/drawing/2016/SVG/main" r:embed="R2c2fdd8324a34af5"/>
              </a:ext>
            </a:extLst>
          </a:blip>
          <a:stretch xmlns:a="http://schemas.openxmlformats.org/drawingml/2006/main"/>
        </p:blipFill>
        <p:spPr>
          <a:xfrm xmlns:a="http://schemas.openxmlformats.org/drawingml/2006/main">
            <a:off x="3595947" y="3947895"/>
            <a:ext cx="5000106" cy="101610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E447DB65-8978-41AC-88D2-DFF89F3B5052}"/>
              </a:ext>
            </a:extLst>
          </p:cNvPr>
          <p:cNvSpPr>
            <a:spLocks xmlns:a="http://schemas.openxmlformats.org/drawingml/2006/main" noGrp="1"/>
          </p:cNvSpPr>
          <p:nvPr/>
        </p:nvSpPr>
        <p:spPr>
          <a:xfrm xmlns:a="http://schemas.openxmlformats.org/drawingml/2006/main">
            <a:off x="609600" y="519259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Обе величины вычисляем при одних и тех же текущих параметрах. Затем</a:t>
            </a:r>
          </a:p>
          <a:p xmlns:a="http://schemas.openxmlformats.org/drawingml/2006/main">
            <a:pPr algn="l">
              <a:defRPr sz="2250" b="0">
                <a:solidFill>
                  <a:srgbClr val="111111"/>
                </a:solidFill>
              </a:defRPr>
            </a:pPr>
            <a:r>
              <a:rPr sz="2250" b="0">
                <a:solidFill>
                  <a:srgbClr val="111111"/>
                </a:solidFill>
              </a:rPr>
              <a:t>одновременно обновляем вес и сдвиг.</a:t>
            </a:r>
          </a:p>
        </p:txBody>
      </p:sp>
    </p:spTree>
    <p:extLst>
      <p:ext uri="{BB962C8B-B14F-4D97-AF65-F5344CB8AC3E}">
        <p14:creationId xmlns:p14="http://schemas.microsoft.com/office/powerpoint/2010/main" val="29764943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E3EB7AA5-C575-426F-BC82-266298B82BFA}"/>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ADB4C6-1E1B-4A49-BABE-4316F871E328}"/>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F9B5FD54-81B3-4BE0-81C6-73911EE66835}"/>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3CD7C22A-4EB5-4B0D-8136-F7FA4A3DF05A}"/>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BB46045A-5E24-437E-AA6D-CC622BC43F9F}"/>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8A487765-942E-4594-BAD8-61421DE8282F}"/>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3E7AA62B-B024-43EB-B886-3F2EA5A805F0}"/>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121BA692-A9D3-4A80-A3EE-CAAAD9E02D34}"/>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0BC6A592-1005-4B61-B37C-A1D90FDFDA17}"/>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AD78D698-436D-41EE-B2D8-25E049C92FA2}"/>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52072730-9294-432A-9FC6-ED5CA7656065}"/>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5728D4A5-1E88-4272-ABB8-B9D4EB8416B9}"/>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B08EF09F-8FDF-4AE4-AFD2-9CE76BB2114F}"/>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6DC69500-4E6E-46EC-93B2-B504A4B9BECA}"/>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3C1FAB6B-BAE0-45F8-8AB4-3C1BCBD80FC3}"/>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F065C1C2-DA87-4664-BA5F-0148DCD79AD9}"/>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C8FD68F9-AB3B-4CE6-BB62-BE8F80557A7A}"/>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57DB3168-04E5-42CF-8170-BF8EC54AE922}"/>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E5C7180F-3D5B-4B42-B6C9-F50DD5700196}"/>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BA1153BD-3430-49AD-A504-B6824C04E115}"/>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2CFEB9BD-4A70-43B3-A17C-22E39E38A9B9}"/>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8833A51C-5522-45E6-BA6C-F0853EF71403}"/>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638139F9-99DA-49A9-B777-2C382A023FBF}"/>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FBADAD36-7072-4C0A-B06E-31B881416205}"/>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C00B554F-DE50-42E6-BF2A-4D466DC12D19}"/>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1B149779-18CA-47A5-86D3-A3859D5DE2BB}"/>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97D3AFAC-155C-49D0-8755-39B8B38E89C8}"/>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E6F4BF92-4635-4899-BEAF-63E791B69680}"/>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DF9223F2-473B-4E4C-9CC0-634A34085667}"/>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5BB7274A-FB99-4724-9C00-88EAE2BAFFF1}"/>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10C9091D-1D2C-4B77-AC84-C2D27D8D5223}"/>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78AFD6CA-C1C6-41B8-B732-89D3413747DB}"/>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874B5E64-7CB2-4811-AFC0-9E33C70B8007}"/>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027E5528-A712-476B-AF15-4D68ABF4848C}"/>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853AF49A-AD8D-448A-B934-301534EA87A7}"/>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32153791-157B-43E7-B8AB-898E82D5560A}"/>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0E06C6FA-FA37-40C7-9790-776F438CF852}"/>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268081EA-94B4-4D98-A224-91F0B3251732}"/>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4AEC87E1-F9C4-4D57-9865-E233A7C61152}"/>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00647648-6DE3-42CC-82C2-230A75950034}"/>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CCD986FD-6F38-4A88-A34C-D1B96F5B64C7}"/>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5C934681-621F-49CE-A665-E85B942F4351}"/>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AC31CFBB-AD07-4423-85C1-AE380FA8760E}"/>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B4732DC-0BE9-450D-A22A-FCE02CB072CB}"/>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Один шаг обучения вручную</a:t>
            </a:r>
          </a:p>
        </p:txBody>
      </p:sp>
      <p:sp>
        <p:nvSpPr>
          <p:cNvPr id="45" name="">
            <a:extLst xmlns:a="http://schemas.openxmlformats.org/drawingml/2006/main">
              <a:ext uri="{FF2B5EF4-FFF2-40B4-BE49-F238E27FC236}">
                <a16:creationId xmlns:a16="http://schemas.microsoft.com/office/drawing/2014/main" id="{C77221F1-DBED-4473-94E1-C6A88F4A10EF}"/>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C3E91DF-8E04-458B-B54F-8D4044CA613F}"/>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76C372DC-E771-4232-940E-377D570A7410}"/>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F53D436F-5B4D-4292-9FCD-829B942F0E49}"/>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2CD9A0A8-9838-4DB0-8F37-A0942A841D81}"/>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21 / 37</a:t>
            </a:r>
          </a:p>
        </p:txBody>
      </p:sp>
      <p:pic>
        <p:nvPicPr>
          <p:cNvPr id="50" name="">
            <a:extLst xmlns:a="http://schemas.openxmlformats.org/drawingml/2006/main">
              <a:ext uri="{FF2B5EF4-FFF2-40B4-BE49-F238E27FC236}">
                <a16:creationId xmlns:a16="http://schemas.microsoft.com/office/drawing/2014/main" id="{C307134F-0631-4C4D-8E08-6807D594C9FA}"/>
              </a:ext>
            </a:extLst>
          </p:cNvPr>
          <p:cNvPicPr>
            <a:picLocks xmlns:a="http://schemas.openxmlformats.org/drawingml/2006/main" noChangeAspect="1"/>
          </p:cNvPicPr>
          <p:nvPr/>
        </p:nvPicPr>
        <p:blipFill>
          <a:blip xmlns:r="http://schemas.openxmlformats.org/officeDocument/2006/relationships" xmlns:a="http://schemas.openxmlformats.org/drawingml/2006/main" r:embed="Rebc9fc1b9d544078">
            <a:extLst>
              <a:ext uri="{96DAC541-7B7A-43D3-8B79-37D633B846F1}">
                <asvg:svgBlip xmlns:asvg="http://schemas.microsoft.com/office/drawing/2016/SVG/main" r:embed="Rc3f0543f6a2e4a7d"/>
              </a:ext>
            </a:extLst>
          </a:blip>
          <a:stretch xmlns:a="http://schemas.openxmlformats.org/drawingml/2006/main"/>
        </p:blipFill>
        <p:spPr>
          <a:xfrm xmlns:a="http://schemas.openxmlformats.org/drawingml/2006/main">
            <a:off x="2274794" y="1743075"/>
            <a:ext cx="7642411" cy="294172"/>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EE0B6B82-5092-4003-99CE-69CEEA8FE001}"/>
              </a:ext>
            </a:extLst>
          </p:cNvPr>
          <p:cNvSpPr>
            <a:spLocks xmlns:a="http://schemas.openxmlformats.org/drawingml/2006/main" noGrp="1"/>
          </p:cNvSpPr>
          <p:nvPr/>
        </p:nvSpPr>
        <p:spPr>
          <a:xfrm xmlns:a="http://schemas.openxmlformats.org/drawingml/2006/main">
            <a:off x="609600" y="2265847"/>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На двух точках начальные ошибки равны −1 и −3. Для этой выборки множитель</a:t>
            </a:r>
          </a:p>
          <a:p xmlns:a="http://schemas.openxmlformats.org/drawingml/2006/main">
            <a:pPr algn="l">
              <a:defRPr sz="2250" b="0">
                <a:solidFill>
                  <a:srgbClr val="111111"/>
                </a:solidFill>
              </a:defRPr>
            </a:pPr>
            <a:r>
              <a:rPr sz="2250" b="0">
                <a:solidFill>
                  <a:srgbClr val="111111"/>
                </a:solidFill>
              </a:rPr>
              <a:t>2/n равен единице.</a:t>
            </a:r>
          </a:p>
        </p:txBody>
      </p:sp>
      <p:pic>
        <p:nvPicPr>
          <p:cNvPr id="52" name="">
            <a:extLst xmlns:a="http://schemas.openxmlformats.org/drawingml/2006/main">
              <a:ext uri="{FF2B5EF4-FFF2-40B4-BE49-F238E27FC236}">
                <a16:creationId xmlns:a16="http://schemas.microsoft.com/office/drawing/2014/main" id="{0362A50F-DE56-4EB0-A63A-2DA0EE7788DA}"/>
              </a:ext>
            </a:extLst>
          </p:cNvPr>
          <p:cNvPicPr>
            <a:picLocks xmlns:a="http://schemas.openxmlformats.org/drawingml/2006/main" noChangeAspect="1"/>
          </p:cNvPicPr>
          <p:nvPr/>
        </p:nvPicPr>
        <p:blipFill>
          <a:blip xmlns:r="http://schemas.openxmlformats.org/officeDocument/2006/relationships" xmlns:a="http://schemas.openxmlformats.org/drawingml/2006/main" r:embed="Re5571dd59c6c4841">
            <a:extLst>
              <a:ext uri="{96DAC541-7B7A-43D3-8B79-37D633B846F1}">
                <asvg:svgBlip xmlns:asvg="http://schemas.microsoft.com/office/drawing/2016/SVG/main" r:embed="Rb67131f3167449a6"/>
              </a:ext>
            </a:extLst>
          </a:blip>
          <a:stretch xmlns:a="http://schemas.openxmlformats.org/drawingml/2006/main"/>
        </p:blipFill>
        <p:spPr>
          <a:xfrm xmlns:a="http://schemas.openxmlformats.org/drawingml/2006/main">
            <a:off x="4032958" y="3225967"/>
            <a:ext cx="4126084" cy="322640"/>
          </a:xfrm>
          <a:prstGeom xmlns:a="http://schemas.openxmlformats.org/drawingml/2006/main" prst="rect">
            <a:avLst/>
          </a:prstGeom>
        </p:spPr>
      </p:pic>
      <p:pic>
        <p:nvPicPr>
          <p:cNvPr id="53" name="">
            <a:extLst xmlns:a="http://schemas.openxmlformats.org/drawingml/2006/main">
              <a:ext uri="{FF2B5EF4-FFF2-40B4-BE49-F238E27FC236}">
                <a16:creationId xmlns:a16="http://schemas.microsoft.com/office/drawing/2014/main" id="{09BC1BD6-CDDA-4123-BE29-64147E244A14}"/>
              </a:ext>
            </a:extLst>
          </p:cNvPr>
          <p:cNvPicPr>
            <a:picLocks xmlns:a="http://schemas.openxmlformats.org/drawingml/2006/main" noChangeAspect="1"/>
          </p:cNvPicPr>
          <p:nvPr/>
        </p:nvPicPr>
        <p:blipFill>
          <a:blip xmlns:r="http://schemas.openxmlformats.org/officeDocument/2006/relationships" xmlns:a="http://schemas.openxmlformats.org/drawingml/2006/main" r:embed="R3355098dc20e4bce">
            <a:extLst>
              <a:ext uri="{96DAC541-7B7A-43D3-8B79-37D633B846F1}">
                <asvg:svgBlip xmlns:asvg="http://schemas.microsoft.com/office/drawing/2016/SVG/main" r:embed="R1fe568b0a5f24722"/>
              </a:ext>
            </a:extLst>
          </a:blip>
          <a:stretch xmlns:a="http://schemas.openxmlformats.org/drawingml/2006/main"/>
        </p:blipFill>
        <p:spPr>
          <a:xfrm xmlns:a="http://schemas.openxmlformats.org/drawingml/2006/main">
            <a:off x="4841082" y="3777207"/>
            <a:ext cx="2509836" cy="284569"/>
          </a:xfrm>
          <a:prstGeom xmlns:a="http://schemas.openxmlformats.org/drawingml/2006/main" prst="rect">
            <a:avLst/>
          </a:prstGeom>
        </p:spPr>
      </p:pic>
      <p:pic>
        <p:nvPicPr>
          <p:cNvPr id="54" name="">
            <a:extLst xmlns:a="http://schemas.openxmlformats.org/drawingml/2006/main">
              <a:ext uri="{FF2B5EF4-FFF2-40B4-BE49-F238E27FC236}">
                <a16:creationId xmlns:a16="http://schemas.microsoft.com/office/drawing/2014/main" id="{945749FF-6915-4CA4-957A-E4BE07ABDF2B}"/>
              </a:ext>
            </a:extLst>
          </p:cNvPr>
          <p:cNvPicPr>
            <a:picLocks xmlns:a="http://schemas.openxmlformats.org/drawingml/2006/main" noChangeAspect="1"/>
          </p:cNvPicPr>
          <p:nvPr/>
        </p:nvPicPr>
        <p:blipFill>
          <a:blip xmlns:r="http://schemas.openxmlformats.org/officeDocument/2006/relationships" xmlns:a="http://schemas.openxmlformats.org/drawingml/2006/main" r:embed="R65142d6791fe4a51">
            <a:extLst>
              <a:ext uri="{96DAC541-7B7A-43D3-8B79-37D633B846F1}">
                <asvg:svgBlip xmlns:asvg="http://schemas.microsoft.com/office/drawing/2016/SVG/main" r:embed="Rc087eb4c6ae345aa"/>
              </a:ext>
            </a:extLst>
          </a:blip>
          <a:stretch xmlns:a="http://schemas.openxmlformats.org/drawingml/2006/main"/>
        </p:blipFill>
        <p:spPr>
          <a:xfrm xmlns:a="http://schemas.openxmlformats.org/drawingml/2006/main">
            <a:off x="2799268" y="4290376"/>
            <a:ext cx="6593464" cy="315646"/>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37ACE588-C57D-4EC8-8428-D5663C263347}"/>
              </a:ext>
            </a:extLst>
          </p:cNvPr>
          <p:cNvSpPr>
            <a:spLocks xmlns:a="http://schemas.openxmlformats.org/drawingml/2006/main" noGrp="1"/>
          </p:cNvSpPr>
          <p:nvPr/>
        </p:nvSpPr>
        <p:spPr>
          <a:xfrm xmlns:a="http://schemas.openxmlformats.org/drawingml/2006/main">
            <a:off x="609600" y="4834622"/>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После шага MSE уменьшается с 5 до 2,825. Это отдельный маленький пример</a:t>
            </a:r>
          </a:p>
          <a:p xmlns:a="http://schemas.openxmlformats.org/drawingml/2006/main">
            <a:pPr algn="l">
              <a:defRPr sz="2250" b="0">
                <a:solidFill>
                  <a:srgbClr val="111111"/>
                </a:solidFill>
              </a:defRPr>
            </a:pPr>
            <a:r>
              <a:rPr sz="2250" b="0">
                <a:solidFill>
                  <a:srgbClr val="111111"/>
                </a:solidFill>
              </a:rPr>
              <a:t>для ручного счёта.</a:t>
            </a:r>
          </a:p>
        </p:txBody>
      </p:sp>
    </p:spTree>
    <p:extLst>
      <p:ext uri="{BB962C8B-B14F-4D97-AF65-F5344CB8AC3E}">
        <p14:creationId xmlns:p14="http://schemas.microsoft.com/office/powerpoint/2010/main" val="140373635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EA7F197C-FF39-4ABF-B819-43C4A36679DF}"/>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19D244-6329-4E6A-BEBC-3EDDCF0C30B7}"/>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49E43487-19CD-4257-8493-D684FE9B3574}"/>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DFD2970E-2BDA-4BE3-90F1-02F96DD9883E}"/>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1F661F08-F9A0-4E92-8AB6-D83E6016CF84}"/>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01C798D5-9A4B-43B9-B280-BDA7ED04189A}"/>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AC771BA7-258D-4DA1-91F8-F56D315B88C4}"/>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7AF95147-51F7-4109-B9DF-35BF11BE2A43}"/>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92B3C872-C0FD-40FD-86EF-775A283BE67B}"/>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F1665302-FCE4-47CF-ACDF-FF302FA93FEC}"/>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79862808-CA2F-46E8-AF06-23477E4E7412}"/>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CB8901FC-358F-4267-8C85-AEADF99FB8EA}"/>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4EE20B11-A733-4D4A-93E4-2EA977AB735B}"/>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AF6C06DF-B92C-4BAA-A77B-9FB808751365}"/>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C5D57059-211D-4CCA-9247-1C9DE388E254}"/>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4CDC2111-1534-4567-9034-ADF60282732C}"/>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AFBC2C5D-7FE0-4F7B-8DF3-5809F702DF11}"/>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B8F82586-D32E-498D-A4B2-14790AA86203}"/>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A56E8E5B-D4EE-4BDE-91C2-BA6D3BBC038D}"/>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8BD4CD3F-7A98-4EC5-8BD0-26CADC8B37D7}"/>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E3A03801-4434-412F-B521-06216EB10F05}"/>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ED74E6EC-4D7D-4DBF-AA2C-30449F84174C}"/>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3C0870A4-5B6D-4C04-8FE3-F91D49ABEFC4}"/>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0F3FDB18-3EFA-47ED-B837-EB59111741A5}"/>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BBD6B9B1-DC96-4128-8C02-278F1CA22F12}"/>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18DA265C-957D-488D-AE8E-87A7E46D11FE}"/>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B494266C-BD94-4D5F-B73F-40C9CE64D461}"/>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C9EE6158-2A8A-41D9-81E4-52476534C5D6}"/>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6B64D95C-9334-47E2-8900-1B91AF6537F6}"/>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5E1DD93E-BF70-4B57-BEAD-6CD04E228513}"/>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2CAAEA06-0A35-4DDD-88E6-0E113948D534}"/>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D6E5A941-7B30-49E1-BC41-4EF75541403D}"/>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25A6EF60-E5C7-495C-96D1-DBCECC717006}"/>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7615774E-024B-4EA2-8DFE-3730965DEB46}"/>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92C1F1E2-C267-4FD7-9452-91BDB33DBD1B}"/>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B333F6AE-4584-47B7-B670-494484C71EA2}"/>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ABA1C874-0CFD-4CA6-93F0-0E26AF24F960}"/>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C41FFE02-3271-4493-8B0E-77E48383CC1E}"/>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6615C798-A742-44A3-B92F-693078E0916D}"/>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45A9A15A-438F-42AD-AD95-727D18E1EE80}"/>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F093F4F4-B8C7-4608-BE67-E9EC5E615F7E}"/>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4CEC6120-A827-4BF1-9C98-8E84A259B27C}"/>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0BE22E75-B87F-484A-81B3-DE289FC792D0}"/>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FEBF73A-51CC-4E64-ACC4-C73C4365FC60}"/>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Цикл обучения</a:t>
            </a:r>
          </a:p>
        </p:txBody>
      </p:sp>
      <p:sp>
        <p:nvSpPr>
          <p:cNvPr id="45" name="">
            <a:extLst xmlns:a="http://schemas.openxmlformats.org/drawingml/2006/main">
              <a:ext uri="{FF2B5EF4-FFF2-40B4-BE49-F238E27FC236}">
                <a16:creationId xmlns:a16="http://schemas.microsoft.com/office/drawing/2014/main" id="{777DB091-FDF8-4F03-8003-2E211D328B5D}"/>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D3318D4-91E0-4FFF-8CE6-40C76D31E8A3}"/>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45B3F94-3020-4C90-B6C7-B222C6DCAEC5}"/>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E9815363-43D7-49E1-B9BF-23EE698358F0}"/>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666F6814-C424-43C6-B870-424697D8ACC7}"/>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22 / 37</a:t>
            </a:r>
          </a:p>
        </p:txBody>
      </p:sp>
      <p:sp>
        <p:nvSpPr>
          <p:cNvPr id="50" name="">
            <a:extLst xmlns:a="http://schemas.openxmlformats.org/drawingml/2006/main">
              <a:ext uri="{FF2B5EF4-FFF2-40B4-BE49-F238E27FC236}">
                <a16:creationId xmlns:a16="http://schemas.microsoft.com/office/drawing/2014/main" id="{734B9D74-16EC-41AC-BF51-F212709010F6}"/>
              </a:ext>
            </a:extLst>
          </p:cNvPr>
          <p:cNvSpPr>
            <a:spLocks xmlns:a="http://schemas.openxmlformats.org/drawingml/2006/main" noGrp="1"/>
          </p:cNvSpPr>
          <p:nvPr/>
        </p:nvSpPr>
        <p:spPr>
          <a:xfrm xmlns:a="http://schemas.openxmlformats.org/drawingml/2006/main">
            <a:off x="609600" y="1743075"/>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1. Получить прогнозы и ошибки на обучающей выборке.</a:t>
            </a:r>
          </a:p>
        </p:txBody>
      </p:sp>
      <p:sp>
        <p:nvSpPr>
          <p:cNvPr id="51" name="">
            <a:extLst xmlns:a="http://schemas.openxmlformats.org/drawingml/2006/main">
              <a:ext uri="{FF2B5EF4-FFF2-40B4-BE49-F238E27FC236}">
                <a16:creationId xmlns:a16="http://schemas.microsoft.com/office/drawing/2014/main" id="{21702744-ADAD-491B-9851-5275A7B4DF80}"/>
              </a:ext>
            </a:extLst>
          </p:cNvPr>
          <p:cNvSpPr>
            <a:spLocks xmlns:a="http://schemas.openxmlformats.org/drawingml/2006/main" noGrp="1"/>
          </p:cNvSpPr>
          <p:nvPr/>
        </p:nvSpPr>
        <p:spPr>
          <a:xfrm xmlns:a="http://schemas.openxmlformats.org/drawingml/2006/main">
            <a:off x="609600" y="2337435"/>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2. По тем же ошибкам вычислить обе частные производные.</a:t>
            </a:r>
          </a:p>
        </p:txBody>
      </p:sp>
      <p:sp>
        <p:nvSpPr>
          <p:cNvPr id="52" name="">
            <a:extLst xmlns:a="http://schemas.openxmlformats.org/drawingml/2006/main">
              <a:ext uri="{FF2B5EF4-FFF2-40B4-BE49-F238E27FC236}">
                <a16:creationId xmlns:a16="http://schemas.microsoft.com/office/drawing/2014/main" id="{ECF82569-342C-4047-BA96-F0CD7D3FF2B6}"/>
              </a:ext>
            </a:extLst>
          </p:cNvPr>
          <p:cNvSpPr>
            <a:spLocks xmlns:a="http://schemas.openxmlformats.org/drawingml/2006/main" noGrp="1"/>
          </p:cNvSpPr>
          <p:nvPr/>
        </p:nvSpPr>
        <p:spPr>
          <a:xfrm xmlns:a="http://schemas.openxmlformats.org/drawingml/2006/main">
            <a:off x="609600" y="2931795"/>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3. Одновременно обновить параметры:</a:t>
            </a:r>
          </a:p>
        </p:txBody>
      </p:sp>
      <p:pic>
        <p:nvPicPr>
          <p:cNvPr id="53" name="">
            <a:extLst xmlns:a="http://schemas.openxmlformats.org/drawingml/2006/main">
              <a:ext uri="{FF2B5EF4-FFF2-40B4-BE49-F238E27FC236}">
                <a16:creationId xmlns:a16="http://schemas.microsoft.com/office/drawing/2014/main" id="{E717A55E-6B82-4D55-B948-59431FCF43EB}"/>
              </a:ext>
            </a:extLst>
          </p:cNvPr>
          <p:cNvPicPr>
            <a:picLocks xmlns:a="http://schemas.openxmlformats.org/drawingml/2006/main" noChangeAspect="1"/>
          </p:cNvPicPr>
          <p:nvPr/>
        </p:nvPicPr>
        <p:blipFill>
          <a:blip xmlns:r="http://schemas.openxmlformats.org/officeDocument/2006/relationships" xmlns:a="http://schemas.openxmlformats.org/drawingml/2006/main" r:embed="R27922e963cc54d6b">
            <a:extLst>
              <a:ext uri="{96DAC541-7B7A-43D3-8B79-37D633B846F1}">
                <asvg:svgBlip xmlns:asvg="http://schemas.microsoft.com/office/drawing/2016/SVG/main" r:embed="Rccf5bdf5c46443ae"/>
              </a:ext>
            </a:extLst>
          </a:blip>
          <a:stretch xmlns:a="http://schemas.openxmlformats.org/drawingml/2006/main"/>
        </p:blipFill>
        <p:spPr>
          <a:xfrm xmlns:a="http://schemas.openxmlformats.org/drawingml/2006/main">
            <a:off x="3065977" y="3526155"/>
            <a:ext cx="6060047" cy="334129"/>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EDADF6AF-AEFC-4955-BD06-A3C2EDB4CAEA}"/>
              </a:ext>
            </a:extLst>
          </p:cNvPr>
          <p:cNvSpPr>
            <a:spLocks xmlns:a="http://schemas.openxmlformats.org/drawingml/2006/main" noGrp="1"/>
          </p:cNvSpPr>
          <p:nvPr/>
        </p:nvSpPr>
        <p:spPr>
          <a:xfrm xmlns:a="http://schemas.openxmlformats.org/drawingml/2006/main">
            <a:off x="609600" y="4088884"/>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4. Повторять до лимита итераций или малости градиента.</a:t>
            </a:r>
          </a:p>
        </p:txBody>
      </p:sp>
      <p:sp>
        <p:nvSpPr>
          <p:cNvPr id="55" name="">
            <a:extLst xmlns:a="http://schemas.openxmlformats.org/drawingml/2006/main">
              <a:ext uri="{FF2B5EF4-FFF2-40B4-BE49-F238E27FC236}">
                <a16:creationId xmlns:a16="http://schemas.microsoft.com/office/drawing/2014/main" id="{63E27BF1-0576-4BAA-BB7B-6CD92D3D9B0A}"/>
              </a:ext>
            </a:extLst>
          </p:cNvPr>
          <p:cNvSpPr>
            <a:spLocks xmlns:a="http://schemas.openxmlformats.org/drawingml/2006/main" noGrp="1"/>
          </p:cNvSpPr>
          <p:nvPr/>
        </p:nvSpPr>
        <p:spPr>
          <a:xfrm xmlns:a="http://schemas.openxmlformats.org/drawingml/2006/main">
            <a:off x="609600" y="4683244"/>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История MSE помогает проверить процесс. Не нужно ждать нулевой ошибки:</a:t>
            </a:r>
          </a:p>
          <a:p xmlns:a="http://schemas.openxmlformats.org/drawingml/2006/main">
            <a:pPr algn="l">
              <a:defRPr sz="2250" b="0">
                <a:solidFill>
                  <a:srgbClr val="111111"/>
                </a:solidFill>
              </a:defRPr>
            </a:pPr>
            <a:r>
              <a:rPr sz="2250" b="0">
                <a:solidFill>
                  <a:srgbClr val="111111"/>
                </a:solidFill>
              </a:rPr>
              <a:t>при шумных данных она обычно недостижима.</a:t>
            </a:r>
          </a:p>
        </p:txBody>
      </p:sp>
    </p:spTree>
    <p:extLst>
      <p:ext uri="{BB962C8B-B14F-4D97-AF65-F5344CB8AC3E}">
        <p14:creationId xmlns:p14="http://schemas.microsoft.com/office/powerpoint/2010/main" val="37096976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DBF93FE2-F2B1-4B28-9506-0BBCFD4CEC11}"/>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65D675-DB62-4D8C-AFA8-BCC46FC91E57}"/>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124AA7B8-775E-4B45-829D-627F67129524}"/>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C4CE38AB-0370-4CE8-8859-70DCBED82A47}"/>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D0360483-0533-4839-9EB3-C8BD3C4B5711}"/>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3BD4EDB1-1D78-4DE3-B766-718611BFB4A5}"/>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FDF938EF-D6AF-400C-B207-3F9FFB936084}"/>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72D6D710-F7F0-4EFA-8ABC-4FE80C5A63E2}"/>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5695F27E-0EE1-40E7-A382-3F838B82173D}"/>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C113F5B6-C9C1-41CB-AC6E-4F7BCC7AA89F}"/>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3891A495-97C6-4FB9-85A6-074CEC8DBF72}"/>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DB1AF6A6-CB5A-4EA3-84E5-DBBA05B66894}"/>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DEC9F49B-99E7-4FF6-A7A3-7DD635D56969}"/>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93C3E892-5250-46A3-AEC7-F3225643B70F}"/>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C76B5679-BBB9-4599-9028-45FCE8371813}"/>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48E74977-71F1-4AB1-B030-A888E8C8A620}"/>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03BC9129-A107-4597-BCDE-B0AFDF483151}"/>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A184D652-2083-4823-881D-754FD5766E6F}"/>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B2BB5E86-199A-4818-91FC-398104F47E1F}"/>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47C6F392-218F-46A0-B275-9F5826F95059}"/>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50ADDFA9-3FEE-4561-9939-384E8B568AE8}"/>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B3F236DB-44B0-465A-80C4-215EC97C5DF6}"/>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400B0ABF-660B-471D-88A8-F0AE2136A18A}"/>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5A982F3F-7660-4D07-91D6-66E9F8907A04}"/>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C4235C0C-B830-4A24-929C-B0B34693F378}"/>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AE6D37E5-8B5F-4C47-8422-C46E1B5B2966}"/>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71C97E2F-E636-4C5B-9315-59C05780CA3F}"/>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6B2E8107-9B82-4DEF-99F7-89488AB37FDA}"/>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9C16E821-A28F-4144-B3A9-200CFBCBB310}"/>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CD5654F9-A186-4F53-87E8-B0F698785958}"/>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D7DDDAA3-8D9B-4407-8DAC-580C6EF9C223}"/>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BD8BDE85-BE6F-414D-B66C-FB63AFB1D649}"/>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E7110E66-AA1B-4343-99E2-F75556D53354}"/>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51C0B6C5-A854-411C-8E8A-7951399F3F17}"/>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1D0671BE-694B-40E7-A4FB-5439D27F34D3}"/>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F65BEE14-3798-4BC7-B3D6-CE0CA8375714}"/>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4176906F-49C9-4FF4-8A1C-9DE45BB02F7C}"/>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F4177CCC-E674-464F-9FE5-4BE781DC03F1}"/>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F501A978-4FAD-4D92-B12C-9210D3B65350}"/>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FB29C753-470F-4B88-9ABB-52F036FC9468}"/>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585A38A3-1673-4CFF-9440-E66E26FE3543}"/>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4D1C1912-1039-428B-85EC-6CD614E8026A}"/>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93170E82-B3CA-4EB7-A216-71124BC74D72}"/>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5A08474-BB78-4FB8-9D99-328342F56F12}"/>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Ошибка по ходу обучения</a:t>
            </a:r>
          </a:p>
        </p:txBody>
      </p:sp>
      <p:sp>
        <p:nvSpPr>
          <p:cNvPr id="45" name="">
            <a:extLst xmlns:a="http://schemas.openxmlformats.org/drawingml/2006/main">
              <a:ext uri="{FF2B5EF4-FFF2-40B4-BE49-F238E27FC236}">
                <a16:creationId xmlns:a16="http://schemas.microsoft.com/office/drawing/2014/main" id="{9186FD7D-24A7-4116-8275-53EDAA426E1C}"/>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7818C62-17BE-44B1-A670-7EDC3650ED20}"/>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8F71682-7840-4FEC-A9E5-A31D3C004EC0}"/>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11E1E00E-2BB2-4B3B-BE33-51BE45E9A52D}"/>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347402D3-949E-4597-95B6-679468552552}"/>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23 / 37</a:t>
            </a:r>
          </a:p>
        </p:txBody>
      </p:sp>
      <p:pic>
        <p:nvPicPr>
          <p:cNvPr id="50" name="">
            <a:extLst xmlns:a="http://schemas.openxmlformats.org/drawingml/2006/main">
              <a:ext uri="{FF2B5EF4-FFF2-40B4-BE49-F238E27FC236}">
                <a16:creationId xmlns:a16="http://schemas.microsoft.com/office/drawing/2014/main" id="{8F0D51DF-3F89-4119-9E3B-9BEA7286FAFA}"/>
              </a:ext>
            </a:extLst>
          </p:cNvPr>
          <p:cNvPicPr>
            <a:picLocks xmlns:a="http://schemas.openxmlformats.org/drawingml/2006/main" noChangeAspect="1"/>
          </p:cNvPicPr>
          <p:nvPr/>
        </p:nvPicPr>
        <p:blipFill>
          <a:blip xmlns:r="http://schemas.openxmlformats.org/officeDocument/2006/relationships" xmlns:a="http://schemas.openxmlformats.org/drawingml/2006/main" r:embed="R5b02fdafd2ce4896">
            <a:extLst>
              <a:ext uri="{96DAC541-7B7A-43D3-8B79-37D633B846F1}">
                <asvg:svgBlip xmlns:asvg="http://schemas.microsoft.com/office/drawing/2016/SVG/main" r:embed="R5bb0952e026b4379"/>
              </a:ext>
            </a:extLst>
          </a:blip>
          <a:stretch xmlns:a="http://schemas.openxmlformats.org/drawingml/2006/main"/>
        </p:blipFill>
        <p:spPr>
          <a:xfrm xmlns:a="http://schemas.openxmlformats.org/drawingml/2006/main">
            <a:off x="1457562" y="1743075"/>
            <a:ext cx="3619027" cy="293602"/>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54E10E3A-AAD9-40F4-9B1C-41F0792E0535}"/>
              </a:ext>
            </a:extLst>
          </p:cNvPr>
          <p:cNvSpPr>
            <a:spLocks xmlns:a="http://schemas.openxmlformats.org/drawingml/2006/main" noGrp="1"/>
          </p:cNvSpPr>
          <p:nvPr/>
        </p:nvSpPr>
        <p:spPr>
          <a:xfrm xmlns:a="http://schemas.openxmlformats.org/drawingml/2006/main">
            <a:off x="609600" y="2208127"/>
            <a:ext cx="53149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По мере обновления параметров MSE</a:t>
            </a:r>
          </a:p>
          <a:p xmlns:a="http://schemas.openxmlformats.org/drawingml/2006/main">
            <a:pPr algn="l">
              <a:defRPr sz="2250" b="0">
                <a:solidFill>
                  <a:srgbClr val="111111"/>
                </a:solidFill>
              </a:defRPr>
            </a:pPr>
            <a:r>
              <a:rPr sz="2250" b="0">
                <a:solidFill>
                  <a:srgbClr val="111111"/>
                </a:solidFill>
              </a:rPr>
              <a:t>снижается.</a:t>
            </a:r>
          </a:p>
        </p:txBody>
      </p:sp>
      <p:sp>
        <p:nvSpPr>
          <p:cNvPr id="52" name="">
            <a:extLst xmlns:a="http://schemas.openxmlformats.org/drawingml/2006/main">
              <a:ext uri="{FF2B5EF4-FFF2-40B4-BE49-F238E27FC236}">
                <a16:creationId xmlns:a16="http://schemas.microsoft.com/office/drawing/2014/main" id="{B1C9D87C-7A5E-498E-84F1-D3628C71A574}"/>
              </a:ext>
            </a:extLst>
          </p:cNvPr>
          <p:cNvSpPr>
            <a:spLocks xmlns:a="http://schemas.openxmlformats.org/drawingml/2006/main" noGrp="1"/>
          </p:cNvSpPr>
          <p:nvPr/>
        </p:nvSpPr>
        <p:spPr>
          <a:xfrm xmlns:a="http://schemas.openxmlformats.org/drawingml/2006/main">
            <a:off x="609600" y="3111097"/>
            <a:ext cx="531495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На наших данных минимальная MSE</a:t>
            </a:r>
          </a:p>
          <a:p xmlns:a="http://schemas.openxmlformats.org/drawingml/2006/main">
            <a:pPr algn="l">
              <a:defRPr sz="2250" b="0">
                <a:solidFill>
                  <a:srgbClr val="111111"/>
                </a:solidFill>
              </a:defRPr>
            </a:pPr>
            <a:r>
              <a:rPr sz="2250" b="0">
                <a:solidFill>
                  <a:srgbClr val="111111"/>
                </a:solidFill>
              </a:rPr>
              <a:t>равна 0,32. Исходные точки не лежат</a:t>
            </a:r>
          </a:p>
          <a:p xmlns:a="http://schemas.openxmlformats.org/drawingml/2006/main">
            <a:pPr algn="l">
              <a:defRPr sz="2250" b="0">
                <a:solidFill>
                  <a:srgbClr val="111111"/>
                </a:solidFill>
              </a:defRPr>
            </a:pPr>
            <a:r>
              <a:rPr sz="2250" b="0">
                <a:solidFill>
                  <a:srgbClr val="111111"/>
                </a:solidFill>
              </a:rPr>
              <a:t>на одной прямой.</a:t>
            </a:r>
          </a:p>
        </p:txBody>
      </p:sp>
      <p:graphicFrame>
        <p:nvGraphicFramePr>
          <p:cNvPr id="53" name="Chart">
            <a:extLst xmlns:a="http://schemas.openxmlformats.org/drawingml/2006/main">
              <a:ext uri="{FF2B5EF4-FFF2-40B4-BE49-F238E27FC236}">
                <a16:creationId xmlns:a16="http://schemas.microsoft.com/office/drawing/2014/main" id="{ED4F3A49-CDAF-4C5C-A44D-517FD3B64C90}"/>
              </a:ext>
            </a:extLst>
          </p:cNvPr>
          <p:cNvGraphicFramePr/>
          <p:nvPr/>
        </p:nvGraphicFramePr>
        <p:xfrm>
          <a:off xmlns:a="http://schemas.openxmlformats.org/drawingml/2006/main" x="6267450" y="1743075"/>
          <a:ext xmlns:a="http://schemas.openxmlformats.org/drawingml/2006/main" cx="5314950" cy="4000500"/>
        </p:xfrm>
        <a:graphic xmlns:a="http://schemas.openxmlformats.org/drawingml/2006/main">
          <a:graphicData uri="http://schemas.openxmlformats.org/drawingml/2006/chart">
            <c:chart xmlns:r="http://schemas.openxmlformats.org/officeDocument/2006/relationships" xmlns:c="http://schemas.openxmlformats.org/drawingml/2006/chart" r:id="R315c74669f55474d"/>
          </a:graphicData>
        </a:graphic>
      </p:graphicFrame>
      <p:sp>
        <p:nvSpPr>
          <p:cNvPr id="54" name="">
            <a:extLst xmlns:a="http://schemas.openxmlformats.org/drawingml/2006/main">
              <a:ext uri="{FF2B5EF4-FFF2-40B4-BE49-F238E27FC236}">
                <a16:creationId xmlns:a16="http://schemas.microsoft.com/office/drawing/2014/main" id="{7591C53D-BBC2-4FA2-823A-B7C6C01FED44}"/>
              </a:ext>
            </a:extLst>
          </p:cNvPr>
          <p:cNvSpPr>
            <a:spLocks xmlns:a="http://schemas.openxmlformats.org/drawingml/2006/main" noGrp="1"/>
          </p:cNvSpPr>
          <p:nvPr/>
        </p:nvSpPr>
        <p:spPr>
          <a:xfrm xmlns:a="http://schemas.openxmlformats.org/drawingml/2006/main">
            <a:off x="609600" y="59721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Резкий рост ошибки требует проверки шага, масштаба признаков и формул.</a:t>
            </a:r>
          </a:p>
          <a:p xmlns:a="http://schemas.openxmlformats.org/drawingml/2006/main">
            <a:pPr algn="l">
              <a:defRPr sz="2250" b="0">
                <a:solidFill>
                  <a:srgbClr val="111111"/>
                </a:solidFill>
              </a:defRPr>
            </a:pPr>
            <a:r>
              <a:rPr sz="2250" b="0">
                <a:solidFill>
                  <a:srgbClr val="111111"/>
                </a:solidFill>
              </a:rPr>
              <a:t>Плато выше нуля само по себе не означает ошибку реализации.</a:t>
            </a:r>
          </a:p>
        </p:txBody>
      </p:sp>
    </p:spTree>
    <p:extLst>
      <p:ext uri="{BB962C8B-B14F-4D97-AF65-F5344CB8AC3E}">
        <p14:creationId xmlns:p14="http://schemas.microsoft.com/office/powerpoint/2010/main" val="82205770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00DDA9C0-7DD4-4DEF-8B51-89BDA92379F4}"/>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1F7A85-6617-4112-A2A4-87800DB92C1C}"/>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1C0DEA1A-F7D2-4D57-A941-FBBAB87E6036}"/>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95CF0FD0-8CD0-4A52-9071-7AD99DEA450C}"/>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DF850787-727C-4E25-B911-480425CDE10F}"/>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8C6ACD9C-277E-4B47-9C0D-01C5288B27D0}"/>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0FA910E2-33D4-4269-8E07-B2EE70B01823}"/>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06CC2D79-3849-4D15-AF80-BE27C4AA0F38}"/>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B8EC5B40-9A7B-488C-B2ED-FAD07FD10CDB}"/>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C0B09EB3-B3F9-49B8-A13A-79B435A97C84}"/>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853CE74D-FF75-4D59-9EF0-8D74560C7C8F}"/>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E1788C7D-E36D-4BE9-9259-D5D32D1F1E44}"/>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5FAD0F3D-FF23-489E-B7C8-ED062E618777}"/>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F34F30B0-C02E-4062-AD1E-40E90536C8AC}"/>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0BC54DD7-5473-4402-A5CC-852640423BC4}"/>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D544ACAA-5ADD-4292-B24B-F2A94FA4F980}"/>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4EB72BAB-2B27-4470-9B1E-30D9720A3F29}"/>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A449C321-3F87-4614-814A-EA7E2DA286B6}"/>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1FBB9E2F-15F2-4F4D-AE6B-5BA198F12A35}"/>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BF1F051F-1518-4A2E-92FE-5F3902ADC9C9}"/>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BD9E2034-20CD-46F3-971B-B0C0086E34E6}"/>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B85D4A17-231C-4765-AAD5-0FD918D31958}"/>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B3B6EECB-F656-41F0-A25E-3456FF873C92}"/>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B4F8D748-2273-4880-B4AF-4A213D3966BB}"/>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9E5E1294-F5F4-4F71-9221-0F74A5944107}"/>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F5094B9D-07D5-431A-87C5-0E3ADAEF3DD3}"/>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48DA986F-A2CF-470D-B58A-EDACC26288F6}"/>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64A143F7-72BC-4775-B835-9FB583014618}"/>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BA80FF4D-C94B-445B-B972-3CD40104F262}"/>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C0C31391-B966-4DF8-A9F5-583C6CE53939}"/>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0B521279-D69B-49F9-9EC1-77A72036358C}"/>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02255FB9-AA5C-48A2-872E-E1C1499A93B9}"/>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2541FC97-DEE3-4952-BEE1-560026B9349D}"/>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5270067D-DDA6-4013-AF31-CFE5321AF08E}"/>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CC854FB5-588C-46ED-A740-062BA9887435}"/>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EC3C18E6-B7CD-4097-9018-4917951024BB}"/>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ACFDE9B6-0EAE-4220-8E3C-1516C9A0DB08}"/>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BFB0405F-E9B4-4F52-8BB2-0DB3E2E4E458}"/>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88AFD862-3E4C-4B1F-B466-61B807E4A926}"/>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05ECDB45-4195-4E8B-A74C-B65A8FF033A3}"/>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13514FEA-942B-494D-9FC8-7ACAFB3C5638}"/>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BE2C6F41-549F-4CC6-B320-CCDFC1F8BE66}"/>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EF817678-6800-49AB-866C-218E1A1604A6}"/>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A6C7C49D-A6D3-43AA-8B46-53C56388ADCC}"/>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Проверка на новых объектах</a:t>
            </a:r>
          </a:p>
        </p:txBody>
      </p:sp>
      <p:sp>
        <p:nvSpPr>
          <p:cNvPr id="45" name="">
            <a:extLst xmlns:a="http://schemas.openxmlformats.org/drawingml/2006/main">
              <a:ext uri="{FF2B5EF4-FFF2-40B4-BE49-F238E27FC236}">
                <a16:creationId xmlns:a16="http://schemas.microsoft.com/office/drawing/2014/main" id="{502B086B-EBD0-4A16-97CB-6D917D05911B}"/>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D2A6F899-0AD4-4E0B-A4BA-0BDEEA565E81}"/>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A939C4B7-C56A-4C6A-9079-9D20AEDC8E64}"/>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937DE174-4835-453F-BAF2-CB71F132AD60}"/>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E068CBB8-CAD8-457B-8443-F9F020E7A743}"/>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24 / 37</a:t>
            </a:r>
          </a:p>
        </p:txBody>
      </p:sp>
      <p:sp>
        <p:nvSpPr>
          <p:cNvPr id="50" name="">
            <a:extLst xmlns:a="http://schemas.openxmlformats.org/drawingml/2006/main">
              <a:ext uri="{FF2B5EF4-FFF2-40B4-BE49-F238E27FC236}">
                <a16:creationId xmlns:a16="http://schemas.microsoft.com/office/drawing/2014/main" id="{59E202EF-1D9C-4D4B-9CE5-6456DC3DEE0E}"/>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На обучающей выборке подбираем параметры. На отложенных объектах</a:t>
            </a:r>
          </a:p>
          <a:p xmlns:a="http://schemas.openxmlformats.org/drawingml/2006/main">
            <a:pPr algn="l">
              <a:defRPr sz="2250" b="0">
                <a:solidFill>
                  <a:srgbClr val="111111"/>
                </a:solidFill>
              </a:defRPr>
            </a:pPr>
            <a:r>
              <a:rPr sz="2250" b="0">
                <a:solidFill>
                  <a:srgbClr val="111111"/>
                </a:solidFill>
              </a:rPr>
              <a:t>проверяем, насколько хорошо работает найденное правило.</a:t>
            </a:r>
          </a:p>
        </p:txBody>
      </p:sp>
      <p:sp>
        <p:nvSpPr>
          <p:cNvPr id="51" name="">
            <a:extLst xmlns:a="http://schemas.openxmlformats.org/drawingml/2006/main">
              <a:ext uri="{FF2B5EF4-FFF2-40B4-BE49-F238E27FC236}">
                <a16:creationId xmlns:a16="http://schemas.microsoft.com/office/drawing/2014/main" id="{88A0D265-F8A8-4CE5-9998-183CEA8035A6}"/>
              </a:ext>
            </a:extLst>
          </p:cNvPr>
          <p:cNvSpPr>
            <a:spLocks xmlns:a="http://schemas.openxmlformats.org/drawingml/2006/main" noGrp="1"/>
          </p:cNvSpPr>
          <p:nvPr/>
        </p:nvSpPr>
        <p:spPr>
          <a:xfrm xmlns:a="http://schemas.openxmlformats.org/drawingml/2006/main">
            <a:off x="609600" y="2703195"/>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Простой ориентир — всегда предсказывать средний ответ на train:</a:t>
            </a:r>
          </a:p>
        </p:txBody>
      </p:sp>
      <p:pic>
        <p:nvPicPr>
          <p:cNvPr id="52" name="">
            <a:extLst xmlns:a="http://schemas.openxmlformats.org/drawingml/2006/main">
              <a:ext uri="{FF2B5EF4-FFF2-40B4-BE49-F238E27FC236}">
                <a16:creationId xmlns:a16="http://schemas.microsoft.com/office/drawing/2014/main" id="{C1F78C69-FF07-4144-96B4-E49245FAE24C}"/>
              </a:ext>
            </a:extLst>
          </p:cNvPr>
          <p:cNvPicPr>
            <a:picLocks xmlns:a="http://schemas.openxmlformats.org/drawingml/2006/main" noChangeAspect="1"/>
          </p:cNvPicPr>
          <p:nvPr/>
        </p:nvPicPr>
        <p:blipFill>
          <a:blip xmlns:r="http://schemas.openxmlformats.org/officeDocument/2006/relationships" xmlns:a="http://schemas.openxmlformats.org/drawingml/2006/main" r:embed="R87d01c5523274062">
            <a:extLst>
              <a:ext uri="{96DAC541-7B7A-43D3-8B79-37D633B846F1}">
                <asvg:svgBlip xmlns:asvg="http://schemas.microsoft.com/office/drawing/2016/SVG/main" r:embed="Rb848ed6b700f44a9"/>
              </a:ext>
            </a:extLst>
          </a:blip>
          <a:stretch xmlns:a="http://schemas.openxmlformats.org/drawingml/2006/main"/>
        </p:blipFill>
        <p:spPr>
          <a:xfrm xmlns:a="http://schemas.openxmlformats.org/drawingml/2006/main">
            <a:off x="4334152" y="3297555"/>
            <a:ext cx="3523696" cy="956014"/>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242F470D-E32D-499D-A873-CBF098ADDCDB}"/>
              </a:ext>
            </a:extLst>
          </p:cNvPr>
          <p:cNvSpPr>
            <a:spLocks xmlns:a="http://schemas.openxmlformats.org/drawingml/2006/main" noGrp="1"/>
          </p:cNvSpPr>
          <p:nvPr/>
        </p:nvSpPr>
        <p:spPr>
          <a:xfrm xmlns:a="http://schemas.openxmlformats.org/drawingml/2006/main">
            <a:off x="609600" y="4482169"/>
            <a:ext cx="109728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Если выбираем настройки по validation, отдельный test оставляем для</a:t>
            </a:r>
          </a:p>
          <a:p xmlns:a="http://schemas.openxmlformats.org/drawingml/2006/main">
            <a:pPr algn="l">
              <a:defRPr sz="2250" b="0">
                <a:solidFill>
                  <a:srgbClr val="111111"/>
                </a:solidFill>
              </a:defRPr>
            </a:pPr>
            <a:r>
              <a:rPr sz="2250" b="0">
                <a:solidFill>
                  <a:srgbClr val="111111"/>
                </a:solidFill>
              </a:rPr>
              <a:t>финальной оценки. Низкая ошибка на train ещё не доказывает полезность</a:t>
            </a:r>
          </a:p>
          <a:p xmlns:a="http://schemas.openxmlformats.org/drawingml/2006/main">
            <a:pPr algn="l">
              <a:defRPr sz="2250" b="0">
                <a:solidFill>
                  <a:srgbClr val="111111"/>
                </a:solidFill>
              </a:defRPr>
            </a:pPr>
            <a:r>
              <a:rPr sz="2250" b="0">
                <a:solidFill>
                  <a:srgbClr val="111111"/>
                </a:solidFill>
              </a:rPr>
              <a:t>модели.</a:t>
            </a:r>
          </a:p>
        </p:txBody>
      </p:sp>
    </p:spTree>
    <p:extLst>
      <p:ext uri="{BB962C8B-B14F-4D97-AF65-F5344CB8AC3E}">
        <p14:creationId xmlns:p14="http://schemas.microsoft.com/office/powerpoint/2010/main" val="175494902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B3BFDFBB-B32B-448F-84EA-CC98E4BB49DB}"/>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BF68D9-970A-4B10-A57C-0D2B4998640B}"/>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99CE8FE4-FEC5-4CE8-A94E-378196D3FFC6}"/>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942C184E-AF45-4001-A259-014E9FAA1A23}"/>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BD8B14F7-3BC3-4EC2-BEB0-713059137FD2}"/>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0EE43146-72E4-4FDF-813B-F57BCB48044E}"/>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2F34665D-4A72-4957-847E-D7E2E292004F}"/>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9F28E24B-99B1-4A84-B226-17951534DC38}"/>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3868D68B-D68C-4547-A184-9842522B0C92}"/>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C25D4CA9-5C9C-47A5-B89F-4326311AECBC}"/>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0059F623-8C91-4BD6-A370-D5E5C320D444}"/>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A688BC73-0F8E-442A-9E1A-803222A8919C}"/>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33493E2F-24B2-459D-91EA-46ACE69DFC68}"/>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C6572D8C-39CF-4EBC-B099-BE7A28DADA2D}"/>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516A3672-DA0A-47E6-BA3C-2ECFB56F6D86}"/>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402E4A81-425A-4B4B-ABA2-8D2DD276247C}"/>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EA1F3B25-1FDA-46C1-B5BE-ABEF33DB42D8}"/>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Градиентный спуск</a:t>
            </a:r>
          </a:p>
        </p:txBody>
      </p:sp>
      <p:sp>
        <p:nvSpPr>
          <p:cNvPr id="18" name="">
            <a:extLst xmlns:a="http://schemas.openxmlformats.org/drawingml/2006/main">
              <a:ext uri="{FF2B5EF4-FFF2-40B4-BE49-F238E27FC236}">
                <a16:creationId xmlns:a16="http://schemas.microsoft.com/office/drawing/2014/main" id="{C2F21114-89C0-4DD2-982F-DEC9D36E25A7}"/>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53938330-FBA8-4DFC-A728-E9801CA3966A}"/>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FB5818C7-9A8F-4174-8619-DBEB7D65C3DF}"/>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1" name="">
            <a:extLst xmlns:a="http://schemas.openxmlformats.org/drawingml/2006/main">
              <a:ext uri="{FF2B5EF4-FFF2-40B4-BE49-F238E27FC236}">
                <a16:creationId xmlns:a16="http://schemas.microsoft.com/office/drawing/2014/main" id="{525955E5-3AB7-47EE-98ED-A5773F5E6BB8}"/>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2F317453-66AE-4EE2-9377-387A1B5C5E8C}"/>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3" name="">
            <a:extLst xmlns:a="http://schemas.openxmlformats.org/drawingml/2006/main">
              <a:ext uri="{FF2B5EF4-FFF2-40B4-BE49-F238E27FC236}">
                <a16:creationId xmlns:a16="http://schemas.microsoft.com/office/drawing/2014/main" id="{C96FA052-59D1-4A98-B5B5-B230FEFD0F2D}"/>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C85D4071-2562-4219-92F5-4246562CAECC}"/>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5" name="">
            <a:extLst xmlns:a="http://schemas.openxmlformats.org/drawingml/2006/main">
              <a:ext uri="{FF2B5EF4-FFF2-40B4-BE49-F238E27FC236}">
                <a16:creationId xmlns:a16="http://schemas.microsoft.com/office/drawing/2014/main" id="{354D5EDA-ED40-488A-B8B5-CEAC07E3C0E6}"/>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F19DA582-F877-4759-85DA-6B54E0DF8C6F}"/>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7" name="">
            <a:extLst xmlns:a="http://schemas.openxmlformats.org/drawingml/2006/main">
              <a:ext uri="{FF2B5EF4-FFF2-40B4-BE49-F238E27FC236}">
                <a16:creationId xmlns:a16="http://schemas.microsoft.com/office/drawing/2014/main" id="{6484833C-5B0E-49F9-937E-2E3C83B727F6}"/>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B0B684ED-3343-4518-B108-036E8BCBEF82}"/>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29" name="">
            <a:extLst xmlns:a="http://schemas.openxmlformats.org/drawingml/2006/main">
              <a:ext uri="{FF2B5EF4-FFF2-40B4-BE49-F238E27FC236}">
                <a16:creationId xmlns:a16="http://schemas.microsoft.com/office/drawing/2014/main" id="{36041C75-535B-431F-A46C-167C18C28A0A}"/>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518C7253-9FCB-4E64-8075-C23F55EE75D6}"/>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СЛАУ</a:t>
            </a:r>
          </a:p>
        </p:txBody>
      </p:sp>
      <p:sp>
        <p:nvSpPr>
          <p:cNvPr id="31" name="">
            <a:extLst xmlns:a="http://schemas.openxmlformats.org/drawingml/2006/main">
              <a:ext uri="{FF2B5EF4-FFF2-40B4-BE49-F238E27FC236}">
                <a16:creationId xmlns:a16="http://schemas.microsoft.com/office/drawing/2014/main" id="{46BF65E1-3419-45E8-AF1D-345C185BEAE0}"/>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2" name="">
            <a:extLst xmlns:a="http://schemas.openxmlformats.org/drawingml/2006/main">
              <a:ext uri="{FF2B5EF4-FFF2-40B4-BE49-F238E27FC236}">
                <a16:creationId xmlns:a16="http://schemas.microsoft.com/office/drawing/2014/main" id="{AC944D05-4A86-4A41-A648-5C76A5302B9B}"/>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3" name="">
            <a:extLst xmlns:a="http://schemas.openxmlformats.org/drawingml/2006/main">
              <a:ext uri="{FF2B5EF4-FFF2-40B4-BE49-F238E27FC236}">
                <a16:creationId xmlns:a16="http://schemas.microsoft.com/office/drawing/2014/main" id="{444D4209-892A-4DAF-B879-C65487C7EE55}"/>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4" name="">
            <a:extLst xmlns:a="http://schemas.openxmlformats.org/drawingml/2006/main">
              <a:ext uri="{FF2B5EF4-FFF2-40B4-BE49-F238E27FC236}">
                <a16:creationId xmlns:a16="http://schemas.microsoft.com/office/drawing/2014/main" id="{C074EF73-9986-4F40-8F15-C30F3D36E83D}"/>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5" name="">
            <a:extLst xmlns:a="http://schemas.openxmlformats.org/drawingml/2006/main">
              <a:ext uri="{FF2B5EF4-FFF2-40B4-BE49-F238E27FC236}">
                <a16:creationId xmlns:a16="http://schemas.microsoft.com/office/drawing/2014/main" id="{327C53A4-EE89-4AB7-98BA-CC9D4F0E853D}"/>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6" name="">
            <a:extLst xmlns:a="http://schemas.openxmlformats.org/drawingml/2006/main">
              <a:ext uri="{FF2B5EF4-FFF2-40B4-BE49-F238E27FC236}">
                <a16:creationId xmlns:a16="http://schemas.microsoft.com/office/drawing/2014/main" id="{43037EE7-E188-468F-8FB4-634EE042EEEE}"/>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7" name="">
            <a:extLst xmlns:a="http://schemas.openxmlformats.org/drawingml/2006/main">
              <a:ext uri="{FF2B5EF4-FFF2-40B4-BE49-F238E27FC236}">
                <a16:creationId xmlns:a16="http://schemas.microsoft.com/office/drawing/2014/main" id="{E443BD15-AAE2-4269-99E4-0546DE8EEE59}"/>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8" name="">
            <a:extLst xmlns:a="http://schemas.openxmlformats.org/drawingml/2006/main">
              <a:ext uri="{FF2B5EF4-FFF2-40B4-BE49-F238E27FC236}">
                <a16:creationId xmlns:a16="http://schemas.microsoft.com/office/drawing/2014/main" id="{0282DFEF-0F28-448F-84E0-B9FD61447EE3}"/>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9" name="">
            <a:extLst xmlns:a="http://schemas.openxmlformats.org/drawingml/2006/main">
              <a:ext uri="{FF2B5EF4-FFF2-40B4-BE49-F238E27FC236}">
                <a16:creationId xmlns:a16="http://schemas.microsoft.com/office/drawing/2014/main" id="{AAC0FBBE-E0E2-4F75-B666-B4D756EC735C}"/>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0" name="">
            <a:extLst xmlns:a="http://schemas.openxmlformats.org/drawingml/2006/main">
              <a:ext uri="{FF2B5EF4-FFF2-40B4-BE49-F238E27FC236}">
                <a16:creationId xmlns:a16="http://schemas.microsoft.com/office/drawing/2014/main" id="{D922A555-F1E3-4A04-8010-3ECD02E2FFE1}"/>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1" name="">
            <a:extLst xmlns:a="http://schemas.openxmlformats.org/drawingml/2006/main">
              <a:ext uri="{FF2B5EF4-FFF2-40B4-BE49-F238E27FC236}">
                <a16:creationId xmlns:a16="http://schemas.microsoft.com/office/drawing/2014/main" id="{5C671396-AF80-4C93-B0EB-6D0715EA703D}"/>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2" name="">
            <a:extLst xmlns:a="http://schemas.openxmlformats.org/drawingml/2006/main">
              <a:ext uri="{FF2B5EF4-FFF2-40B4-BE49-F238E27FC236}">
                <a16:creationId xmlns:a16="http://schemas.microsoft.com/office/drawing/2014/main" id="{DC5ABC23-7F44-4A18-BBB8-84D4B56201C9}"/>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3" name="">
            <a:extLst xmlns:a="http://schemas.openxmlformats.org/drawingml/2006/main">
              <a:ext uri="{FF2B5EF4-FFF2-40B4-BE49-F238E27FC236}">
                <a16:creationId xmlns:a16="http://schemas.microsoft.com/office/drawing/2014/main" id="{FFF96EF3-8F50-44DD-A261-B459D1E493FB}"/>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001BC41-2E64-4462-8940-CF916A7D6BF1}"/>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Масштаб признаков и шаг</a:t>
            </a:r>
          </a:p>
        </p:txBody>
      </p:sp>
      <p:sp>
        <p:nvSpPr>
          <p:cNvPr id="45" name="">
            <a:extLst xmlns:a="http://schemas.openxmlformats.org/drawingml/2006/main">
              <a:ext uri="{FF2B5EF4-FFF2-40B4-BE49-F238E27FC236}">
                <a16:creationId xmlns:a16="http://schemas.microsoft.com/office/drawing/2014/main" id="{46DDC7FC-5DF2-4BD0-B997-59A53E9F89D8}"/>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83C9CEB-5A7D-4930-8118-D7CA9A780065}"/>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A0671B5E-A98C-4EC7-A224-8B38DA4A2DD9}"/>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D7269B05-105C-477E-ABC1-8C9960F0D3BD}"/>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1309B2EC-D5B5-4433-BE35-F217B545BA2C}"/>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25 / 37</a:t>
            </a:r>
          </a:p>
        </p:txBody>
      </p:sp>
      <p:sp>
        <p:nvSpPr>
          <p:cNvPr id="50" name="">
            <a:extLst xmlns:a="http://schemas.openxmlformats.org/drawingml/2006/main">
              <a:ext uri="{FF2B5EF4-FFF2-40B4-BE49-F238E27FC236}">
                <a16:creationId xmlns:a16="http://schemas.microsoft.com/office/drawing/2014/main" id="{321813D7-2E6E-4216-BA18-69AA4226EE74}"/>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Смена единиц измерения изменяет численные значения признака, градиенты и</a:t>
            </a:r>
          </a:p>
          <a:p xmlns:a="http://schemas.openxmlformats.org/drawingml/2006/main">
            <a:pPr algn="l">
              <a:defRPr sz="2250" b="0">
                <a:solidFill>
                  <a:srgbClr val="111111"/>
                </a:solidFill>
              </a:defRPr>
            </a:pPr>
            <a:r>
              <a:rPr sz="2250" b="0">
                <a:solidFill>
                  <a:srgbClr val="111111"/>
                </a:solidFill>
              </a:rPr>
              <a:t>подходящий размер шага.</a:t>
            </a:r>
          </a:p>
        </p:txBody>
      </p:sp>
      <p:pic>
        <p:nvPicPr>
          <p:cNvPr id="51" name="">
            <a:extLst xmlns:a="http://schemas.openxmlformats.org/drawingml/2006/main">
              <a:ext uri="{FF2B5EF4-FFF2-40B4-BE49-F238E27FC236}">
                <a16:creationId xmlns:a16="http://schemas.microsoft.com/office/drawing/2014/main" id="{877BD6F9-139D-4831-9B60-62F61FD8FC4E}"/>
              </a:ext>
            </a:extLst>
          </p:cNvPr>
          <p:cNvPicPr>
            <a:picLocks xmlns:a="http://schemas.openxmlformats.org/drawingml/2006/main" noChangeAspect="1"/>
          </p:cNvPicPr>
          <p:nvPr/>
        </p:nvPicPr>
        <p:blipFill>
          <a:blip xmlns:r="http://schemas.openxmlformats.org/officeDocument/2006/relationships" xmlns:a="http://schemas.openxmlformats.org/drawingml/2006/main" r:embed="Rae250eb994e140bf">
            <a:extLst>
              <a:ext uri="{96DAC541-7B7A-43D3-8B79-37D633B846F1}">
                <asvg:svgBlip xmlns:asvg="http://schemas.microsoft.com/office/drawing/2016/SVG/main" r:embed="Rd07cec900c9e421e"/>
              </a:ext>
            </a:extLst>
          </a:blip>
          <a:stretch xmlns:a="http://schemas.openxmlformats.org/drawingml/2006/main"/>
        </p:blipFill>
        <p:spPr>
          <a:xfrm xmlns:a="http://schemas.openxmlformats.org/drawingml/2006/main">
            <a:off x="4860172" y="2703195"/>
            <a:ext cx="2471657" cy="800362"/>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5987C718-AC59-437D-AD11-399F76C1671C}"/>
              </a:ext>
            </a:extLst>
          </p:cNvPr>
          <p:cNvSpPr>
            <a:spLocks xmlns:a="http://schemas.openxmlformats.org/drawingml/2006/main" noGrp="1"/>
          </p:cNvSpPr>
          <p:nvPr/>
        </p:nvSpPr>
        <p:spPr>
          <a:xfrm xmlns:a="http://schemas.openxmlformats.org/drawingml/2006/main">
            <a:off x="609600" y="3732157"/>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Среднее и стандартное отклонение считаем только на train. При обработке</a:t>
            </a:r>
          </a:p>
          <a:p xmlns:a="http://schemas.openxmlformats.org/drawingml/2006/main">
            <a:pPr algn="l">
              <a:defRPr sz="2250" b="0">
                <a:solidFill>
                  <a:srgbClr val="111111"/>
                </a:solidFill>
              </a:defRPr>
            </a:pPr>
            <a:r>
              <a:rPr sz="2250" b="0">
                <a:solidFill>
                  <a:srgbClr val="111111"/>
                </a:solidFill>
              </a:rPr>
              <a:t>новых объектов используем эти же статистики.</a:t>
            </a:r>
          </a:p>
        </p:txBody>
      </p:sp>
      <p:sp>
        <p:nvSpPr>
          <p:cNvPr id="53" name="">
            <a:extLst xmlns:a="http://schemas.openxmlformats.org/drawingml/2006/main">
              <a:ext uri="{FF2B5EF4-FFF2-40B4-BE49-F238E27FC236}">
                <a16:creationId xmlns:a16="http://schemas.microsoft.com/office/drawing/2014/main" id="{EAF96659-7EEE-4982-BACF-769867380C14}"/>
              </a:ext>
            </a:extLst>
          </p:cNvPr>
          <p:cNvSpPr>
            <a:spLocks xmlns:a="http://schemas.openxmlformats.org/drawingml/2006/main" noGrp="1"/>
          </p:cNvSpPr>
          <p:nvPr/>
        </p:nvSpPr>
        <p:spPr>
          <a:xfrm xmlns:a="http://schemas.openxmlformats.org/drawingml/2006/main">
            <a:off x="609600" y="4692277"/>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Стандартизация упрощает подбор шага. Если признак постоянный, его</a:t>
            </a:r>
          </a:p>
          <a:p xmlns:a="http://schemas.openxmlformats.org/drawingml/2006/main">
            <a:pPr algn="l">
              <a:defRPr sz="2250" b="0">
                <a:solidFill>
                  <a:srgbClr val="111111"/>
                </a:solidFill>
              </a:defRPr>
            </a:pPr>
            <a:r>
              <a:rPr sz="2250" b="0">
                <a:solidFill>
                  <a:srgbClr val="111111"/>
                </a:solidFill>
              </a:rPr>
              <a:t>стандартное отклонение равно нулю: делить на него нельзя.</a:t>
            </a:r>
          </a:p>
        </p:txBody>
      </p:sp>
    </p:spTree>
    <p:extLst>
      <p:ext uri="{BB962C8B-B14F-4D97-AF65-F5344CB8AC3E}">
        <p14:creationId xmlns:p14="http://schemas.microsoft.com/office/powerpoint/2010/main" val="198113212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E2C00F3C-BDBE-49E0-9F13-5F3AF608C974}"/>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44EED7-4FA4-43C8-AE57-4B8FE672561A}"/>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563847FA-67B5-4D8A-9D86-080757C746AC}"/>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D00F75CD-E607-4D31-814D-8ACA97C140FB}"/>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868D9E27-76E6-4A64-B56D-C255692CA224}"/>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6372EADD-E9F9-42CE-BCF0-078557959EB2}"/>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5CEB5C9A-467F-4A65-B40F-7B786684F1F4}"/>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02034237-BC33-48F9-A214-8951E7185A20}"/>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784F3F87-3E16-48A4-B9FA-5DEC0A75FCC1}"/>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EA17CD22-54AC-405A-B89A-3F8A96E7C080}"/>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9A962F53-6F5D-4BC2-BD07-C6D7E9E0AAB2}"/>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2CC84C61-9124-4F6E-9752-0CA86696DCEA}"/>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B2B0A64C-0C48-440B-9AC7-40C6C66FF890}"/>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B1F2E079-4887-413E-8D58-D10E267025D1}"/>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7C905CB3-8E56-465C-84CC-61B0FA8C6680}"/>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4547B7E8-2649-4F7B-BC94-80D4C6514E89}"/>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7F3B107D-4130-44AA-B059-E624DF11F2E9}"/>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2515B3AC-F923-4526-B545-EA4C4F787CCA}"/>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F4C3C12F-CDF8-4905-97BE-42B67F87356B}"/>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2A880470-12DB-4E19-B77A-D1FB15E26B75}"/>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C376002F-37F8-4F54-9208-618DA8309451}"/>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386920EE-3E83-4BCC-8E50-65723FC5C290}"/>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8AC5B50A-59F4-466E-B006-4DCE59DB05EA}"/>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05C43430-313D-47DC-9C73-10C3B14BDBAC}"/>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02359EB1-4331-4A87-AEEF-8F3181FDDE4B}"/>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D2A7FE21-B1DB-43DF-905E-DA5E3B2E6E29}"/>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AC192553-B247-48A6-B858-68E406CB599C}"/>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067998DC-84F1-4EA8-9DF2-38185987687C}"/>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CA2BF059-C941-4E48-B5EB-C82169D8538C}"/>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439F42ED-312A-487F-A5E0-A50E122B2435}"/>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BBC991FA-8689-4BB8-9A8A-D23B6065D266}"/>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17AA10AD-8A79-4D87-952D-943D6018F9DB}"/>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07CCDD79-F969-4F48-A237-8690808A7E84}"/>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19F5216D-38C4-44E2-AF11-70DEDED947DA}"/>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7EF627F4-E6F2-47B3-9873-1306902517A0}"/>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27AA42EB-7096-4622-89A4-6B0972B73786}"/>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30349E5E-DC09-4E98-B10F-02E08F7C3F3A}"/>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D20F5E45-4A08-4BAC-BDC1-C1FB2EFFDAC7}"/>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58B0365C-2F8A-4800-9893-5050E9CD0143}"/>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F41CF970-C65F-44B6-A542-DA5D32D337CA}"/>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151C0DF3-CEA7-4030-9EA2-B6CD8096A2F1}"/>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9961F3DC-2567-47C9-865E-51E4534C871D}"/>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CA203072-4F8E-43B3-B403-E50D343AA370}"/>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D922DDF-F51E-4383-8B42-3BBAFFF1BAD9}"/>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Что такое СЛАУ</a:t>
            </a:r>
          </a:p>
        </p:txBody>
      </p:sp>
      <p:sp>
        <p:nvSpPr>
          <p:cNvPr id="45" name="">
            <a:extLst xmlns:a="http://schemas.openxmlformats.org/drawingml/2006/main">
              <a:ext uri="{FF2B5EF4-FFF2-40B4-BE49-F238E27FC236}">
                <a16:creationId xmlns:a16="http://schemas.microsoft.com/office/drawing/2014/main" id="{5CC97C3A-A2E2-427A-9EA1-3B77F2B5B265}"/>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6B58889F-3672-4BA1-91AC-44A32BBD3F80}"/>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30CD5A17-8DF8-4ED0-B718-2C7E4363DB2E}"/>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FD957150-283C-47D0-8785-8A07E17070F7}"/>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002BB6DD-87CF-4490-B7DC-A526A7C9EE53}"/>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26 / 37</a:t>
            </a:r>
          </a:p>
        </p:txBody>
      </p:sp>
      <p:sp>
        <p:nvSpPr>
          <p:cNvPr id="50" name="">
            <a:extLst xmlns:a="http://schemas.openxmlformats.org/drawingml/2006/main">
              <a:ext uri="{FF2B5EF4-FFF2-40B4-BE49-F238E27FC236}">
                <a16:creationId xmlns:a16="http://schemas.microsoft.com/office/drawing/2014/main" id="{F5E8FE56-7271-45F6-94ED-5DA75A24E4F9}"/>
              </a:ext>
            </a:extLst>
          </p:cNvPr>
          <p:cNvSpPr>
            <a:spLocks xmlns:a="http://schemas.openxmlformats.org/drawingml/2006/main" noGrp="1"/>
          </p:cNvSpPr>
          <p:nvPr/>
        </p:nvSpPr>
        <p:spPr>
          <a:xfrm xmlns:a="http://schemas.openxmlformats.org/drawingml/2006/main">
            <a:off x="609600" y="1743075"/>
            <a:ext cx="1097280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СЛАУ — система линейных алгебраических уравнений.</a:t>
            </a:r>
          </a:p>
        </p:txBody>
      </p:sp>
      <p:sp>
        <p:nvSpPr>
          <p:cNvPr id="51" name="">
            <a:extLst xmlns:a="http://schemas.openxmlformats.org/drawingml/2006/main">
              <a:ext uri="{FF2B5EF4-FFF2-40B4-BE49-F238E27FC236}">
                <a16:creationId xmlns:a16="http://schemas.microsoft.com/office/drawing/2014/main" id="{34A25B6A-5513-42A6-ADB3-5A814C7CD597}"/>
              </a:ext>
            </a:extLst>
          </p:cNvPr>
          <p:cNvSpPr>
            <a:spLocks xmlns:a="http://schemas.openxmlformats.org/drawingml/2006/main" noGrp="1"/>
          </p:cNvSpPr>
          <p:nvPr/>
        </p:nvSpPr>
        <p:spPr>
          <a:xfrm xmlns:a="http://schemas.openxmlformats.org/drawingml/2006/main">
            <a:off x="609600" y="2349627"/>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Во всех уравнениях одни и те же неизвестные. Они входят только в первой</a:t>
            </a:r>
          </a:p>
          <a:p xmlns:a="http://schemas.openxmlformats.org/drawingml/2006/main">
            <a:pPr algn="l">
              <a:defRPr sz="2250" b="0">
                <a:solidFill>
                  <a:srgbClr val="111111"/>
                </a:solidFill>
              </a:defRPr>
            </a:pPr>
            <a:r>
              <a:rPr sz="2250" b="0">
                <a:solidFill>
                  <a:srgbClr val="111111"/>
                </a:solidFill>
              </a:rPr>
              <a:t>степени: неизвестные не перемножаются друг с другом.</a:t>
            </a:r>
          </a:p>
        </p:txBody>
      </p:sp>
      <p:pic>
        <p:nvPicPr>
          <p:cNvPr id="52" name="">
            <a:extLst xmlns:a="http://schemas.openxmlformats.org/drawingml/2006/main">
              <a:ext uri="{FF2B5EF4-FFF2-40B4-BE49-F238E27FC236}">
                <a16:creationId xmlns:a16="http://schemas.microsoft.com/office/drawing/2014/main" id="{4E07A74F-02BF-4A6D-AB6C-FBD3E1794AB3}"/>
              </a:ext>
            </a:extLst>
          </p:cNvPr>
          <p:cNvPicPr>
            <a:picLocks xmlns:a="http://schemas.openxmlformats.org/drawingml/2006/main" noChangeAspect="1"/>
          </p:cNvPicPr>
          <p:nvPr/>
        </p:nvPicPr>
        <p:blipFill>
          <a:blip xmlns:r="http://schemas.openxmlformats.org/officeDocument/2006/relationships" xmlns:a="http://schemas.openxmlformats.org/drawingml/2006/main" r:embed="Re3ab97c1f8614dcc">
            <a:extLst>
              <a:ext uri="{96DAC541-7B7A-43D3-8B79-37D633B846F1}">
                <asvg:svgBlip xmlns:asvg="http://schemas.microsoft.com/office/drawing/2016/SVG/main" r:embed="R422b4ebd230f4217"/>
              </a:ext>
            </a:extLst>
          </a:blip>
          <a:stretch xmlns:a="http://schemas.openxmlformats.org/drawingml/2006/main"/>
        </p:blipFill>
        <p:spPr>
          <a:xfrm xmlns:a="http://schemas.openxmlformats.org/drawingml/2006/main">
            <a:off x="4971192" y="3309747"/>
            <a:ext cx="2249616" cy="1223726"/>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A5D45A4D-63F3-4E81-8A0E-1EB67371B98C}"/>
              </a:ext>
            </a:extLst>
          </p:cNvPr>
          <p:cNvSpPr>
            <a:spLocks xmlns:a="http://schemas.openxmlformats.org/drawingml/2006/main" noGrp="1"/>
          </p:cNvSpPr>
          <p:nvPr/>
        </p:nvSpPr>
        <p:spPr>
          <a:xfrm xmlns:a="http://schemas.openxmlformats.org/drawingml/2006/main">
            <a:off x="609600" y="4762073"/>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Решение системы — значения неизвестных, которые одновременно</a:t>
            </a:r>
          </a:p>
          <a:p xmlns:a="http://schemas.openxmlformats.org/drawingml/2006/main">
            <a:pPr algn="l">
              <a:defRPr sz="2250" b="0">
                <a:solidFill>
                  <a:srgbClr val="111111"/>
                </a:solidFill>
              </a:defRPr>
            </a:pPr>
            <a:r>
              <a:rPr sz="2250" b="0">
                <a:solidFill>
                  <a:srgbClr val="111111"/>
                </a:solidFill>
              </a:rPr>
              <a:t>удовлетворяют каждому уравнению.</a:t>
            </a:r>
          </a:p>
        </p:txBody>
      </p:sp>
      <p:pic>
        <p:nvPicPr>
          <p:cNvPr id="54" name="">
            <a:extLst xmlns:a="http://schemas.openxmlformats.org/drawingml/2006/main">
              <a:ext uri="{FF2B5EF4-FFF2-40B4-BE49-F238E27FC236}">
                <a16:creationId xmlns:a16="http://schemas.microsoft.com/office/drawing/2014/main" id="{2211AF9F-422C-4D0D-B64C-09D8A0F58B97}"/>
              </a:ext>
            </a:extLst>
          </p:cNvPr>
          <p:cNvPicPr>
            <a:picLocks xmlns:a="http://schemas.openxmlformats.org/drawingml/2006/main" noChangeAspect="1"/>
          </p:cNvPicPr>
          <p:nvPr/>
        </p:nvPicPr>
        <p:blipFill>
          <a:blip xmlns:r="http://schemas.openxmlformats.org/officeDocument/2006/relationships" xmlns:a="http://schemas.openxmlformats.org/drawingml/2006/main" r:embed="R75d539cd9aed48b6">
            <a:extLst>
              <a:ext uri="{96DAC541-7B7A-43D3-8B79-37D633B846F1}">
                <asvg:svgBlip xmlns:asvg="http://schemas.microsoft.com/office/drawing/2016/SVG/main" r:embed="R93f59320282840a8"/>
              </a:ext>
            </a:extLst>
          </a:blip>
          <a:stretch xmlns:a="http://schemas.openxmlformats.org/drawingml/2006/main"/>
        </p:blipFill>
        <p:spPr>
          <a:xfrm xmlns:a="http://schemas.openxmlformats.org/drawingml/2006/main">
            <a:off x="4682294" y="5722193"/>
            <a:ext cx="2827413" cy="342359"/>
          </a:xfrm>
          <a:prstGeom xmlns:a="http://schemas.openxmlformats.org/drawingml/2006/main" prst="rect">
            <a:avLst/>
          </a:prstGeom>
        </p:spPr>
      </p:pic>
    </p:spTree>
    <p:extLst>
      <p:ext uri="{BB962C8B-B14F-4D97-AF65-F5344CB8AC3E}">
        <p14:creationId xmlns:p14="http://schemas.microsoft.com/office/powerpoint/2010/main" val="40550657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7C338D7C-A07B-4F5A-BDE7-2ED2AAD0D979}"/>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732DAF-2685-4258-B1E5-3C126BFB0BAC}"/>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66A6C9D6-6FE6-464B-AE8B-689C57727FBF}"/>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FE26E9B1-3924-482E-951B-E9F368785956}"/>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28667000-3E7C-4FEE-B974-59C03C9468BA}"/>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CB25A29B-AB22-49F4-86D0-0325A442C491}"/>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38213868-7A11-478E-BEA0-129945A7A683}"/>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BB03A170-026B-4EF0-AB6E-E9062EB76631}"/>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915ED41B-017A-4451-BE4F-256200293AB7}"/>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3F93454C-A595-4E4D-B0FA-FA8F828F22B6}"/>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0E9B3F7C-AD10-4363-A2AA-FA83C3F0FCA4}"/>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5142C800-9705-434F-9993-F2D01E39D3CA}"/>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CB09E1D1-C421-42C0-BBE9-7322ED9ABA76}"/>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0B35C868-96C6-498E-B3E3-547448A768E7}"/>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D8C88EDB-D2F8-43EA-A827-02850A766594}"/>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1F4B49E3-273A-4F47-B9F9-FA46C4C43D91}"/>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F4D5E28E-2EC3-4C45-9782-7E101479BD22}"/>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45B078EB-6689-447D-B534-B17EAAC7A3FA}"/>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D5C4032E-0CD9-461A-8770-A441910D1AAC}"/>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46BFE147-15FD-4913-BC06-2957FDD51EDE}"/>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6E449E19-835B-4E73-A9F3-AC3C8682FCE6}"/>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421766D6-059B-41BB-9B29-253A069E458B}"/>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94DABFDB-2193-4E38-ACDD-37147EA0D06B}"/>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15C9A056-08AF-4C67-A55E-7E2C4E8B11FE}"/>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AC29D186-3056-4F68-9F94-0BD1527815B1}"/>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45CD1926-EE7B-44AE-9787-716AD680623C}"/>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F4D908B9-F4D6-443A-9D1C-7A8CDFB024C2}"/>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619533EB-3305-4D72-9B87-D82313AE7053}"/>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78A3EDD8-0C2A-4A84-B04C-6C53DF935719}"/>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838CFA34-C7ED-48CF-AB27-D1BBEB297BFE}"/>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C09E93BA-F6F1-4987-8177-66598CF5E047}"/>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E71EC2BD-8086-4B21-AE0B-C36BDE4668C3}"/>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7652325F-0777-44E0-948E-ACD1B8DFA08F}"/>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DB935610-A105-4F27-999F-EAFF2809A7E6}"/>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96636571-B70C-4ACE-900D-9D8F69068422}"/>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7A57BC29-471A-40A1-A68E-5CB0CCEEDA63}"/>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E70E22F5-B641-4CB7-8E4D-C7F8B6A86FE9}"/>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5FC0CEAE-CEE2-43D5-97FC-FA13129E6DEE}"/>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08BB2645-8E6B-4C02-801F-1DCEAEDD05A2}"/>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5C339565-FBFA-4FC2-AE87-E1A67D7D68F7}"/>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B9C29900-C35F-40E2-9D94-E070EC5AB645}"/>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5F22F017-4FAD-4520-A68C-7864EF890660}"/>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41D08CE6-0339-4061-9C21-8768D2FA4D42}"/>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E609990-AF83-460B-BC79-902A40C1B54D}"/>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Метод исключения неизвестной</a:t>
            </a:r>
          </a:p>
        </p:txBody>
      </p:sp>
      <p:sp>
        <p:nvSpPr>
          <p:cNvPr id="45" name="">
            <a:extLst xmlns:a="http://schemas.openxmlformats.org/drawingml/2006/main">
              <a:ext uri="{FF2B5EF4-FFF2-40B4-BE49-F238E27FC236}">
                <a16:creationId xmlns:a16="http://schemas.microsoft.com/office/drawing/2014/main" id="{A602AFD1-1D90-435A-ABFB-A479382523B6}"/>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05AA8B9-4362-4DB0-84F7-D7B9E254DC07}"/>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90A79F0-49FE-4D1F-9452-64A5478F479E}"/>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FC787BC0-E612-4854-9C75-E45DECF815B2}"/>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D34CA69D-682B-4F5A-9138-4C2957EF1811}"/>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27 / 37</a:t>
            </a:r>
          </a:p>
        </p:txBody>
      </p:sp>
      <p:sp>
        <p:nvSpPr>
          <p:cNvPr id="50" name="">
            <a:extLst xmlns:a="http://schemas.openxmlformats.org/drawingml/2006/main">
              <a:ext uri="{FF2B5EF4-FFF2-40B4-BE49-F238E27FC236}">
                <a16:creationId xmlns:a16="http://schemas.microsoft.com/office/drawing/2014/main" id="{84F8BEFA-23B0-4523-9FA8-2E7F4EC0F1B1}"/>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Чтобы решить систему, можно исключить одну неизвестную. В нашем примере</a:t>
            </a:r>
          </a:p>
          <a:p xmlns:a="http://schemas.openxmlformats.org/drawingml/2006/main">
            <a:pPr algn="l">
              <a:defRPr sz="2250" b="0">
                <a:solidFill>
                  <a:srgbClr val="111111"/>
                </a:solidFill>
              </a:defRPr>
            </a:pPr>
            <a:r>
              <a:rPr sz="2250" b="0">
                <a:solidFill>
                  <a:srgbClr val="111111"/>
                </a:solidFill>
              </a:rPr>
              <a:t>складываем уравнения: слагаемые с v сокращаются.</a:t>
            </a:r>
          </a:p>
        </p:txBody>
      </p:sp>
      <p:pic>
        <p:nvPicPr>
          <p:cNvPr id="51" name="">
            <a:extLst xmlns:a="http://schemas.openxmlformats.org/drawingml/2006/main">
              <a:ext uri="{FF2B5EF4-FFF2-40B4-BE49-F238E27FC236}">
                <a16:creationId xmlns:a16="http://schemas.microsoft.com/office/drawing/2014/main" id="{043EE80A-B39D-4090-8894-ADC04AAE3743}"/>
              </a:ext>
            </a:extLst>
          </p:cNvPr>
          <p:cNvPicPr>
            <a:picLocks xmlns:a="http://schemas.openxmlformats.org/drawingml/2006/main" noChangeAspect="1"/>
          </p:cNvPicPr>
          <p:nvPr/>
        </p:nvPicPr>
        <p:blipFill>
          <a:blip xmlns:r="http://schemas.openxmlformats.org/officeDocument/2006/relationships" xmlns:a="http://schemas.openxmlformats.org/drawingml/2006/main" r:embed="R8aa79105715c4656">
            <a:extLst>
              <a:ext uri="{96DAC541-7B7A-43D3-8B79-37D633B846F1}">
                <asvg:svgBlip xmlns:asvg="http://schemas.microsoft.com/office/drawing/2016/SVG/main" r:embed="R5a920b8fc47641f6"/>
              </a:ext>
            </a:extLst>
          </a:blip>
          <a:stretch xmlns:a="http://schemas.openxmlformats.org/drawingml/2006/main"/>
        </p:blipFill>
        <p:spPr>
          <a:xfrm xmlns:a="http://schemas.openxmlformats.org/drawingml/2006/main">
            <a:off x="5154300" y="2703195"/>
            <a:ext cx="1883400" cy="1024515"/>
          </a:xfrm>
          <a:prstGeom xmlns:a="http://schemas.openxmlformats.org/drawingml/2006/main" prst="rect">
            <a:avLst/>
          </a:prstGeom>
        </p:spPr>
      </p:pic>
      <p:pic>
        <p:nvPicPr>
          <p:cNvPr id="52" name="">
            <a:extLst xmlns:a="http://schemas.openxmlformats.org/drawingml/2006/main">
              <a:ext uri="{FF2B5EF4-FFF2-40B4-BE49-F238E27FC236}">
                <a16:creationId xmlns:a16="http://schemas.microsoft.com/office/drawing/2014/main" id="{32B0AA45-C95C-4996-95B5-6C88D9B0A58F}"/>
              </a:ext>
            </a:extLst>
          </p:cNvPr>
          <p:cNvPicPr>
            <a:picLocks xmlns:a="http://schemas.openxmlformats.org/drawingml/2006/main" noChangeAspect="1"/>
          </p:cNvPicPr>
          <p:nvPr/>
        </p:nvPicPr>
        <p:blipFill>
          <a:blip xmlns:r="http://schemas.openxmlformats.org/officeDocument/2006/relationships" xmlns:a="http://schemas.openxmlformats.org/drawingml/2006/main" r:embed="Rb13749709ec44c32">
            <a:extLst>
              <a:ext uri="{96DAC541-7B7A-43D3-8B79-37D633B846F1}">
                <asvg:svgBlip xmlns:asvg="http://schemas.microsoft.com/office/drawing/2016/SVG/main" r:embed="R1191318f647c4766"/>
              </a:ext>
            </a:extLst>
          </a:blip>
          <a:stretch xmlns:a="http://schemas.openxmlformats.org/drawingml/2006/main"/>
        </p:blipFill>
        <p:spPr>
          <a:xfrm xmlns:a="http://schemas.openxmlformats.org/drawingml/2006/main">
            <a:off x="2188073" y="3956310"/>
            <a:ext cx="7815854" cy="313151"/>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0D5E70B9-24D1-426A-91C4-6CADF6166C84}"/>
              </a:ext>
            </a:extLst>
          </p:cNvPr>
          <p:cNvSpPr>
            <a:spLocks xmlns:a="http://schemas.openxmlformats.org/drawingml/2006/main" noGrp="1"/>
          </p:cNvSpPr>
          <p:nvPr/>
        </p:nvSpPr>
        <p:spPr>
          <a:xfrm xmlns:a="http://schemas.openxmlformats.org/drawingml/2006/main">
            <a:off x="609600" y="4498061"/>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Подставляем найденное значение в одно из исходных уравнений:</a:t>
            </a:r>
          </a:p>
        </p:txBody>
      </p:sp>
      <p:pic>
        <p:nvPicPr>
          <p:cNvPr id="54" name="">
            <a:extLst xmlns:a="http://schemas.openxmlformats.org/drawingml/2006/main">
              <a:ext uri="{FF2B5EF4-FFF2-40B4-BE49-F238E27FC236}">
                <a16:creationId xmlns:a16="http://schemas.microsoft.com/office/drawing/2014/main" id="{AC85185F-4B62-44BD-909F-289B2ED4236E}"/>
              </a:ext>
            </a:extLst>
          </p:cNvPr>
          <p:cNvPicPr>
            <a:picLocks xmlns:a="http://schemas.openxmlformats.org/drawingml/2006/main" noChangeAspect="1"/>
          </p:cNvPicPr>
          <p:nvPr/>
        </p:nvPicPr>
        <p:blipFill>
          <a:blip xmlns:r="http://schemas.openxmlformats.org/officeDocument/2006/relationships" xmlns:a="http://schemas.openxmlformats.org/drawingml/2006/main" r:embed="Rfe22bbef2ffa4a95">
            <a:extLst>
              <a:ext uri="{96DAC541-7B7A-43D3-8B79-37D633B846F1}">
                <asvg:svgBlip xmlns:asvg="http://schemas.microsoft.com/office/drawing/2016/SVG/main" r:embed="R7912860cf6ef4cd1"/>
              </a:ext>
            </a:extLst>
          </a:blip>
          <a:stretch xmlns:a="http://schemas.openxmlformats.org/drawingml/2006/main"/>
        </p:blipFill>
        <p:spPr>
          <a:xfrm xmlns:a="http://schemas.openxmlformats.org/drawingml/2006/main">
            <a:off x="4981578" y="5092421"/>
            <a:ext cx="2228844" cy="256973"/>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602183A2-A962-4AE6-8BB6-CC975C46CD96}"/>
              </a:ext>
            </a:extLst>
          </p:cNvPr>
          <p:cNvSpPr>
            <a:spLocks xmlns:a="http://schemas.openxmlformats.org/drawingml/2006/main" noGrp="1"/>
          </p:cNvSpPr>
          <p:nvPr/>
        </p:nvSpPr>
        <p:spPr>
          <a:xfrm xmlns:a="http://schemas.openxmlformats.org/drawingml/2006/main">
            <a:off x="609600" y="5577994"/>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Проверяем результат в обоих исходных равенствах:</a:t>
            </a:r>
          </a:p>
        </p:txBody>
      </p:sp>
      <p:pic>
        <p:nvPicPr>
          <p:cNvPr id="56" name="">
            <a:extLst xmlns:a="http://schemas.openxmlformats.org/drawingml/2006/main">
              <a:ext uri="{FF2B5EF4-FFF2-40B4-BE49-F238E27FC236}">
                <a16:creationId xmlns:a16="http://schemas.microsoft.com/office/drawing/2014/main" id="{E3EE13F1-6814-43D6-892E-44C3A2AB76B6}"/>
              </a:ext>
            </a:extLst>
          </p:cNvPr>
          <p:cNvPicPr>
            <a:picLocks xmlns:a="http://schemas.openxmlformats.org/drawingml/2006/main" noChangeAspect="1"/>
          </p:cNvPicPr>
          <p:nvPr/>
        </p:nvPicPr>
        <p:blipFill>
          <a:blip xmlns:r="http://schemas.openxmlformats.org/officeDocument/2006/relationships" xmlns:a="http://schemas.openxmlformats.org/drawingml/2006/main" r:embed="Rdaa8389e04864293">
            <a:extLst>
              <a:ext uri="{96DAC541-7B7A-43D3-8B79-37D633B846F1}">
                <asvg:svgBlip xmlns:asvg="http://schemas.microsoft.com/office/drawing/2016/SVG/main" r:embed="R50433927c3554a8f"/>
              </a:ext>
            </a:extLst>
          </a:blip>
          <a:stretch xmlns:a="http://schemas.openxmlformats.org/drawingml/2006/main"/>
        </p:blipFill>
        <p:spPr>
          <a:xfrm xmlns:a="http://schemas.openxmlformats.org/drawingml/2006/main">
            <a:off x="4106626" y="6172354"/>
            <a:ext cx="3978747" cy="293451"/>
          </a:xfrm>
          <a:prstGeom xmlns:a="http://schemas.openxmlformats.org/drawingml/2006/main" prst="rect">
            <a:avLst/>
          </a:prstGeom>
        </p:spPr>
      </p:pic>
    </p:spTree>
    <p:extLst>
      <p:ext uri="{BB962C8B-B14F-4D97-AF65-F5344CB8AC3E}">
        <p14:creationId xmlns:p14="http://schemas.microsoft.com/office/powerpoint/2010/main" val="89463211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CCC68020-A571-441E-870C-F224427BA313}"/>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DB096C-7629-4236-B051-45C2C9ABE08A}"/>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1E17F7A5-7E7C-473C-9B81-0A8301B3C15F}"/>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917CB8FF-A51E-48B5-BF6F-6009C3D0B4BD}"/>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2D0DC261-8254-43AD-81EB-14B567C6D96E}"/>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A6BFCB6E-AC95-42B2-9D70-5EBA8CA73B63}"/>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3536FCAB-C425-4088-931E-232F94EC79D8}"/>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0E1E8A32-0614-4DF3-82B5-C778BDEB71EC}"/>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5FDE7952-DB55-4B65-B735-C927D938BF96}"/>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EE6BF929-3290-4393-BF66-F14DCBDCE7C2}"/>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3147F961-CA85-4F9A-90D4-868BE8A8DB13}"/>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BD80331B-1CB5-4190-A0DF-7248DDECCDBB}"/>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D8FACA06-3264-4071-BF56-EE4D1A520687}"/>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C61AB54C-2D6C-4D37-A205-2D9A5E128EDA}"/>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1C7A24DF-EA0E-43A1-BEC0-41F44521F99B}"/>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779ECFAF-F246-474E-87B6-43882EC35904}"/>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5011B6C6-F080-4A39-A567-1C24034D7230}"/>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13675767-E963-402B-8973-16EC02CA8A51}"/>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FABC64C9-F3F3-44CC-BAAE-78B6453159C8}"/>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F6EB085C-27A3-439A-95D7-2B8A8415B870}"/>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76151B6D-6852-4173-BBC8-A8B2285F55D1}"/>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70012632-E1CF-462B-820E-E812638581B9}"/>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3661B942-FC44-4839-B257-312AB0D4D3AC}"/>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9585F846-A638-4BCB-B47A-9D558AF6EF1C}"/>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7B7AE0E0-1CFA-4C5C-9223-9D7A9FD304A4}"/>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696C150B-16AC-4D43-BF1C-19BDCD762959}"/>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D34BB369-ADC7-416E-A8BF-0FE5139F36C8}"/>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C1BD7177-996C-43B3-8D0B-183F772296FD}"/>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3C4811DF-D5BD-42B5-B785-F34FBD067C74}"/>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DE17D2FF-F9DA-401C-B97E-1031B6F9EC9F}"/>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825E1832-8CBB-4F43-BC42-432484A3880E}"/>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324DDD1D-0F5C-4C8D-A954-9720716FB8DC}"/>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553B7657-0B1C-408A-B69D-8D8A5CD3CDF5}"/>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8AA6C133-5230-439D-BCD2-3F4900CA2BFD}"/>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B46991CD-5E78-4E18-BEB9-EECDA96EFBDA}"/>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536BBFE8-BE29-4FFD-ADEC-06028099E156}"/>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5082BB1E-845B-4B49-9504-C9C48432A27D}"/>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CA2B52B3-2DC8-4939-83EF-E4C037DB4FA6}"/>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595517D7-7DB4-452F-9235-2ACF63C55CE1}"/>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89B62887-E9C8-4CD5-ABBD-149EE2FFA4EA}"/>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C90B17DD-392B-4C17-BD07-FA16E5DBFEBB}"/>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ED67DEB2-A92E-4934-9AA0-F8D23FC6DCE4}"/>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7D35657A-D015-44E5-B6CC-7CDC299776C6}"/>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B5CC712-4BD1-4E56-ABF0-D6BC5DAC8B70}"/>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Сколько решений может быть</a:t>
            </a:r>
          </a:p>
        </p:txBody>
      </p:sp>
      <p:sp>
        <p:nvSpPr>
          <p:cNvPr id="45" name="">
            <a:extLst xmlns:a="http://schemas.openxmlformats.org/drawingml/2006/main">
              <a:ext uri="{FF2B5EF4-FFF2-40B4-BE49-F238E27FC236}">
                <a16:creationId xmlns:a16="http://schemas.microsoft.com/office/drawing/2014/main" id="{6A7A2CD8-AD66-45CF-AC31-C09B1F3B81DD}"/>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6D218779-A49E-4950-B958-83D7127177EC}"/>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1096743-0F46-42F8-B770-8A46FF1FC960}"/>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00D7F59B-FC47-486B-9A67-B8384D5B91AD}"/>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749B3508-C3FB-43EB-A95A-CBA710B9A82C}"/>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28 / 37</a:t>
            </a:r>
          </a:p>
        </p:txBody>
      </p:sp>
      <p:sp>
        <p:nvSpPr>
          <p:cNvPr id="50" name="">
            <a:extLst xmlns:a="http://schemas.openxmlformats.org/drawingml/2006/main">
              <a:ext uri="{FF2B5EF4-FFF2-40B4-BE49-F238E27FC236}">
                <a16:creationId xmlns:a16="http://schemas.microsoft.com/office/drawing/2014/main" id="{99433996-9AC9-403E-AE96-976A8AE902FB}"/>
              </a:ext>
            </a:extLst>
          </p:cNvPr>
          <p:cNvSpPr>
            <a:spLocks xmlns:a="http://schemas.openxmlformats.org/drawingml/2006/main" noGrp="1"/>
          </p:cNvSpPr>
          <p:nvPr/>
        </p:nvSpPr>
        <p:spPr>
          <a:xfrm xmlns:a="http://schemas.openxmlformats.org/drawingml/2006/main">
            <a:off x="609600" y="1743075"/>
            <a:ext cx="342900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Одно решение</a:t>
            </a:r>
          </a:p>
        </p:txBody>
      </p:sp>
      <p:pic>
        <p:nvPicPr>
          <p:cNvPr id="51" name="">
            <a:extLst xmlns:a="http://schemas.openxmlformats.org/drawingml/2006/main">
              <a:ext uri="{FF2B5EF4-FFF2-40B4-BE49-F238E27FC236}">
                <a16:creationId xmlns:a16="http://schemas.microsoft.com/office/drawing/2014/main" id="{99CFFF10-5932-46A3-8178-D4649480B424}"/>
              </a:ext>
            </a:extLst>
          </p:cNvPr>
          <p:cNvPicPr>
            <a:picLocks xmlns:a="http://schemas.openxmlformats.org/drawingml/2006/main" noChangeAspect="1"/>
          </p:cNvPicPr>
          <p:nvPr/>
        </p:nvPicPr>
        <p:blipFill>
          <a:blip xmlns:r="http://schemas.openxmlformats.org/officeDocument/2006/relationships" xmlns:a="http://schemas.openxmlformats.org/drawingml/2006/main" r:embed="R0ab923c6dfcd40f6">
            <a:extLst>
              <a:ext uri="{96DAC541-7B7A-43D3-8B79-37D633B846F1}">
                <asvg:svgBlip xmlns:asvg="http://schemas.microsoft.com/office/drawing/2016/SVG/main" r:embed="Rbaabf9b3fb304c15"/>
              </a:ext>
            </a:extLst>
          </a:blip>
          <a:stretch xmlns:a="http://schemas.openxmlformats.org/drawingml/2006/main"/>
        </p:blipFill>
        <p:spPr>
          <a:xfrm xmlns:a="http://schemas.openxmlformats.org/drawingml/2006/main">
            <a:off x="1434717" y="2292477"/>
            <a:ext cx="1778766" cy="967598"/>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18290BA0-A9CB-4E68-B043-FF31DAAF478A}"/>
              </a:ext>
            </a:extLst>
          </p:cNvPr>
          <p:cNvSpPr>
            <a:spLocks xmlns:a="http://schemas.openxmlformats.org/drawingml/2006/main" noGrp="1"/>
          </p:cNvSpPr>
          <p:nvPr/>
        </p:nvSpPr>
        <p:spPr>
          <a:xfrm xmlns:a="http://schemas.openxmlformats.org/drawingml/2006/main">
            <a:off x="609600" y="3431525"/>
            <a:ext cx="34290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Два независимых</a:t>
            </a:r>
          </a:p>
          <a:p xmlns:a="http://schemas.openxmlformats.org/drawingml/2006/main">
            <a:pPr algn="l">
              <a:defRPr sz="2250" b="0">
                <a:solidFill>
                  <a:srgbClr val="111111"/>
                </a:solidFill>
              </a:defRPr>
            </a:pPr>
            <a:r>
              <a:rPr sz="2250" b="0">
                <a:solidFill>
                  <a:srgbClr val="111111"/>
                </a:solidFill>
              </a:rPr>
              <a:t>условия определяют</a:t>
            </a:r>
          </a:p>
          <a:p xmlns:a="http://schemas.openxmlformats.org/drawingml/2006/main">
            <a:pPr algn="l">
              <a:defRPr sz="2250" b="0">
                <a:solidFill>
                  <a:srgbClr val="111111"/>
                </a:solidFill>
              </a:defRPr>
            </a:pPr>
            <a:r>
              <a:rPr sz="2250" b="0">
                <a:solidFill>
                  <a:srgbClr val="111111"/>
                </a:solidFill>
              </a:rPr>
              <a:t>одну пару значений.</a:t>
            </a:r>
          </a:p>
        </p:txBody>
      </p:sp>
      <p:sp>
        <p:nvSpPr>
          <p:cNvPr id="53" name="">
            <a:extLst xmlns:a="http://schemas.openxmlformats.org/drawingml/2006/main">
              <a:ext uri="{FF2B5EF4-FFF2-40B4-BE49-F238E27FC236}">
                <a16:creationId xmlns:a16="http://schemas.microsoft.com/office/drawing/2014/main" id="{B224EF3D-7E49-46EB-BAA6-B5C08345B67D}"/>
              </a:ext>
            </a:extLst>
          </p:cNvPr>
          <p:cNvSpPr>
            <a:spLocks xmlns:a="http://schemas.openxmlformats.org/drawingml/2006/main" noGrp="1"/>
          </p:cNvSpPr>
          <p:nvPr/>
        </p:nvSpPr>
        <p:spPr>
          <a:xfrm xmlns:a="http://schemas.openxmlformats.org/drawingml/2006/main">
            <a:off x="4381500" y="1743075"/>
            <a:ext cx="342900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Решений нет</a:t>
            </a:r>
          </a:p>
        </p:txBody>
      </p:sp>
      <p:pic>
        <p:nvPicPr>
          <p:cNvPr id="54" name="">
            <a:extLst xmlns:a="http://schemas.openxmlformats.org/drawingml/2006/main">
              <a:ext uri="{FF2B5EF4-FFF2-40B4-BE49-F238E27FC236}">
                <a16:creationId xmlns:a16="http://schemas.microsoft.com/office/drawing/2014/main" id="{FC9FEA12-52B3-4A51-AA93-42D97A2EB10C}"/>
              </a:ext>
            </a:extLst>
          </p:cNvPr>
          <p:cNvPicPr>
            <a:picLocks xmlns:a="http://schemas.openxmlformats.org/drawingml/2006/main" noChangeAspect="1"/>
          </p:cNvPicPr>
          <p:nvPr/>
        </p:nvPicPr>
        <p:blipFill>
          <a:blip xmlns:r="http://schemas.openxmlformats.org/officeDocument/2006/relationships" xmlns:a="http://schemas.openxmlformats.org/drawingml/2006/main" r:embed="R56bbcd326ecb4f8b">
            <a:extLst>
              <a:ext uri="{96DAC541-7B7A-43D3-8B79-37D633B846F1}">
                <asvg:svgBlip xmlns:asvg="http://schemas.microsoft.com/office/drawing/2016/SVG/main" r:embed="Ra714ea80a6e14e79"/>
              </a:ext>
            </a:extLst>
          </a:blip>
          <a:stretch xmlns:a="http://schemas.openxmlformats.org/drawingml/2006/main"/>
        </p:blipFill>
        <p:spPr>
          <a:xfrm xmlns:a="http://schemas.openxmlformats.org/drawingml/2006/main">
            <a:off x="5287277" y="2292477"/>
            <a:ext cx="1617446" cy="967598"/>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0473F4FB-2BD4-406C-82AA-FE4724B6E525}"/>
              </a:ext>
            </a:extLst>
          </p:cNvPr>
          <p:cNvSpPr>
            <a:spLocks xmlns:a="http://schemas.openxmlformats.org/drawingml/2006/main" noGrp="1"/>
          </p:cNvSpPr>
          <p:nvPr/>
        </p:nvSpPr>
        <p:spPr>
          <a:xfrm xmlns:a="http://schemas.openxmlformats.org/drawingml/2006/main">
            <a:off x="4381500" y="3431525"/>
            <a:ext cx="34290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Одна и та же сумма не</a:t>
            </a:r>
          </a:p>
          <a:p xmlns:a="http://schemas.openxmlformats.org/drawingml/2006/main">
            <a:pPr algn="l">
              <a:defRPr sz="2250" b="0">
                <a:solidFill>
                  <a:srgbClr val="111111"/>
                </a:solidFill>
              </a:defRPr>
            </a:pPr>
            <a:r>
              <a:rPr sz="2250" b="0">
                <a:solidFill>
                  <a:srgbClr val="111111"/>
                </a:solidFill>
              </a:rPr>
              <a:t>может равняться двум</a:t>
            </a:r>
          </a:p>
          <a:p xmlns:a="http://schemas.openxmlformats.org/drawingml/2006/main">
            <a:pPr algn="l">
              <a:defRPr sz="2250" b="0">
                <a:solidFill>
                  <a:srgbClr val="111111"/>
                </a:solidFill>
              </a:defRPr>
            </a:pPr>
            <a:r>
              <a:rPr sz="2250" b="0">
                <a:solidFill>
                  <a:srgbClr val="111111"/>
                </a:solidFill>
              </a:rPr>
              <a:t>разным числам.</a:t>
            </a:r>
          </a:p>
        </p:txBody>
      </p:sp>
      <p:sp>
        <p:nvSpPr>
          <p:cNvPr id="56" name="">
            <a:extLst xmlns:a="http://schemas.openxmlformats.org/drawingml/2006/main">
              <a:ext uri="{FF2B5EF4-FFF2-40B4-BE49-F238E27FC236}">
                <a16:creationId xmlns:a16="http://schemas.microsoft.com/office/drawing/2014/main" id="{EB935749-52DE-432B-A429-38899164CAF4}"/>
              </a:ext>
            </a:extLst>
          </p:cNvPr>
          <p:cNvSpPr>
            <a:spLocks xmlns:a="http://schemas.openxmlformats.org/drawingml/2006/main" noGrp="1"/>
          </p:cNvSpPr>
          <p:nvPr/>
        </p:nvSpPr>
        <p:spPr>
          <a:xfrm xmlns:a="http://schemas.openxmlformats.org/drawingml/2006/main">
            <a:off x="8153400" y="1743075"/>
            <a:ext cx="342900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Бесконечно много</a:t>
            </a:r>
          </a:p>
        </p:txBody>
      </p:sp>
      <p:pic>
        <p:nvPicPr>
          <p:cNvPr id="57" name="">
            <a:extLst xmlns:a="http://schemas.openxmlformats.org/drawingml/2006/main">
              <a:ext uri="{FF2B5EF4-FFF2-40B4-BE49-F238E27FC236}">
                <a16:creationId xmlns:a16="http://schemas.microsoft.com/office/drawing/2014/main" id="{12AC214C-74ED-4B58-ADCA-8C12B7FC7AB9}"/>
              </a:ext>
            </a:extLst>
          </p:cNvPr>
          <p:cNvPicPr>
            <a:picLocks xmlns:a="http://schemas.openxmlformats.org/drawingml/2006/main" noChangeAspect="1"/>
          </p:cNvPicPr>
          <p:nvPr/>
        </p:nvPicPr>
        <p:blipFill>
          <a:blip xmlns:r="http://schemas.openxmlformats.org/officeDocument/2006/relationships" xmlns:a="http://schemas.openxmlformats.org/drawingml/2006/main" r:embed="Re09dd618ded14a3d">
            <a:extLst>
              <a:ext uri="{96DAC541-7B7A-43D3-8B79-37D633B846F1}">
                <asvg:svgBlip xmlns:asvg="http://schemas.microsoft.com/office/drawing/2016/SVG/main" r:embed="R87b85dd7d3294e3f"/>
              </a:ext>
            </a:extLst>
          </a:blip>
          <a:stretch xmlns:a="http://schemas.openxmlformats.org/drawingml/2006/main"/>
        </p:blipFill>
        <p:spPr>
          <a:xfrm xmlns:a="http://schemas.openxmlformats.org/drawingml/2006/main">
            <a:off x="8899631" y="2292477"/>
            <a:ext cx="1936538" cy="967598"/>
          </a:xfrm>
          <a:prstGeom xmlns:a="http://schemas.openxmlformats.org/drawingml/2006/main" prst="rect">
            <a:avLst/>
          </a:prstGeom>
        </p:spPr>
      </p:pic>
      <p:sp>
        <p:nvSpPr>
          <p:cNvPr id="58" name="">
            <a:extLst xmlns:a="http://schemas.openxmlformats.org/drawingml/2006/main">
              <a:ext uri="{FF2B5EF4-FFF2-40B4-BE49-F238E27FC236}">
                <a16:creationId xmlns:a16="http://schemas.microsoft.com/office/drawing/2014/main" id="{6C1AEC34-99F0-44D6-87DC-112AF6E8FAF3}"/>
              </a:ext>
            </a:extLst>
          </p:cNvPr>
          <p:cNvSpPr>
            <a:spLocks xmlns:a="http://schemas.openxmlformats.org/drawingml/2006/main" noGrp="1"/>
          </p:cNvSpPr>
          <p:nvPr/>
        </p:nvSpPr>
        <p:spPr>
          <a:xfrm xmlns:a="http://schemas.openxmlformats.org/drawingml/2006/main">
            <a:off x="8153400" y="3431525"/>
            <a:ext cx="34290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Второе равенство</a:t>
            </a:r>
          </a:p>
          <a:p xmlns:a="http://schemas.openxmlformats.org/drawingml/2006/main">
            <a:pPr algn="l">
              <a:defRPr sz="2250" b="0">
                <a:solidFill>
                  <a:srgbClr val="111111"/>
                </a:solidFill>
              </a:defRPr>
            </a:pPr>
            <a:r>
              <a:rPr sz="2250" b="0">
                <a:solidFill>
                  <a:srgbClr val="111111"/>
                </a:solidFill>
              </a:rPr>
              <a:t>повторяет первое после</a:t>
            </a:r>
          </a:p>
          <a:p xmlns:a="http://schemas.openxmlformats.org/drawingml/2006/main">
            <a:pPr algn="l">
              <a:defRPr sz="2250" b="0">
                <a:solidFill>
                  <a:srgbClr val="111111"/>
                </a:solidFill>
              </a:defRPr>
            </a:pPr>
            <a:r>
              <a:rPr sz="2250" b="0">
                <a:solidFill>
                  <a:srgbClr val="111111"/>
                </a:solidFill>
              </a:rPr>
              <a:t>умножения на 2.</a:t>
            </a:r>
          </a:p>
        </p:txBody>
      </p:sp>
      <p:sp>
        <p:nvSpPr>
          <p:cNvPr id="59" name="">
            <a:extLst xmlns:a="http://schemas.openxmlformats.org/drawingml/2006/main">
              <a:ext uri="{FF2B5EF4-FFF2-40B4-BE49-F238E27FC236}">
                <a16:creationId xmlns:a16="http://schemas.microsoft.com/office/drawing/2014/main" id="{236F0A8F-9B9F-4A9D-BD1F-5FDA3E05B5A2}"/>
              </a:ext>
            </a:extLst>
          </p:cNvPr>
          <p:cNvSpPr>
            <a:spLocks xmlns:a="http://schemas.openxmlformats.org/drawingml/2006/main" noGrp="1"/>
          </p:cNvSpPr>
          <p:nvPr/>
        </p:nvSpPr>
        <p:spPr>
          <a:xfrm xmlns:a="http://schemas.openxmlformats.org/drawingml/2006/main">
            <a:off x="609600" y="475740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Число уравнений само по себе не гарантирует ни существования, ни</a:t>
            </a:r>
          </a:p>
          <a:p xmlns:a="http://schemas.openxmlformats.org/drawingml/2006/main">
            <a:pPr algn="l">
              <a:defRPr sz="2250" b="0">
                <a:solidFill>
                  <a:srgbClr val="111111"/>
                </a:solidFill>
              </a:defRPr>
            </a:pPr>
            <a:r>
              <a:rPr sz="2250" b="0">
                <a:solidFill>
                  <a:srgbClr val="111111"/>
                </a:solidFill>
              </a:rPr>
              <a:t>единственности решения. Важна связь между условиями.</a:t>
            </a:r>
          </a:p>
        </p:txBody>
      </p:sp>
    </p:spTree>
    <p:extLst>
      <p:ext uri="{BB962C8B-B14F-4D97-AF65-F5344CB8AC3E}">
        <p14:creationId xmlns:p14="http://schemas.microsoft.com/office/powerpoint/2010/main" val="119069999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7A67EDA0-7CF4-4C12-B6AD-64C1AE06EC0A}"/>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BC6464-AF0E-462D-A7E8-DD54995657D9}"/>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DEDEDCFE-6E5F-40F4-84ED-282298B9A4B3}"/>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41066956-7023-4CBA-B53C-517A2F5B2033}"/>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9778D76C-6D72-4BEE-92EB-B2A7B53E869D}"/>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EF911621-4B80-48C2-9808-B378A8BCD352}"/>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ED7B22D1-3F94-489D-8791-346B4986403E}"/>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6420E68A-3581-4202-B344-80E76224DFC8}"/>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52729C18-BBD5-4601-837D-DF9BBD1A140A}"/>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9DE05164-0E1E-413D-B904-B32CB005947D}"/>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3B8ECBAC-39E6-4D09-9A66-A889183BAA2D}"/>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981C0AA8-8742-48F7-BFB0-90E6E5EE2AA1}"/>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B7EDFBAD-2C69-49B3-A808-6E538D400F97}"/>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2B2535F0-2266-416A-B978-423DB7A58FF8}"/>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052ECC65-0D8C-40C3-B517-4B09E2C3A77F}"/>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7D9E5624-AE3D-4ED3-96AF-4C6CE93B5494}"/>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95E5D64D-A152-4F21-8DE3-B1FB199FCC29}"/>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231B88F7-83B8-4C41-BEF2-F507A5E8DFDA}"/>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6862A3A5-6EC3-4507-A173-CCDB3E305C81}"/>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E56E90A0-772B-472C-932F-0C3C42247EFC}"/>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F8CA90B7-7628-4DC4-A864-FFD95C8252B1}"/>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CE138EC0-0E79-4E2E-844C-192E7342566A}"/>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92CA8501-49E7-474B-B295-E76A23938B01}"/>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FEB6D526-9521-4772-921D-F994E11B97AF}"/>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F36FB73C-0D44-4E80-ADC0-DF62D1E79079}"/>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70E57895-1781-45AE-85CF-2B501CF9E7C1}"/>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66FF4966-F242-49A6-87A7-DAD7C395F594}"/>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34BB5700-C743-4674-9966-0AF74F56A1D0}"/>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D9C3663B-C2F0-43FE-8391-203EAAABE826}"/>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C217B925-977F-4FFE-A304-CBB67C512403}"/>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C1CD0B1E-337B-47A4-87A0-FFBE276EA80A}"/>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9839A1A0-73D1-450A-A8D3-B39DB3C27141}"/>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98D7A86B-9436-48E3-8DC3-099D8C774BE7}"/>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B56DBA7B-B843-4AA1-BBF9-E3BC1BA1CD92}"/>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E7A15A31-DDE7-4EA3-A345-3362197F6726}"/>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1597959B-98CF-4EA9-880F-63689C185C1E}"/>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F443311A-4164-4A82-9588-7C334D9D0F40}"/>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1BE21A9A-3FAD-4186-A596-2F9118BB03B3}"/>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FA7E3EB7-F91C-4188-9E73-C852D2ECA0FC}"/>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DB43B069-D44A-4DE9-8E27-FAFE88AA16EC}"/>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18780D18-7ACC-43B1-9C41-9ED4DD08EA1F}"/>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B662B7AB-5D61-411C-9F60-63D45643321C}"/>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0E910881-A541-4412-8FF5-FA3CC998B90F}"/>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433D1F0-B22C-4BFF-A676-936CCB66B495}"/>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Матричная запись системы</a:t>
            </a:r>
          </a:p>
        </p:txBody>
      </p:sp>
      <p:sp>
        <p:nvSpPr>
          <p:cNvPr id="45" name="">
            <a:extLst xmlns:a="http://schemas.openxmlformats.org/drawingml/2006/main">
              <a:ext uri="{FF2B5EF4-FFF2-40B4-BE49-F238E27FC236}">
                <a16:creationId xmlns:a16="http://schemas.microsoft.com/office/drawing/2014/main" id="{C831C06D-EC5E-4BC8-8409-84220B904B16}"/>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6918EC2-8B7E-46F5-8E92-849A3DA04520}"/>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2B81EEE-3810-4C07-B98D-622F102840D6}"/>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CA989D52-D143-4549-8436-9DC736A8E6E1}"/>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55079CD1-5515-4F96-B5E5-64C35581BCE3}"/>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29 / 37</a:t>
            </a:r>
          </a:p>
        </p:txBody>
      </p:sp>
      <p:sp>
        <p:nvSpPr>
          <p:cNvPr id="50" name="">
            <a:extLst xmlns:a="http://schemas.openxmlformats.org/drawingml/2006/main">
              <a:ext uri="{FF2B5EF4-FFF2-40B4-BE49-F238E27FC236}">
                <a16:creationId xmlns:a16="http://schemas.microsoft.com/office/drawing/2014/main" id="{3FFA9CC4-D910-48EC-9BCE-67AECD671CC8}"/>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Соберём коэффициенты в матрицу, неизвестные — в столбец, правые части —</a:t>
            </a:r>
          </a:p>
          <a:p xmlns:a="http://schemas.openxmlformats.org/drawingml/2006/main">
            <a:pPr algn="l">
              <a:defRPr sz="2250" b="0">
                <a:solidFill>
                  <a:srgbClr val="111111"/>
                </a:solidFill>
              </a:defRPr>
            </a:pPr>
            <a:r>
              <a:rPr sz="2250" b="0">
                <a:solidFill>
                  <a:srgbClr val="111111"/>
                </a:solidFill>
              </a:rPr>
              <a:t>в другой столбец:</a:t>
            </a:r>
          </a:p>
        </p:txBody>
      </p:sp>
      <p:pic>
        <p:nvPicPr>
          <p:cNvPr id="51" name="">
            <a:extLst xmlns:a="http://schemas.openxmlformats.org/drawingml/2006/main">
              <a:ext uri="{FF2B5EF4-FFF2-40B4-BE49-F238E27FC236}">
                <a16:creationId xmlns:a16="http://schemas.microsoft.com/office/drawing/2014/main" id="{182ED988-C527-409C-8483-0D22D99BE056}"/>
              </a:ext>
            </a:extLst>
          </p:cNvPr>
          <p:cNvPicPr>
            <a:picLocks xmlns:a="http://schemas.openxmlformats.org/drawingml/2006/main" noChangeAspect="1"/>
          </p:cNvPicPr>
          <p:nvPr/>
        </p:nvPicPr>
        <p:blipFill>
          <a:blip xmlns:r="http://schemas.openxmlformats.org/officeDocument/2006/relationships" xmlns:a="http://schemas.openxmlformats.org/drawingml/2006/main" r:embed="R99facd9ea4464d9f">
            <a:extLst>
              <a:ext uri="{96DAC541-7B7A-43D3-8B79-37D633B846F1}">
                <asvg:svgBlip xmlns:asvg="http://schemas.microsoft.com/office/drawing/2016/SVG/main" r:embed="Rb2398319269948e0"/>
              </a:ext>
            </a:extLst>
          </a:blip>
          <a:stretch xmlns:a="http://schemas.openxmlformats.org/drawingml/2006/main"/>
        </p:blipFill>
        <p:spPr>
          <a:xfrm xmlns:a="http://schemas.openxmlformats.org/drawingml/2006/main">
            <a:off x="4233245" y="2703195"/>
            <a:ext cx="3725510" cy="1434191"/>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B504FCCF-A702-4B6C-A3F0-29410FA63402}"/>
              </a:ext>
            </a:extLst>
          </p:cNvPr>
          <p:cNvSpPr>
            <a:spLocks xmlns:a="http://schemas.openxmlformats.org/drawingml/2006/main" noGrp="1"/>
          </p:cNvSpPr>
          <p:nvPr/>
        </p:nvSpPr>
        <p:spPr>
          <a:xfrm xmlns:a="http://schemas.openxmlformats.org/drawingml/2006/main">
            <a:off x="609600" y="4365986"/>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Каждая строка матрицы соответствует уравнению. Каждый столбец</a:t>
            </a:r>
          </a:p>
          <a:p xmlns:a="http://schemas.openxmlformats.org/drawingml/2006/main">
            <a:pPr algn="l">
              <a:defRPr sz="2250" b="0">
                <a:solidFill>
                  <a:srgbClr val="111111"/>
                </a:solidFill>
              </a:defRPr>
            </a:pPr>
            <a:r>
              <a:rPr sz="2250" b="0">
                <a:solidFill>
                  <a:srgbClr val="111111"/>
                </a:solidFill>
              </a:rPr>
              <a:t>соответствует одной неизвестной.</a:t>
            </a:r>
          </a:p>
        </p:txBody>
      </p:sp>
      <p:pic>
        <p:nvPicPr>
          <p:cNvPr id="53" name="">
            <a:extLst xmlns:a="http://schemas.openxmlformats.org/drawingml/2006/main">
              <a:ext uri="{FF2B5EF4-FFF2-40B4-BE49-F238E27FC236}">
                <a16:creationId xmlns:a16="http://schemas.microsoft.com/office/drawing/2014/main" id="{319AF9B2-2CB6-4F8D-BB62-51E8D6643A36}"/>
              </a:ext>
            </a:extLst>
          </p:cNvPr>
          <p:cNvPicPr>
            <a:picLocks xmlns:a="http://schemas.openxmlformats.org/drawingml/2006/main" noChangeAspect="1"/>
          </p:cNvPicPr>
          <p:nvPr/>
        </p:nvPicPr>
        <p:blipFill>
          <a:blip xmlns:r="http://schemas.openxmlformats.org/officeDocument/2006/relationships" xmlns:a="http://schemas.openxmlformats.org/drawingml/2006/main" r:embed="Rdfb12c3040044c4d">
            <a:extLst>
              <a:ext uri="{96DAC541-7B7A-43D3-8B79-37D633B846F1}">
                <asvg:svgBlip xmlns:asvg="http://schemas.microsoft.com/office/drawing/2016/SVG/main" r:embed="R46cd5d5d1a944907"/>
              </a:ext>
            </a:extLst>
          </a:blip>
          <a:stretch xmlns:a="http://schemas.openxmlformats.org/drawingml/2006/main"/>
        </p:blipFill>
        <p:spPr>
          <a:xfrm xmlns:a="http://schemas.openxmlformats.org/drawingml/2006/main">
            <a:off x="3599309" y="5326106"/>
            <a:ext cx="4993382" cy="312474"/>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CAE55EA9-5DD7-4AB6-8E3E-A57698FAE493}"/>
              </a:ext>
            </a:extLst>
          </p:cNvPr>
          <p:cNvSpPr>
            <a:spLocks xmlns:a="http://schemas.openxmlformats.org/drawingml/2006/main" noGrp="1"/>
          </p:cNvSpPr>
          <p:nvPr/>
        </p:nvSpPr>
        <p:spPr>
          <a:xfrm xmlns:a="http://schemas.openxmlformats.org/drawingml/2006/main">
            <a:off x="609600" y="5867181"/>
            <a:ext cx="109728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 общем случае число уравнений и число неизвестных могут различаться.</a:t>
            </a:r>
          </a:p>
          <a:p xmlns:a="http://schemas.openxmlformats.org/drawingml/2006/main">
            <a:pPr algn="l">
              <a:defRPr sz="2250" b="0">
                <a:solidFill>
                  <a:srgbClr val="111111"/>
                </a:solidFill>
              </a:defRPr>
            </a:pPr>
            <a:r>
              <a:rPr sz="2250" b="0">
                <a:solidFill>
                  <a:srgbClr val="111111"/>
                </a:solidFill>
              </a:rPr>
              <a:t>Матричная запись позволяет одинаково описывать маленькие и большие</a:t>
            </a:r>
          </a:p>
          <a:p xmlns:a="http://schemas.openxmlformats.org/drawingml/2006/main">
            <a:pPr algn="l">
              <a:defRPr sz="2250" b="0">
                <a:solidFill>
                  <a:srgbClr val="111111"/>
                </a:solidFill>
              </a:defRPr>
            </a:pPr>
            <a:r>
              <a:rPr sz="2250" b="0">
                <a:solidFill>
                  <a:srgbClr val="111111"/>
                </a:solidFill>
              </a:rPr>
              <a:t>системы.</a:t>
            </a:r>
          </a:p>
        </p:txBody>
      </p:sp>
    </p:spTree>
    <p:extLst>
      <p:ext uri="{BB962C8B-B14F-4D97-AF65-F5344CB8AC3E}">
        <p14:creationId xmlns:p14="http://schemas.microsoft.com/office/powerpoint/2010/main" val="95366568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741E037B-459A-4525-9A4A-711E85BFC52B}"/>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D6E8BF-1D3B-4A3B-9445-5109022470B6}"/>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43FEA3C4-8A57-45DD-A104-5DD9B1923E31}"/>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75055E36-39A4-45EE-A58E-B252D44D2368}"/>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44308818-A816-432D-9500-4675E3909D0D}"/>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6A12EB7E-8F37-461A-B393-82E45331C15A}"/>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1FAF32B8-5DF0-4316-8AD5-34B9447AEFEB}"/>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9A9A2968-B434-4E1D-BF9C-C802F4B41230}"/>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CF146621-E851-4378-ABD4-44DAC2D32477}"/>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A7CE2BB6-24FE-4B1A-9E84-8321B8CD01F9}"/>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94E393AF-1CDC-4682-8946-7DD08F53595F}"/>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2DB7E7A8-9E24-41F1-8343-DF1F528D7098}"/>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23DA5F92-1F5A-4B64-8A54-E62487B41A0E}"/>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3ED65A0B-5E35-4585-BF3F-1729DEDE2B6F}"/>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E5B6E584-9BEA-4353-85F1-11DAB24F219A}"/>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E75FD3C2-6DF3-44D2-B2AE-539C570976D1}"/>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C42594BC-EC22-4096-89B6-9CB9AE961C70}"/>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38339D0C-3CC7-40A7-98D9-F1D37957DBA1}"/>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15465665-9785-4540-B1D6-002538A3D381}"/>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853B8ADA-75BF-4D2D-8D87-1E06B2FD66BE}"/>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2EFB9434-F4AC-4F68-99F4-F1C34EACEFE3}"/>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A1F3D88B-EE69-40E5-A480-D22B4E1EE76B}"/>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B58E50CC-EFB2-446A-A22C-964F5BE73A24}"/>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07A08313-6DE4-4382-B57E-78F6FAFFE0F4}"/>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DA364897-BEC9-44C9-B454-068CAC88FFEA}"/>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F9552BE6-E701-4A40-971A-3AFE50446A37}"/>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59AA9BE2-D55B-4F2C-BF65-1CE128092590}"/>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7DEB7051-C8F9-4060-9A69-7B07A87E7FE4}"/>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214FD935-AF01-41BA-B047-BCFC9B8C8E38}"/>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2D1001BD-5185-44A8-B2F8-7AA65D6498C6}"/>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1BEFD303-30E6-4407-AE97-E7513E8841D4}"/>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2525883A-D9D2-4227-A38B-64CE940DA3C6}"/>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051CC312-A160-4170-B7F4-4A9CB73ED610}"/>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EB5B5BC8-5D4B-407C-ABC3-2F9758169AC1}"/>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EF2787B2-1864-452A-8B24-05ECF084885E}"/>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A19484BC-7E71-4765-93FD-12B22092F09A}"/>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5E75FA07-B8D7-4901-89F6-913CD64F84AE}"/>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C7D8688D-7E15-474C-B36E-A17F0E7FFB95}"/>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C479019F-5298-4A96-B562-D9F0039327AF}"/>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559753EE-96A4-4812-ABFF-45FC56B76D96}"/>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F345F05D-E59B-4720-85C7-D74EC23C7EEE}"/>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E83FD64A-DA72-424C-AB4F-3990D6D7A927}"/>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FBD294A7-BC10-4C1F-821C-49BF3C9FECFD}"/>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F67A7A7-64A2-48F5-AAF7-23F25FF8FBD5}"/>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Минимум MSE линейной модели</a:t>
            </a:r>
          </a:p>
        </p:txBody>
      </p:sp>
      <p:sp>
        <p:nvSpPr>
          <p:cNvPr id="45" name="">
            <a:extLst xmlns:a="http://schemas.openxmlformats.org/drawingml/2006/main">
              <a:ext uri="{FF2B5EF4-FFF2-40B4-BE49-F238E27FC236}">
                <a16:creationId xmlns:a16="http://schemas.microsoft.com/office/drawing/2014/main" id="{B4B77EE7-97AD-4329-AA38-A8EEA55B3492}"/>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470DB7B4-F370-47BB-8746-C7EE7258A40B}"/>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34BB0086-6448-4B10-8BD6-31938B59367F}"/>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4FEAF4B4-FDDF-41B8-82B1-E2EF6EAE9DD2}"/>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93C4DFB4-6B5A-4B3B-A59D-AFD6C612B60A}"/>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30 / 37</a:t>
            </a:r>
          </a:p>
        </p:txBody>
      </p:sp>
      <p:sp>
        <p:nvSpPr>
          <p:cNvPr id="50" name="">
            <a:extLst xmlns:a="http://schemas.openxmlformats.org/drawingml/2006/main">
              <a:ext uri="{FF2B5EF4-FFF2-40B4-BE49-F238E27FC236}">
                <a16:creationId xmlns:a16="http://schemas.microsoft.com/office/drawing/2014/main" id="{E89CC82B-8AF4-4528-8069-671546B6073C}"/>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 стационарной точке обе частные производные равны нулю. Для остатков в</a:t>
            </a:r>
          </a:p>
          <a:p xmlns:a="http://schemas.openxmlformats.org/drawingml/2006/main">
            <a:pPr algn="l">
              <a:defRPr sz="2250" b="0">
                <a:solidFill>
                  <a:srgbClr val="111111"/>
                </a:solidFill>
              </a:defRPr>
            </a:pPr>
            <a:r>
              <a:rPr sz="2250" b="0">
                <a:solidFill>
                  <a:srgbClr val="111111"/>
                </a:solidFill>
              </a:rPr>
              <a:t>этой точке выполняются условия:</a:t>
            </a:r>
          </a:p>
        </p:txBody>
      </p:sp>
      <p:pic>
        <p:nvPicPr>
          <p:cNvPr id="51" name="">
            <a:extLst xmlns:a="http://schemas.openxmlformats.org/drawingml/2006/main">
              <a:ext uri="{FF2B5EF4-FFF2-40B4-BE49-F238E27FC236}">
                <a16:creationId xmlns:a16="http://schemas.microsoft.com/office/drawing/2014/main" id="{2DA5EB23-1D26-42DF-AC5D-1A5207647A7C}"/>
              </a:ext>
            </a:extLst>
          </p:cNvPr>
          <p:cNvPicPr>
            <a:picLocks xmlns:a="http://schemas.openxmlformats.org/drawingml/2006/main" noChangeAspect="1"/>
          </p:cNvPicPr>
          <p:nvPr/>
        </p:nvPicPr>
        <p:blipFill>
          <a:blip xmlns:r="http://schemas.openxmlformats.org/officeDocument/2006/relationships" xmlns:a="http://schemas.openxmlformats.org/drawingml/2006/main" r:embed="R55f1626681374fe6">
            <a:extLst>
              <a:ext uri="{96DAC541-7B7A-43D3-8B79-37D633B846F1}">
                <asvg:svgBlip xmlns:asvg="http://schemas.microsoft.com/office/drawing/2016/SVG/main" r:embed="R05c544fea47343da"/>
              </a:ext>
            </a:extLst>
          </a:blip>
          <a:stretch xmlns:a="http://schemas.openxmlformats.org/drawingml/2006/main"/>
        </p:blipFill>
        <p:spPr>
          <a:xfrm xmlns:a="http://schemas.openxmlformats.org/drawingml/2006/main">
            <a:off x="4161375" y="2703195"/>
            <a:ext cx="3869251" cy="885831"/>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FE0A6976-2439-42A2-A3A9-937FB67489D0}"/>
              </a:ext>
            </a:extLst>
          </p:cNvPr>
          <p:cNvSpPr>
            <a:spLocks xmlns:a="http://schemas.openxmlformats.org/drawingml/2006/main" noGrp="1"/>
          </p:cNvSpPr>
          <p:nvPr/>
        </p:nvSpPr>
        <p:spPr>
          <a:xfrm xmlns:a="http://schemas.openxmlformats.org/drawingml/2006/main">
            <a:off x="609600" y="3817626"/>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Изменим параметры на произвольные величины и раскроем квадраты:</a:t>
            </a:r>
          </a:p>
        </p:txBody>
      </p:sp>
      <p:pic>
        <p:nvPicPr>
          <p:cNvPr id="53" name="">
            <a:extLst xmlns:a="http://schemas.openxmlformats.org/drawingml/2006/main">
              <a:ext uri="{FF2B5EF4-FFF2-40B4-BE49-F238E27FC236}">
                <a16:creationId xmlns:a16="http://schemas.microsoft.com/office/drawing/2014/main" id="{22F94ECF-903F-44AF-B58C-259B3F5CD306}"/>
              </a:ext>
            </a:extLst>
          </p:cNvPr>
          <p:cNvPicPr>
            <a:picLocks xmlns:a="http://schemas.openxmlformats.org/drawingml/2006/main" noChangeAspect="1"/>
          </p:cNvPicPr>
          <p:nvPr/>
        </p:nvPicPr>
        <p:blipFill>
          <a:blip xmlns:r="http://schemas.openxmlformats.org/officeDocument/2006/relationships" xmlns:a="http://schemas.openxmlformats.org/drawingml/2006/main" r:embed="Rcf359d2a25974794">
            <a:extLst>
              <a:ext uri="{96DAC541-7B7A-43D3-8B79-37D633B846F1}">
                <asvg:svgBlip xmlns:asvg="http://schemas.microsoft.com/office/drawing/2016/SVG/main" r:embed="R9122e3bb7c794c87"/>
              </a:ext>
            </a:extLst>
          </a:blip>
          <a:stretch xmlns:a="http://schemas.openxmlformats.org/drawingml/2006/main"/>
        </p:blipFill>
        <p:spPr>
          <a:xfrm xmlns:a="http://schemas.openxmlformats.org/drawingml/2006/main">
            <a:off x="2492000" y="4411986"/>
            <a:ext cx="7207999" cy="1240101"/>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2A5C2CD2-5442-407C-B07D-50C9EA4866B2}"/>
              </a:ext>
            </a:extLst>
          </p:cNvPr>
          <p:cNvSpPr>
            <a:spLocks xmlns:a="http://schemas.openxmlformats.org/drawingml/2006/main" noGrp="1"/>
          </p:cNvSpPr>
          <p:nvPr/>
        </p:nvSpPr>
        <p:spPr>
          <a:xfrm xmlns:a="http://schemas.openxmlformats.org/drawingml/2006/main">
            <a:off x="609600" y="5880686"/>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Смешанные слагаемые исчезают благодаря двум равенствам сверху. Остаётся</a:t>
            </a:r>
          </a:p>
          <a:p xmlns:a="http://schemas.openxmlformats.org/drawingml/2006/main">
            <a:pPr algn="l">
              <a:defRPr sz="2250" b="0">
                <a:solidFill>
                  <a:srgbClr val="111111"/>
                </a:solidFill>
              </a:defRPr>
            </a:pPr>
            <a:r>
              <a:rPr sz="2250" b="0">
                <a:solidFill>
                  <a:srgbClr val="111111"/>
                </a:solidFill>
              </a:rPr>
              <a:t>сумма квадратов, поэтому стационарная точка даёт глобальный минимум.</a:t>
            </a:r>
          </a:p>
        </p:txBody>
      </p:sp>
    </p:spTree>
    <p:extLst>
      <p:ext uri="{BB962C8B-B14F-4D97-AF65-F5344CB8AC3E}">
        <p14:creationId xmlns:p14="http://schemas.microsoft.com/office/powerpoint/2010/main" val="55359660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DFFE9A18-2A0A-42DF-9C2E-D29CBFB00F8C}"/>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38EF64-3FA2-4204-9238-F2F552E2B920}"/>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D029D260-C1E7-4B8A-9656-7026364BA180}"/>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5A6A4A41-4F48-4E5F-9185-EAD0600E2804}"/>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050098EA-ACEF-4B23-AE59-38A09F463ACA}"/>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EF58AEB0-6C50-4A33-937F-9CA897EF07D5}"/>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E6CC8567-C80A-4B4C-A28A-9EDC722609E3}"/>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17D072B8-A0E1-4C3F-BECE-DF78C9DDD355}"/>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F4058300-0F87-4F54-9159-AEE5CEB66784}"/>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59A4FEA9-13E7-4C11-99B4-7746CD0B832A}"/>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6002A98B-4201-48F8-AA0D-3C95211F8992}"/>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0950AD13-DB12-4A1E-AF94-566BA0AE5E3A}"/>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03A53AC6-7ADF-4900-AEE9-F3E18617339A}"/>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2650405C-C7FA-4A14-A6ED-3ED3E3BDAE93}"/>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41883E44-B47B-4231-8C52-395392B4123D}"/>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A9ED8A1B-B82C-4CDC-94F6-714982282CD3}"/>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C0C22A42-A975-4224-A76C-C7F99D96994E}"/>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6C4ACD74-37E4-451C-B454-5496DE34827A}"/>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88789EF1-EA89-421A-998C-4D21A90BE9CF}"/>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F08D1252-942F-483C-BAF0-520920C8C2BF}"/>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14492538-562C-4733-93D4-718B5E2E90E3}"/>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F7FF2E46-D4A3-4C59-9FA7-85AFD45A46CE}"/>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1E589C96-CAFD-460E-B51C-2CFFD56FB89E}"/>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DC57F974-6A49-4F8A-956E-28094136B13B}"/>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212BC225-6144-4B3C-90F8-D9C5F98D7333}"/>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6436C20D-860E-487D-879A-6CDE155A921B}"/>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BA574ED2-097A-4828-9B0B-0BC96314F3FD}"/>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AE91DB59-9A01-42F8-AFD5-4B5F965036BF}"/>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58473187-2E44-48FB-AD00-1BAD16FE7625}"/>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87A63487-52DC-40E9-96B0-072D9A523732}"/>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AD974988-72DE-46DE-BCFD-BBD3A718329B}"/>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35992DF8-FDDD-438F-9831-FA3D4E8BA5E7}"/>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1AC288E4-6827-4B88-9177-E04769071D32}"/>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C1A6E772-B712-45C6-BF5F-7F265E83A8CF}"/>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3084A7E2-9027-4E0F-A660-58CB9B790938}"/>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362B6C1A-2A78-4DA8-AE30-E7D6D46DD98F}"/>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5BEAE00A-0605-42C3-8E23-D4E460EAEF4C}"/>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21022631-DE41-4FF7-8138-666C7F0C33A8}"/>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58ADF838-375A-4AA8-BC60-EA3D1EDC3C4F}"/>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044B0CF7-50A5-4228-B4AE-C2DD04731980}"/>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9ACAE0F3-F697-4E0F-A660-B92F1510FFCB}"/>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C3F0E0C1-B167-48E8-B719-C3DD85D01D50}"/>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371FA561-BE76-43DE-B55F-1A483833B990}"/>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10C0CFF-29FD-4C97-AB6F-5A4726A185AA}"/>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Вывод нормальных уравнений</a:t>
            </a:r>
          </a:p>
        </p:txBody>
      </p:sp>
      <p:sp>
        <p:nvSpPr>
          <p:cNvPr id="45" name="">
            <a:extLst xmlns:a="http://schemas.openxmlformats.org/drawingml/2006/main">
              <a:ext uri="{FF2B5EF4-FFF2-40B4-BE49-F238E27FC236}">
                <a16:creationId xmlns:a16="http://schemas.microsoft.com/office/drawing/2014/main" id="{A292186B-E620-4A22-B2DD-0C07C76CA509}"/>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D0D6FF6-F975-4CB1-B82C-72323C6282CE}"/>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012AC3E2-7059-4B19-B8FB-F625CDE66656}"/>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68CF0B50-12D6-4CD5-9541-FA247C61E060}"/>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B013E3D6-6420-4266-83A2-645C7C80A595}"/>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31 / 37</a:t>
            </a:r>
          </a:p>
        </p:txBody>
      </p:sp>
      <p:sp>
        <p:nvSpPr>
          <p:cNvPr id="50" name="">
            <a:extLst xmlns:a="http://schemas.openxmlformats.org/drawingml/2006/main">
              <a:ext uri="{FF2B5EF4-FFF2-40B4-BE49-F238E27FC236}">
                <a16:creationId xmlns:a16="http://schemas.microsoft.com/office/drawing/2014/main" id="{0E0D0A7A-0EB7-4B49-A36D-692486CF258F}"/>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Приравняем производную по весу к нулю и уберём постоянный множитель</a:t>
            </a:r>
          </a:p>
          <a:p xmlns:a="http://schemas.openxmlformats.org/drawingml/2006/main">
            <a:pPr algn="l">
              <a:defRPr sz="2250" b="0">
                <a:solidFill>
                  <a:srgbClr val="111111"/>
                </a:solidFill>
              </a:defRPr>
            </a:pPr>
            <a:r>
              <a:rPr sz="2250" b="0">
                <a:solidFill>
                  <a:srgbClr val="111111"/>
                </a:solidFill>
              </a:rPr>
              <a:t>усреднения:</a:t>
            </a:r>
          </a:p>
        </p:txBody>
      </p:sp>
      <p:pic>
        <p:nvPicPr>
          <p:cNvPr id="51" name="">
            <a:extLst xmlns:a="http://schemas.openxmlformats.org/drawingml/2006/main">
              <a:ext uri="{FF2B5EF4-FFF2-40B4-BE49-F238E27FC236}">
                <a16:creationId xmlns:a16="http://schemas.microsoft.com/office/drawing/2014/main" id="{8676FEAB-6361-4968-A0AA-D2BACB36F52C}"/>
              </a:ext>
            </a:extLst>
          </p:cNvPr>
          <p:cNvPicPr>
            <a:picLocks xmlns:a="http://schemas.openxmlformats.org/drawingml/2006/main" noChangeAspect="1"/>
          </p:cNvPicPr>
          <p:nvPr/>
        </p:nvPicPr>
        <p:blipFill>
          <a:blip xmlns:r="http://schemas.openxmlformats.org/officeDocument/2006/relationships" xmlns:a="http://schemas.openxmlformats.org/drawingml/2006/main" r:embed="R84f330f829674d8e">
            <a:extLst>
              <a:ext uri="{96DAC541-7B7A-43D3-8B79-37D633B846F1}">
                <asvg:svgBlip xmlns:asvg="http://schemas.microsoft.com/office/drawing/2016/SVG/main" r:embed="R5cd24f4869664f47"/>
              </a:ext>
            </a:extLst>
          </a:blip>
          <a:stretch xmlns:a="http://schemas.openxmlformats.org/drawingml/2006/main"/>
        </p:blipFill>
        <p:spPr>
          <a:xfrm xmlns:a="http://schemas.openxmlformats.org/drawingml/2006/main">
            <a:off x="4274668" y="2703195"/>
            <a:ext cx="3642664" cy="963992"/>
          </a:xfrm>
          <a:prstGeom xmlns:a="http://schemas.openxmlformats.org/drawingml/2006/main" prst="rect">
            <a:avLst/>
          </a:prstGeom>
        </p:spPr>
      </p:pic>
      <p:pic>
        <p:nvPicPr>
          <p:cNvPr id="52" name="">
            <a:extLst xmlns:a="http://schemas.openxmlformats.org/drawingml/2006/main">
              <a:ext uri="{FF2B5EF4-FFF2-40B4-BE49-F238E27FC236}">
                <a16:creationId xmlns:a16="http://schemas.microsoft.com/office/drawing/2014/main" id="{D5C367E6-7FF0-4D3F-91BD-467E38BDBC11}"/>
              </a:ext>
            </a:extLst>
          </p:cNvPr>
          <p:cNvPicPr>
            <a:picLocks xmlns:a="http://schemas.openxmlformats.org/drawingml/2006/main" noChangeAspect="1"/>
          </p:cNvPicPr>
          <p:nvPr/>
        </p:nvPicPr>
        <p:blipFill>
          <a:blip xmlns:r="http://schemas.openxmlformats.org/officeDocument/2006/relationships" xmlns:a="http://schemas.openxmlformats.org/drawingml/2006/main" r:embed="Re1186f30a6c245cc">
            <a:extLst>
              <a:ext uri="{96DAC541-7B7A-43D3-8B79-37D633B846F1}">
                <asvg:svgBlip xmlns:asvg="http://schemas.microsoft.com/office/drawing/2016/SVG/main" r:embed="Rfbed43b850534d8e"/>
              </a:ext>
            </a:extLst>
          </a:blip>
          <a:stretch xmlns:a="http://schemas.openxmlformats.org/drawingml/2006/main"/>
        </p:blipFill>
        <p:spPr>
          <a:xfrm xmlns:a="http://schemas.openxmlformats.org/drawingml/2006/main">
            <a:off x="3670563" y="3895787"/>
            <a:ext cx="4850874" cy="937938"/>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357C8511-9297-47C3-A781-2B981A7ADC0E}"/>
              </a:ext>
            </a:extLst>
          </p:cNvPr>
          <p:cNvSpPr>
            <a:spLocks xmlns:a="http://schemas.openxmlformats.org/drawingml/2006/main" noGrp="1"/>
          </p:cNvSpPr>
          <p:nvPr/>
        </p:nvSpPr>
        <p:spPr>
          <a:xfrm xmlns:a="http://schemas.openxmlformats.org/drawingml/2006/main">
            <a:off x="609600" y="5062326"/>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Параметры не зависят от индекса объекта, поэтому их можно вынести за знак</a:t>
            </a:r>
          </a:p>
          <a:p xmlns:a="http://schemas.openxmlformats.org/drawingml/2006/main">
            <a:pPr algn="l">
              <a:defRPr sz="2250" b="0">
                <a:solidFill>
                  <a:srgbClr val="111111"/>
                </a:solidFill>
              </a:defRPr>
            </a:pPr>
            <a:r>
              <a:rPr sz="2250" b="0">
                <a:solidFill>
                  <a:srgbClr val="111111"/>
                </a:solidFill>
              </a:rPr>
              <a:t>суммы. Из производной по сдвигу аналогично получаем:</a:t>
            </a:r>
          </a:p>
        </p:txBody>
      </p:sp>
      <p:pic>
        <p:nvPicPr>
          <p:cNvPr id="54" name="">
            <a:extLst xmlns:a="http://schemas.openxmlformats.org/drawingml/2006/main">
              <a:ext uri="{FF2B5EF4-FFF2-40B4-BE49-F238E27FC236}">
                <a16:creationId xmlns:a16="http://schemas.microsoft.com/office/drawing/2014/main" id="{88495C67-2602-4526-AAB0-F74F835DABD8}"/>
              </a:ext>
            </a:extLst>
          </p:cNvPr>
          <p:cNvPicPr>
            <a:picLocks xmlns:a="http://schemas.openxmlformats.org/drawingml/2006/main" noChangeAspect="1"/>
          </p:cNvPicPr>
          <p:nvPr/>
        </p:nvPicPr>
        <p:blipFill>
          <a:blip xmlns:r="http://schemas.openxmlformats.org/officeDocument/2006/relationships" xmlns:a="http://schemas.openxmlformats.org/drawingml/2006/main" r:embed="R7e88cd6a234b4c06">
            <a:extLst>
              <a:ext uri="{96DAC541-7B7A-43D3-8B79-37D633B846F1}">
                <asvg:svgBlip xmlns:asvg="http://schemas.microsoft.com/office/drawing/2016/SVG/main" r:embed="R6276e57569b6459b"/>
              </a:ext>
            </a:extLst>
          </a:blip>
          <a:stretch xmlns:a="http://schemas.openxmlformats.org/drawingml/2006/main"/>
        </p:blipFill>
        <p:spPr>
          <a:xfrm xmlns:a="http://schemas.openxmlformats.org/drawingml/2006/main">
            <a:off x="4550993" y="6022446"/>
            <a:ext cx="3090013" cy="911885"/>
          </a:xfrm>
          <a:prstGeom xmlns:a="http://schemas.openxmlformats.org/drawingml/2006/main" prst="rect">
            <a:avLst/>
          </a:prstGeom>
        </p:spPr>
      </p:pic>
    </p:spTree>
    <p:extLst>
      <p:ext uri="{BB962C8B-B14F-4D97-AF65-F5344CB8AC3E}">
        <p14:creationId xmlns:p14="http://schemas.microsoft.com/office/powerpoint/2010/main" val="162531992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ADFB8A02-FD3D-463E-9901-0145ADB7A347}"/>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5E9EA1-25AF-4963-B8DF-4F7CA2237158}"/>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789E9895-5623-40DE-8C1C-494E3DCC6717}"/>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1489AA7A-1A08-435B-ABD6-93410BAF7E23}"/>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069E5EC8-A7FA-410C-A33D-08F1D96EF0EB}"/>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58F847C6-A95C-43FD-BA38-9C4851F0BF6C}"/>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CA45832D-AA20-4C3B-A26A-43D204FA8D83}"/>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9F53488F-1AC6-4D3C-B1F9-9A59A4EA4806}"/>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BDEB746C-410F-4C9B-AFB5-A85CB93993A3}"/>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CFC7E63C-BF0F-43FE-B442-BC82593A28BE}"/>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00F7430F-616C-420B-82F1-7C866348410B}"/>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7DBFDDDA-7A2F-4D32-9DAC-51883E147E31}"/>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147AD6E9-5F73-4A7F-A799-34DFA405C5C8}"/>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DF4FD8D0-63AD-4959-96FB-AD8352D612DF}"/>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458EF5B6-7346-40EF-A287-230D8F52F29C}"/>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78BFB102-BD94-43E4-9A30-7C3FFA114397}"/>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B0090700-292E-40B8-BD0A-8FCE564729DB}"/>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9AC26B59-A7A2-4792-8DF3-105111BD4233}"/>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72C2A57F-D42A-408E-BE00-0A46664366FD}"/>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E101FD5E-D0E1-4DFE-9624-04EDAEC572EC}"/>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2E14CB1A-AF12-40C4-86E1-89A83B61B98C}"/>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3D0A459D-CFDC-4490-B549-F02D49CFAC89}"/>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434CF0A8-2E59-46B6-986C-FDA7B997B136}"/>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585A21DA-B363-4642-86CE-D7BCE396FE05}"/>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CE272D44-BD0B-4498-B189-C96B0823A598}"/>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CCCB5B82-3E69-4490-9CF8-0F836C35A322}"/>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3CEB663C-968F-4F2C-BFFA-0F3ADB08FF5D}"/>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4C92BD0E-D11A-4BC6-9B67-9EAA6B7CCEAD}"/>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8BB71844-A5E8-4E32-9AA9-020250FF15AC}"/>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20B601EA-C76A-4165-8C12-9FCDE2F87FD8}"/>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CA7364C1-6F5D-4C13-8EE1-85AF2E32E418}"/>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090E9E32-1816-4707-97A0-3BED4561D383}"/>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20D0F7D5-2C9D-468A-97FF-B61F5C32A390}"/>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47522C22-35A9-4BDD-B8CB-613E9B4E5381}"/>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48B835A1-3CF1-4526-86DB-452859C1B4DF}"/>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51CA0208-D0E4-4AB7-B94C-47D39B431406}"/>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70E5694A-853E-40C3-8DDC-FA8452235B75}"/>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D680D6C9-8682-4A85-BA46-B153E16CB21A}"/>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B221F5EB-1AEA-4065-A121-28D18926042A}"/>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BD3B47DB-F7C4-4276-AD22-5D760F88ACC6}"/>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67595582-B7C8-418B-99F3-9D6FC748EB89}"/>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94B79FF3-EBBC-46EF-8325-28B0E3A10230}"/>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3D7CAB86-2DD7-4B50-AD8D-9AF7D315D30D}"/>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214D27F-E25C-4EDA-834D-2F4F3D62BEB1}"/>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Минимум ошибки как СЛАУ</a:t>
            </a:r>
          </a:p>
        </p:txBody>
      </p:sp>
      <p:sp>
        <p:nvSpPr>
          <p:cNvPr id="45" name="">
            <a:extLst xmlns:a="http://schemas.openxmlformats.org/drawingml/2006/main">
              <a:ext uri="{FF2B5EF4-FFF2-40B4-BE49-F238E27FC236}">
                <a16:creationId xmlns:a16="http://schemas.microsoft.com/office/drawing/2014/main" id="{5F43799F-039F-4F03-A146-A2BEF3E7F7D0}"/>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DC607FEF-0068-4085-8EB4-AEF0697A5CDB}"/>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7BCAFAE4-FDBF-498D-A831-8BF3BD03FF59}"/>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87FA2BB7-3B72-4FF0-9870-158027A2978C}"/>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E9B11D11-D2E3-4FDF-89D3-AD9382039874}"/>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32 / 37</a:t>
            </a:r>
          </a:p>
        </p:txBody>
      </p:sp>
      <p:sp>
        <p:nvSpPr>
          <p:cNvPr id="50" name="">
            <a:extLst xmlns:a="http://schemas.openxmlformats.org/drawingml/2006/main">
              <a:ext uri="{FF2B5EF4-FFF2-40B4-BE49-F238E27FC236}">
                <a16:creationId xmlns:a16="http://schemas.microsoft.com/office/drawing/2014/main" id="{D708247E-0F24-4304-A31C-BD7E95A7F4AE}"/>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После раскрытия сумм и переноса известных слагаемых получаем систему для</a:t>
            </a:r>
          </a:p>
          <a:p xmlns:a="http://schemas.openxmlformats.org/drawingml/2006/main">
            <a:pPr algn="l">
              <a:defRPr sz="2250" b="0">
                <a:solidFill>
                  <a:srgbClr val="111111"/>
                </a:solidFill>
              </a:defRPr>
            </a:pPr>
            <a:r>
              <a:rPr sz="2250" b="0">
                <a:solidFill>
                  <a:srgbClr val="111111"/>
                </a:solidFill>
              </a:rPr>
              <a:t>параметров прямой:</a:t>
            </a:r>
          </a:p>
        </p:txBody>
      </p:sp>
      <p:pic>
        <p:nvPicPr>
          <p:cNvPr id="51" name="">
            <a:extLst xmlns:a="http://schemas.openxmlformats.org/drawingml/2006/main">
              <a:ext uri="{FF2B5EF4-FFF2-40B4-BE49-F238E27FC236}">
                <a16:creationId xmlns:a16="http://schemas.microsoft.com/office/drawing/2014/main" id="{83439EBF-CE25-49E7-B4B8-E05B91D48CFB}"/>
              </a:ext>
            </a:extLst>
          </p:cNvPr>
          <p:cNvPicPr>
            <a:picLocks xmlns:a="http://schemas.openxmlformats.org/drawingml/2006/main" noChangeAspect="1"/>
          </p:cNvPicPr>
          <p:nvPr/>
        </p:nvPicPr>
        <p:blipFill>
          <a:blip xmlns:r="http://schemas.openxmlformats.org/officeDocument/2006/relationships" xmlns:a="http://schemas.openxmlformats.org/drawingml/2006/main" r:embed="R0697f6d0417f478c">
            <a:extLst>
              <a:ext uri="{96DAC541-7B7A-43D3-8B79-37D633B846F1}">
                <asvg:svgBlip xmlns:asvg="http://schemas.microsoft.com/office/drawing/2016/SVG/main" r:embed="Rc4606f50865e48c6"/>
              </a:ext>
            </a:extLst>
          </a:blip>
          <a:stretch xmlns:a="http://schemas.openxmlformats.org/drawingml/2006/main"/>
        </p:blipFill>
        <p:spPr>
          <a:xfrm xmlns:a="http://schemas.openxmlformats.org/drawingml/2006/main">
            <a:off x="3539867" y="2703195"/>
            <a:ext cx="5112267" cy="2288454"/>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F296E6B2-5030-4B08-B04F-69799D9A5FF3}"/>
              </a:ext>
            </a:extLst>
          </p:cNvPr>
          <p:cNvSpPr>
            <a:spLocks xmlns:a="http://schemas.openxmlformats.org/drawingml/2006/main" noGrp="1"/>
          </p:cNvSpPr>
          <p:nvPr/>
        </p:nvSpPr>
        <p:spPr>
          <a:xfrm xmlns:a="http://schemas.openxmlformats.org/drawingml/2006/main">
            <a:off x="609600" y="5220249"/>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Коэффициенты — суммы по исходной выборке. Неизвестных два: вес и</a:t>
            </a:r>
          </a:p>
          <a:p xmlns:a="http://schemas.openxmlformats.org/drawingml/2006/main">
            <a:pPr algn="l">
              <a:defRPr sz="2250" b="0">
                <a:solidFill>
                  <a:srgbClr val="111111"/>
                </a:solidFill>
              </a:defRPr>
            </a:pPr>
            <a:r>
              <a:rPr sz="2250" b="0">
                <a:solidFill>
                  <a:srgbClr val="111111"/>
                </a:solidFill>
              </a:rPr>
              <a:t>свободный коэффициент.</a:t>
            </a:r>
          </a:p>
        </p:txBody>
      </p:sp>
      <p:sp>
        <p:nvSpPr>
          <p:cNvPr id="53" name="">
            <a:extLst xmlns:a="http://schemas.openxmlformats.org/drawingml/2006/main">
              <a:ext uri="{FF2B5EF4-FFF2-40B4-BE49-F238E27FC236}">
                <a16:creationId xmlns:a16="http://schemas.microsoft.com/office/drawing/2014/main" id="{B6DDEF5C-A38B-4ED9-8A80-4F8F662644EE}"/>
              </a:ext>
            </a:extLst>
          </p:cNvPr>
          <p:cNvSpPr>
            <a:spLocks xmlns:a="http://schemas.openxmlformats.org/drawingml/2006/main" noGrp="1"/>
          </p:cNvSpPr>
          <p:nvPr/>
        </p:nvSpPr>
        <p:spPr>
          <a:xfrm xmlns:a="http://schemas.openxmlformats.org/drawingml/2006/main">
            <a:off x="609600" y="6180369"/>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Мы не требуем прохождения прямой через каждую точку. Система выражает</a:t>
            </a:r>
          </a:p>
          <a:p xmlns:a="http://schemas.openxmlformats.org/drawingml/2006/main">
            <a:pPr algn="l">
              <a:defRPr sz="2250" b="0">
                <a:solidFill>
                  <a:srgbClr val="111111"/>
                </a:solidFill>
              </a:defRPr>
            </a:pPr>
            <a:r>
              <a:rPr sz="2250" b="0">
                <a:solidFill>
                  <a:srgbClr val="111111"/>
                </a:solidFill>
              </a:rPr>
              <a:t>условие минимума общей квадратичной ошибки.</a:t>
            </a:r>
          </a:p>
        </p:txBody>
      </p:sp>
    </p:spTree>
    <p:extLst>
      <p:ext uri="{BB962C8B-B14F-4D97-AF65-F5344CB8AC3E}">
        <p14:creationId xmlns:p14="http://schemas.microsoft.com/office/powerpoint/2010/main" val="36397815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3D7EE3F6-BC62-4387-900B-AF1A2FB2D95D}"/>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B4A29A-78B6-4378-A296-42BABE918763}"/>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A9393A38-2D69-4778-8CF3-90D5DBE3F117}"/>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C878927C-3E2B-4AE8-9EF7-83A3C57544ED}"/>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4C321196-51B8-4E7B-9753-61EB3022E302}"/>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351EEA48-5C30-47E5-8605-B8A88EC3E706}"/>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796039F5-356B-40C7-99B2-2189B3A873D7}"/>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CA172FB1-391F-4F3D-906B-B3415687143C}"/>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4DCBBFE4-B94A-4988-B2DD-5E416CE9F929}"/>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0F952FAC-16FC-459E-8CD0-28BFE04201B9}"/>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B9F0B5EB-6726-49BA-A96D-3D25EADCB167}"/>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B0318C28-5B89-4EF6-B053-FE5979153BF0}"/>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002C9A17-D1A2-4F1C-8DB3-40FEF4A7FDE7}"/>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F33B57BE-1612-4FAB-8808-65756618878E}"/>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E4333CBA-CA2D-4321-AF3B-41B5ADDB9A51}"/>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021A3D43-84DD-4088-8585-4E4949304E8D}"/>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E266EBAD-F86A-4974-B6DB-64CCBF0CF04F}"/>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6BFBB9B2-3A1B-42BD-B4BB-CEB71142F225}"/>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A4A0B23D-D136-4CCC-A202-DA6032DACAA6}"/>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B0566077-32C6-4708-B8DB-73F2298E79F8}"/>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E5B21A91-066A-4895-B529-4472C234375C}"/>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790F5673-F763-434F-A2C4-04A2E391991E}"/>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12182A2B-F90D-4FDB-A08F-8729697CCA74}"/>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3FB784DD-74EB-4442-9053-A89B97EA35BF}"/>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0D5E52D6-C681-4E52-BBFA-B3E4750AA5F7}"/>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5C580904-3919-44E1-9310-2DB74CAE196E}"/>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1A6C999E-F090-4CD9-89A7-446DC13644A2}"/>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F3B2DCBC-7AC1-4F1B-948B-7A10B0926FF5}"/>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1E3F7B1E-7AFF-4ED3-AE14-E739F49E093E}"/>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25B965B7-2ED3-4D9F-B303-14AD2A3580EE}"/>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F6E19419-A2C5-40B1-BB0A-9D2A862E4BE9}"/>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56C419CF-8077-4179-9BA2-F31169BEDE23}"/>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ED580F8E-544D-4F2E-8252-23D6C0366EC8}"/>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0A6F38CD-5095-4CDC-BF6C-3F58D0639555}"/>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7BE692DF-D043-4C8D-BB04-935E9E2262DF}"/>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9FEC08F1-5AFA-453A-B569-E2CF89FD06C0}"/>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27177B2D-F425-457B-A896-9D1E279B8BA7}"/>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9FB0E9BD-0160-4185-9DA2-A0D97E7085D5}"/>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05622820-1CD3-4F4B-A1EA-79EE7E64E331}"/>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F34CA413-70E2-4145-866A-835856A47F04}"/>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F9ED8F4A-FE76-4DEB-AB80-0174D1AD5244}"/>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C612D5EA-E93E-4CC3-A08B-3EEF89B04759}"/>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2B4D8836-D7BC-45E9-994D-EBF72AB3CD96}"/>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9AAFCC8-3FEB-4AD8-8349-F70E4BC3F47B}"/>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Точное решение на пяти точках</a:t>
            </a:r>
          </a:p>
        </p:txBody>
      </p:sp>
      <p:sp>
        <p:nvSpPr>
          <p:cNvPr id="45" name="">
            <a:extLst xmlns:a="http://schemas.openxmlformats.org/drawingml/2006/main">
              <a:ext uri="{FF2B5EF4-FFF2-40B4-BE49-F238E27FC236}">
                <a16:creationId xmlns:a16="http://schemas.microsoft.com/office/drawing/2014/main" id="{C1F4188B-8E37-4FE4-B6E2-2FC84CA22AB6}"/>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978C081-218A-48EA-BCE9-FE80A0310B02}"/>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AABAC2A2-F1D1-4274-9675-7347BB97BDEE}"/>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B0834237-F298-4BFE-B811-74AA4ED07233}"/>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A6D4CB99-F483-4F4E-AAF8-3EEC5FF2233C}"/>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33 / 37</a:t>
            </a:r>
          </a:p>
        </p:txBody>
      </p:sp>
      <p:sp>
        <p:nvSpPr>
          <p:cNvPr id="50" name="">
            <a:extLst xmlns:a="http://schemas.openxmlformats.org/drawingml/2006/main">
              <a:ext uri="{FF2B5EF4-FFF2-40B4-BE49-F238E27FC236}">
                <a16:creationId xmlns:a16="http://schemas.microsoft.com/office/drawing/2014/main" id="{F00BBDC8-BDF6-4921-B5F4-372138AC9881}"/>
              </a:ext>
            </a:extLst>
          </p:cNvPr>
          <p:cNvSpPr>
            <a:spLocks xmlns:a="http://schemas.openxmlformats.org/drawingml/2006/main" noGrp="1"/>
          </p:cNvSpPr>
          <p:nvPr/>
        </p:nvSpPr>
        <p:spPr>
          <a:xfrm xmlns:a="http://schemas.openxmlformats.org/drawingml/2006/main">
            <a:off x="609600" y="1743075"/>
            <a:ext cx="53149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Суммы по данным</a:t>
            </a:r>
          </a:p>
        </p:txBody>
      </p:sp>
      <p:pic>
        <p:nvPicPr>
          <p:cNvPr id="51" name="">
            <a:extLst xmlns:a="http://schemas.openxmlformats.org/drawingml/2006/main">
              <a:ext uri="{FF2B5EF4-FFF2-40B4-BE49-F238E27FC236}">
                <a16:creationId xmlns:a16="http://schemas.microsoft.com/office/drawing/2014/main" id="{0B0AD7A3-521B-45C3-B073-92AB1956AA7A}"/>
              </a:ext>
            </a:extLst>
          </p:cNvPr>
          <p:cNvPicPr>
            <a:picLocks xmlns:a="http://schemas.openxmlformats.org/drawingml/2006/main" noChangeAspect="1"/>
          </p:cNvPicPr>
          <p:nvPr/>
        </p:nvPicPr>
        <p:blipFill>
          <a:blip xmlns:r="http://schemas.openxmlformats.org/officeDocument/2006/relationships" xmlns:a="http://schemas.openxmlformats.org/drawingml/2006/main" r:embed="Rfaf813704a34478b">
            <a:extLst>
              <a:ext uri="{96DAC541-7B7A-43D3-8B79-37D633B846F1}">
                <asvg:svgBlip xmlns:asvg="http://schemas.microsoft.com/office/drawing/2016/SVG/main" r:embed="Rfe557ba318da4938"/>
              </a:ext>
            </a:extLst>
          </a:blip>
          <a:stretch xmlns:a="http://schemas.openxmlformats.org/drawingml/2006/main"/>
        </p:blipFill>
        <p:spPr>
          <a:xfrm xmlns:a="http://schemas.openxmlformats.org/drawingml/2006/main">
            <a:off x="1622249" y="2292477"/>
            <a:ext cx="3289653" cy="588052"/>
          </a:xfrm>
          <a:prstGeom xmlns:a="http://schemas.openxmlformats.org/drawingml/2006/main" prst="rect">
            <a:avLst/>
          </a:prstGeom>
        </p:spPr>
      </p:pic>
      <p:pic>
        <p:nvPicPr>
          <p:cNvPr id="52" name="">
            <a:extLst xmlns:a="http://schemas.openxmlformats.org/drawingml/2006/main">
              <a:ext uri="{FF2B5EF4-FFF2-40B4-BE49-F238E27FC236}">
                <a16:creationId xmlns:a16="http://schemas.microsoft.com/office/drawing/2014/main" id="{72F9AF66-DE4C-45AA-AB5A-26EBACED370E}"/>
              </a:ext>
            </a:extLst>
          </p:cNvPr>
          <p:cNvPicPr>
            <a:picLocks xmlns:a="http://schemas.openxmlformats.org/drawingml/2006/main" noChangeAspect="1"/>
          </p:cNvPicPr>
          <p:nvPr/>
        </p:nvPicPr>
        <p:blipFill>
          <a:blip xmlns:r="http://schemas.openxmlformats.org/officeDocument/2006/relationships" xmlns:a="http://schemas.openxmlformats.org/drawingml/2006/main" r:embed="R16f9fbe0da974ed6">
            <a:extLst>
              <a:ext uri="{96DAC541-7B7A-43D3-8B79-37D633B846F1}">
                <asvg:svgBlip xmlns:asvg="http://schemas.microsoft.com/office/drawing/2016/SVG/main" r:embed="Ra1042cd78ff34413"/>
              </a:ext>
            </a:extLst>
          </a:blip>
          <a:stretch xmlns:a="http://schemas.openxmlformats.org/drawingml/2006/main"/>
        </p:blipFill>
        <p:spPr>
          <a:xfrm xmlns:a="http://schemas.openxmlformats.org/drawingml/2006/main">
            <a:off x="1481881" y="3051979"/>
            <a:ext cx="3570388" cy="588052"/>
          </a:xfrm>
          <a:prstGeom xmlns:a="http://schemas.openxmlformats.org/drawingml/2006/main" prst="rect">
            <a:avLst/>
          </a:prstGeom>
        </p:spPr>
      </p:pic>
      <p:pic>
        <p:nvPicPr>
          <p:cNvPr id="53" name="">
            <a:extLst xmlns:a="http://schemas.openxmlformats.org/drawingml/2006/main">
              <a:ext uri="{FF2B5EF4-FFF2-40B4-BE49-F238E27FC236}">
                <a16:creationId xmlns:a16="http://schemas.microsoft.com/office/drawing/2014/main" id="{F0082703-0ACE-468C-863D-73A887053FCE}"/>
              </a:ext>
            </a:extLst>
          </p:cNvPr>
          <p:cNvPicPr>
            <a:picLocks xmlns:a="http://schemas.openxmlformats.org/drawingml/2006/main" noChangeAspect="1"/>
          </p:cNvPicPr>
          <p:nvPr/>
        </p:nvPicPr>
        <p:blipFill>
          <a:blip xmlns:r="http://schemas.openxmlformats.org/officeDocument/2006/relationships" xmlns:a="http://schemas.openxmlformats.org/drawingml/2006/main" r:embed="R7fb4992d40b442a6">
            <a:extLst>
              <a:ext uri="{96DAC541-7B7A-43D3-8B79-37D633B846F1}">
                <asvg:svgBlip xmlns:asvg="http://schemas.microsoft.com/office/drawing/2016/SVG/main" r:embed="R37b350923b1c4c55"/>
              </a:ext>
            </a:extLst>
          </a:blip>
          <a:stretch xmlns:a="http://schemas.openxmlformats.org/drawingml/2006/main"/>
        </p:blipFill>
        <p:spPr>
          <a:xfrm xmlns:a="http://schemas.openxmlformats.org/drawingml/2006/main">
            <a:off x="2006295" y="3811481"/>
            <a:ext cx="2521561" cy="996056"/>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AD1CA5C0-7FC0-4387-8789-35D8ED6B05F4}"/>
              </a:ext>
            </a:extLst>
          </p:cNvPr>
          <p:cNvSpPr>
            <a:spLocks xmlns:a="http://schemas.openxmlformats.org/drawingml/2006/main" noGrp="1"/>
          </p:cNvSpPr>
          <p:nvPr/>
        </p:nvSpPr>
        <p:spPr>
          <a:xfrm xmlns:a="http://schemas.openxmlformats.org/drawingml/2006/main">
            <a:off x="6267450" y="1743075"/>
            <a:ext cx="53149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Исключение и результат</a:t>
            </a:r>
          </a:p>
        </p:txBody>
      </p:sp>
      <p:sp>
        <p:nvSpPr>
          <p:cNvPr id="55" name="">
            <a:extLst xmlns:a="http://schemas.openxmlformats.org/drawingml/2006/main">
              <a:ext uri="{FF2B5EF4-FFF2-40B4-BE49-F238E27FC236}">
                <a16:creationId xmlns:a16="http://schemas.microsoft.com/office/drawing/2014/main" id="{85DFD597-83E0-4F41-A963-F6FF895ABB61}"/>
              </a:ext>
            </a:extLst>
          </p:cNvPr>
          <p:cNvSpPr>
            <a:spLocks xmlns:a="http://schemas.openxmlformats.org/drawingml/2006/main" noGrp="1"/>
          </p:cNvSpPr>
          <p:nvPr/>
        </p:nvSpPr>
        <p:spPr>
          <a:xfrm xmlns:a="http://schemas.openxmlformats.org/drawingml/2006/main">
            <a:off x="6267450" y="2292477"/>
            <a:ext cx="53149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Умножим второе уравнение на 2 и</a:t>
            </a:r>
          </a:p>
          <a:p xmlns:a="http://schemas.openxmlformats.org/drawingml/2006/main">
            <a:pPr algn="l">
              <a:defRPr sz="2250" b="0">
                <a:solidFill>
                  <a:srgbClr val="111111"/>
                </a:solidFill>
              </a:defRPr>
            </a:pPr>
            <a:r>
              <a:rPr sz="2250" b="0">
                <a:solidFill>
                  <a:srgbClr val="111111"/>
                </a:solidFill>
              </a:rPr>
              <a:t>вычтем его из первого.</a:t>
            </a:r>
          </a:p>
        </p:txBody>
      </p:sp>
      <p:pic>
        <p:nvPicPr>
          <p:cNvPr id="56" name="">
            <a:extLst xmlns:a="http://schemas.openxmlformats.org/drawingml/2006/main">
              <a:ext uri="{FF2B5EF4-FFF2-40B4-BE49-F238E27FC236}">
                <a16:creationId xmlns:a16="http://schemas.microsoft.com/office/drawing/2014/main" id="{BAE7921B-57D9-4DBB-8A32-62FD92CCB373}"/>
              </a:ext>
            </a:extLst>
          </p:cNvPr>
          <p:cNvPicPr>
            <a:picLocks xmlns:a="http://schemas.openxmlformats.org/drawingml/2006/main" noChangeAspect="1"/>
          </p:cNvPicPr>
          <p:nvPr/>
        </p:nvPicPr>
        <p:blipFill>
          <a:blip xmlns:r="http://schemas.openxmlformats.org/officeDocument/2006/relationships" xmlns:a="http://schemas.openxmlformats.org/drawingml/2006/main" r:embed="R55f13b3bbe4741b1">
            <a:extLst>
              <a:ext uri="{96DAC541-7B7A-43D3-8B79-37D633B846F1}">
                <asvg:svgBlip xmlns:asvg="http://schemas.microsoft.com/office/drawing/2016/SVG/main" r:embed="R866abe541eaa4e4a"/>
              </a:ext>
            </a:extLst>
          </a:blip>
          <a:stretch xmlns:a="http://schemas.openxmlformats.org/drawingml/2006/main"/>
        </p:blipFill>
        <p:spPr>
          <a:xfrm xmlns:a="http://schemas.openxmlformats.org/drawingml/2006/main">
            <a:off x="6612963" y="3195447"/>
            <a:ext cx="4623925" cy="269348"/>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5A147E03-770C-4E1C-869D-444C3D91005C}"/>
              </a:ext>
            </a:extLst>
          </p:cNvPr>
          <p:cNvSpPr>
            <a:spLocks xmlns:a="http://schemas.openxmlformats.org/drawingml/2006/main" noGrp="1"/>
          </p:cNvSpPr>
          <p:nvPr/>
        </p:nvSpPr>
        <p:spPr>
          <a:xfrm xmlns:a="http://schemas.openxmlformats.org/drawingml/2006/main">
            <a:off x="6267450" y="3636245"/>
            <a:ext cx="53149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Минимальная MSE равна 0,32.</a:t>
            </a:r>
          </a:p>
        </p:txBody>
      </p:sp>
      <p:sp>
        <p:nvSpPr>
          <p:cNvPr id="58" name="">
            <a:extLst xmlns:a="http://schemas.openxmlformats.org/drawingml/2006/main">
              <a:ext uri="{FF2B5EF4-FFF2-40B4-BE49-F238E27FC236}">
                <a16:creationId xmlns:a16="http://schemas.microsoft.com/office/drawing/2014/main" id="{9C658FEE-C3DF-417D-9791-49E7B584D9FE}"/>
              </a:ext>
            </a:extLst>
          </p:cNvPr>
          <p:cNvSpPr>
            <a:spLocks xmlns:a="http://schemas.openxmlformats.org/drawingml/2006/main" noGrp="1"/>
          </p:cNvSpPr>
          <p:nvPr/>
        </p:nvSpPr>
        <p:spPr>
          <a:xfrm xmlns:a="http://schemas.openxmlformats.org/drawingml/2006/main">
            <a:off x="609600" y="5036137"/>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Это независимый способ проверить градиентный спуск: при подходящем шаге</a:t>
            </a:r>
          </a:p>
          <a:p xmlns:a="http://schemas.openxmlformats.org/drawingml/2006/main">
            <a:pPr algn="l">
              <a:defRPr sz="2250" b="0">
                <a:solidFill>
                  <a:srgbClr val="111111"/>
                </a:solidFill>
              </a:defRPr>
            </a:pPr>
            <a:r>
              <a:rPr sz="2250" b="0">
                <a:solidFill>
                  <a:srgbClr val="111111"/>
                </a:solidFill>
              </a:rPr>
              <a:t>его параметры должны приближаться к тому же решению.</a:t>
            </a:r>
          </a:p>
        </p:txBody>
      </p:sp>
    </p:spTree>
    <p:extLst>
      <p:ext uri="{BB962C8B-B14F-4D97-AF65-F5344CB8AC3E}">
        <p14:creationId xmlns:p14="http://schemas.microsoft.com/office/powerpoint/2010/main" val="59627562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F80F1996-3D26-4140-8FDD-E7725FDC7521}"/>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9F337B-AAD6-4D1A-91A5-ACB93503C7BE}"/>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E10C19C3-74B0-4030-AA12-6ACB8AC1BA03}"/>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7E3731DD-3E77-4781-9962-688D6344A424}"/>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B7FB4ADB-F385-45FA-8BC0-CAF77C8BE7AB}"/>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EB5FB772-13BD-4EE1-BB22-D34514D5ABAD}"/>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968230BD-511D-4159-929B-CA3E2A5D182D}"/>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D04B5123-53A3-41A2-B88C-023D6DB7E420}"/>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436EB334-661C-4103-B2B8-41FF38BFA66E}"/>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C5990F64-3167-46EE-9220-9C8257C41837}"/>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B53948A2-CE86-4A15-97A1-481F8180C309}"/>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17322074-445C-41AA-B049-FA3C7E17A18C}"/>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48165D46-0D7A-49C7-BD19-AB40777B0CC6}"/>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DD0CE0E3-7B97-4D64-9C45-39A90EDE9ADF}"/>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0C89B35F-22CB-4BD9-B2DD-9A6792C5D2FF}"/>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A5963F57-8434-4403-BF4F-7B41398BAEB7}"/>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299E5F70-BB1C-48E5-AE4E-B2E402473420}"/>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96FC9D19-A54C-49B3-A216-3DD44B30782C}"/>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148BB2DD-8865-4B94-856B-5F6029CFBD59}"/>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FEE91A71-24CF-4099-B015-32869DD1B228}"/>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954902EA-35A0-4106-8F28-8239C03C6A76}"/>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3B700F03-648D-4612-915E-115676B7EA2B}"/>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F89130E9-6450-49CB-93D3-DE8F6AA01AC8}"/>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0B4A622E-DCFB-49B0-BF76-5939DD98413B}"/>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F2EFCABE-31C9-4918-9529-31B5E540C131}"/>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F8CF9C19-D80B-4B84-B60E-99ECB8C8E08F}"/>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39648351-95B6-42D5-B87A-2CC8CC4EA602}"/>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AE8E761E-AAAF-4084-B6DC-2FA3BD60C2E0}"/>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0091BAB3-4A0F-43A6-B85A-2F95BD3B3F3A}"/>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37ACD11C-F29B-4BE3-BFDB-1118B9608F5B}"/>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9ABDE3E0-F191-4809-8B18-9C17959561FC}"/>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B56EBCE3-290C-43A4-A9E6-D570EE8171AD}"/>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2612250E-8E68-4682-A9C9-1AFA05210F99}"/>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B86433DD-B147-4450-9AAE-7F3F257D6450}"/>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32E85B36-EB7B-4A75-BAE0-8305480B0077}"/>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CC9DFFFB-AE63-4A2F-AAC0-D99E384FE86B}"/>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032DF69F-77D2-4CD2-A5B3-ADF246A5F129}"/>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464A1830-5481-4569-BF51-8A3151D057A0}"/>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A72DB0C3-33BE-4572-AA18-4045E429E114}"/>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A32C1153-008B-415C-A737-2EF4DD0851E8}"/>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08E17E2F-CD7B-4758-9C23-8B7843FB0BB6}"/>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36DC7C47-2B65-475C-8F1F-6DE438E558CE}"/>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6711FE76-0E09-4D37-856F-3DB296004304}"/>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E1B993B-669B-4D23-AD05-190BD5B52CED}"/>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Итерационное решение той же СЛАУ</a:t>
            </a:r>
          </a:p>
        </p:txBody>
      </p:sp>
      <p:sp>
        <p:nvSpPr>
          <p:cNvPr id="45" name="">
            <a:extLst xmlns:a="http://schemas.openxmlformats.org/drawingml/2006/main">
              <a:ext uri="{FF2B5EF4-FFF2-40B4-BE49-F238E27FC236}">
                <a16:creationId xmlns:a16="http://schemas.microsoft.com/office/drawing/2014/main" id="{39B0D277-7F1A-4873-8ABA-DE7CAAE24452}"/>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35A4408-0D6E-4EC0-AC01-04A2C6EC0776}"/>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495CA85-03DE-48FB-85EF-2BDEBC3E02EF}"/>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CE2E7DE7-8A00-4DC4-8A55-53E9553F14EF}"/>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9A3319FE-6F35-4A91-8E09-A07232B7E109}"/>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34 / 37</a:t>
            </a:r>
          </a:p>
        </p:txBody>
      </p:sp>
      <p:pic>
        <p:nvPicPr>
          <p:cNvPr id="50" name="">
            <a:extLst xmlns:a="http://schemas.openxmlformats.org/drawingml/2006/main">
              <a:ext uri="{FF2B5EF4-FFF2-40B4-BE49-F238E27FC236}">
                <a16:creationId xmlns:a16="http://schemas.microsoft.com/office/drawing/2014/main" id="{CDD7EFD4-9EC5-49B1-A5EC-210A186A7D22}"/>
              </a:ext>
            </a:extLst>
          </p:cNvPr>
          <p:cNvPicPr>
            <a:picLocks xmlns:a="http://schemas.openxmlformats.org/drawingml/2006/main" noChangeAspect="1"/>
          </p:cNvPicPr>
          <p:nvPr/>
        </p:nvPicPr>
        <p:blipFill>
          <a:blip xmlns:r="http://schemas.openxmlformats.org/officeDocument/2006/relationships" xmlns:a="http://schemas.openxmlformats.org/drawingml/2006/main" r:embed="R9bd7840937fa419e">
            <a:extLst>
              <a:ext uri="{96DAC541-7B7A-43D3-8B79-37D633B846F1}">
                <asvg:svgBlip xmlns:asvg="http://schemas.microsoft.com/office/drawing/2016/SVG/main" r:embed="R3f8ec3b638c24768"/>
              </a:ext>
            </a:extLst>
          </a:blip>
          <a:stretch xmlns:a="http://schemas.openxmlformats.org/drawingml/2006/main"/>
        </p:blipFill>
        <p:spPr>
          <a:xfrm xmlns:a="http://schemas.openxmlformats.org/drawingml/2006/main">
            <a:off x="4377637" y="1743075"/>
            <a:ext cx="3436725" cy="865074"/>
          </a:xfrm>
          <a:prstGeom xmlns:a="http://schemas.openxmlformats.org/drawingml/2006/main" prst="rect">
            <a:avLst/>
          </a:prstGeom>
        </p:spPr>
      </p:pic>
      <p:pic>
        <p:nvPicPr>
          <p:cNvPr id="51" name="">
            <a:extLst xmlns:a="http://schemas.openxmlformats.org/drawingml/2006/main">
              <a:ext uri="{FF2B5EF4-FFF2-40B4-BE49-F238E27FC236}">
                <a16:creationId xmlns:a16="http://schemas.microsoft.com/office/drawing/2014/main" id="{C3FD9285-562F-48DE-867F-9FD2A4FB7A9F}"/>
              </a:ext>
            </a:extLst>
          </p:cNvPr>
          <p:cNvPicPr>
            <a:picLocks xmlns:a="http://schemas.openxmlformats.org/drawingml/2006/main" noChangeAspect="1"/>
          </p:cNvPicPr>
          <p:nvPr/>
        </p:nvPicPr>
        <p:blipFill>
          <a:blip xmlns:r="http://schemas.openxmlformats.org/officeDocument/2006/relationships" xmlns:a="http://schemas.openxmlformats.org/drawingml/2006/main" r:embed="R88eb72043732438c">
            <a:extLst>
              <a:ext uri="{96DAC541-7B7A-43D3-8B79-37D633B846F1}">
                <asvg:svgBlip xmlns:asvg="http://schemas.microsoft.com/office/drawing/2016/SVG/main" r:embed="Rfddf0aaf77d44035"/>
              </a:ext>
            </a:extLst>
          </a:blip>
          <a:stretch xmlns:a="http://schemas.openxmlformats.org/drawingml/2006/main"/>
        </p:blipFill>
        <p:spPr>
          <a:xfrm xmlns:a="http://schemas.openxmlformats.org/drawingml/2006/main">
            <a:off x="3834617" y="2836749"/>
            <a:ext cx="4522766" cy="819544"/>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5FAC959A-841F-4074-AA97-6CFEFC59BF86}"/>
              </a:ext>
            </a:extLst>
          </p:cNvPr>
          <p:cNvSpPr>
            <a:spLocks xmlns:a="http://schemas.openxmlformats.org/drawingml/2006/main" noGrp="1"/>
          </p:cNvSpPr>
          <p:nvPr/>
        </p:nvSpPr>
        <p:spPr>
          <a:xfrm xmlns:a="http://schemas.openxmlformats.org/drawingml/2006/main">
            <a:off x="609600" y="3884893"/>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Вектор невязки показывает, насколько текущие параметры не удовлетворяют</a:t>
            </a:r>
          </a:p>
          <a:p xmlns:a="http://schemas.openxmlformats.org/drawingml/2006/main">
            <a:pPr algn="l">
              <a:defRPr sz="2250" b="0">
                <a:solidFill>
                  <a:srgbClr val="111111"/>
                </a:solidFill>
              </a:defRPr>
            </a:pPr>
            <a:r>
              <a:rPr sz="2250" b="0">
                <a:solidFill>
                  <a:srgbClr val="111111"/>
                </a:solidFill>
              </a:rPr>
              <a:t>нормальным уравнениям. Для нашей задачи обновление имеет вид:</a:t>
            </a:r>
          </a:p>
        </p:txBody>
      </p:sp>
      <p:pic>
        <p:nvPicPr>
          <p:cNvPr id="53" name="">
            <a:extLst xmlns:a="http://schemas.openxmlformats.org/drawingml/2006/main">
              <a:ext uri="{FF2B5EF4-FFF2-40B4-BE49-F238E27FC236}">
                <a16:creationId xmlns:a16="http://schemas.microsoft.com/office/drawing/2014/main" id="{0AE1706B-FA2B-4EA0-9B03-E949A3E4D956}"/>
              </a:ext>
            </a:extLst>
          </p:cNvPr>
          <p:cNvPicPr>
            <a:picLocks xmlns:a="http://schemas.openxmlformats.org/drawingml/2006/main" noChangeAspect="1"/>
          </p:cNvPicPr>
          <p:nvPr/>
        </p:nvPicPr>
        <p:blipFill>
          <a:blip xmlns:r="http://schemas.openxmlformats.org/officeDocument/2006/relationships" xmlns:a="http://schemas.openxmlformats.org/drawingml/2006/main" r:embed="R959a2860d1404c62">
            <a:extLst>
              <a:ext uri="{96DAC541-7B7A-43D3-8B79-37D633B846F1}">
                <asvg:svgBlip xmlns:asvg="http://schemas.microsoft.com/office/drawing/2016/SVG/main" r:embed="R07dad98dac7a4fc5"/>
              </a:ext>
            </a:extLst>
          </a:blip>
          <a:stretch xmlns:a="http://schemas.openxmlformats.org/drawingml/2006/main"/>
        </p:blipFill>
        <p:spPr>
          <a:xfrm xmlns:a="http://schemas.openxmlformats.org/drawingml/2006/main">
            <a:off x="4127519" y="4845013"/>
            <a:ext cx="3936962" cy="719933"/>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B4EC717F-001D-4891-AB46-0E5183C15A03}"/>
              </a:ext>
            </a:extLst>
          </p:cNvPr>
          <p:cNvSpPr>
            <a:spLocks xmlns:a="http://schemas.openxmlformats.org/drawingml/2006/main" noGrp="1"/>
          </p:cNvSpPr>
          <p:nvPr/>
        </p:nvSpPr>
        <p:spPr>
          <a:xfrm xmlns:a="http://schemas.openxmlformats.org/drawingml/2006/main">
            <a:off x="609600" y="5793546"/>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Это то же правило градиентного спуска, записанное через матрицу системы.</a:t>
            </a:r>
          </a:p>
          <a:p xmlns:a="http://schemas.openxmlformats.org/drawingml/2006/main">
            <a:pPr algn="l">
              <a:defRPr sz="2250" b="0">
                <a:solidFill>
                  <a:srgbClr val="111111"/>
                </a:solidFill>
              </a:defRPr>
            </a:pPr>
            <a:r>
              <a:rPr sz="2250" b="0">
                <a:solidFill>
                  <a:srgbClr val="111111"/>
                </a:solidFill>
              </a:rPr>
              <a:t>Подходящий шаг всё ещё необходим.</a:t>
            </a:r>
          </a:p>
        </p:txBody>
      </p:sp>
    </p:spTree>
    <p:extLst>
      <p:ext uri="{BB962C8B-B14F-4D97-AF65-F5344CB8AC3E}">
        <p14:creationId xmlns:p14="http://schemas.microsoft.com/office/powerpoint/2010/main" val="17412927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5C1F0110-C4D2-4D80-91DF-0CC07D4AD3D0}"/>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6671EF-CB6E-41DC-88D0-20981B9A0520}"/>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19B7D011-4E8A-4B86-8594-6A1B049A9C37}"/>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89518CCF-02A8-405B-BDEE-8486B00599B9}"/>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254DFDA6-7C9A-402D-A04B-4940FE14374B}"/>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5BD436D9-D5FE-4A23-87D1-8FC4446E3B63}"/>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11CE338E-C951-4D74-8886-34ADE341C0F6}"/>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A9C8BEA4-2891-41FF-9022-5AFBD44B0789}"/>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427DC9D8-1C31-4BEB-863B-C4F91540D20F}"/>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7D9334C1-2DA7-4B29-937B-6F3F4608AD7B}"/>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700ED047-11B5-4AF1-A339-8C6FF720C0FB}"/>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76D0DB71-9235-4BC5-AC9D-DC3CB69F0858}"/>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8FE00BDD-3E30-4325-9522-5C01E1BDEBEA}"/>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D563824F-4F48-4974-98E6-1ABDD92D4EB4}"/>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49EDF9F8-58F1-45F8-B008-1343E36E6D35}"/>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05425464-A0D4-4BB6-9935-F09050698924}"/>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1A55D3F1-2AE9-499D-9ABD-CD6D8968E6ED}"/>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79F6BEAF-5F69-4197-8834-2AB9E6821996}"/>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3A6D42B0-0562-47F8-BD3A-CD65EA3024C4}"/>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0AB9CF63-3A8D-4C0D-AFB9-5A25D5EA3AE6}"/>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9EAD6511-53E1-4094-84D7-3D9095ED0A81}"/>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F338B712-28CD-4535-925C-5B76B7389BD9}"/>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4B9C2262-AFB2-4700-8118-64561EA5F6B8}"/>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54B7F1A6-E29B-473B-A7A0-36E8CC5A5C3E}"/>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CE5864C8-3B38-4D45-B9F5-6973B5CC7D4C}"/>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33E1A593-1E2C-4F94-B339-63E557E94BE7}"/>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9C489E15-DE4A-4DE4-AB9F-BC6B77782578}"/>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74047169-5EE8-466A-B0A0-B54495534AC9}"/>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33D1C6A4-9DDA-4158-A224-6FDAE52DA517}"/>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45C2CFC9-E550-4998-9949-DF11AAEC7489}"/>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05C0A36F-E28C-43CB-AA95-D7A8024B7020}"/>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FB3542E6-8D2A-4CD1-997B-3B47985474F9}"/>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852A22D8-51D1-4AD8-89A2-43AC069F42DF}"/>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FAEDFECD-1EB9-4152-879E-A94841DD9C1A}"/>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2D76F0A3-128C-4B23-BA47-5AAE025F5C3C}"/>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F44B5EFF-DB24-4E78-AEE0-7F72A2F5757C}"/>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2130488C-B23D-479E-8CA2-7175965D117E}"/>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F67DDEA8-746A-4406-A326-9E2F1CB7AF71}"/>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32170483-8359-448B-84C5-D376CD2F660F}"/>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6E96EAA1-9B13-4BC5-BA38-3C74F9D9D1F7}"/>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ED278A0B-0972-45EF-ABE1-C4923F66D013}"/>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4C5033CA-E468-4519-A690-98122F19D70E}"/>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E047323A-46C8-4D93-8244-4FE212AD1ADB}"/>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3ED77F3-FCFA-42B9-8067-D5D819F6E0B6}"/>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Когда решение не единственно</a:t>
            </a:r>
          </a:p>
        </p:txBody>
      </p:sp>
      <p:sp>
        <p:nvSpPr>
          <p:cNvPr id="45" name="">
            <a:extLst xmlns:a="http://schemas.openxmlformats.org/drawingml/2006/main">
              <a:ext uri="{FF2B5EF4-FFF2-40B4-BE49-F238E27FC236}">
                <a16:creationId xmlns:a16="http://schemas.microsoft.com/office/drawing/2014/main" id="{0DBB955D-8196-4B39-A493-38A7BED62E3D}"/>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522934F-C391-43BE-8A74-CCFF05BA31FB}"/>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272C32C-77ED-472F-98BA-B01AB7AE8015}"/>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6A055ABB-C2A0-42D8-80C4-F0F1811F60AE}"/>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7A2062D0-8C5C-46EE-9FA6-2A66ED5E32B4}"/>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35 / 37</a:t>
            </a:r>
          </a:p>
        </p:txBody>
      </p:sp>
      <p:sp>
        <p:nvSpPr>
          <p:cNvPr id="50" name="">
            <a:extLst xmlns:a="http://schemas.openxmlformats.org/drawingml/2006/main">
              <a:ext uri="{FF2B5EF4-FFF2-40B4-BE49-F238E27FC236}">
                <a16:creationId xmlns:a16="http://schemas.microsoft.com/office/drawing/2014/main" id="{BDA1A1CC-88CB-4BB4-93B5-965E0731A29A}"/>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Если признак одинаков у всех объектов, разные веса и сдвиги могут давать</a:t>
            </a:r>
          </a:p>
          <a:p xmlns:a="http://schemas.openxmlformats.org/drawingml/2006/main">
            <a:pPr algn="l">
              <a:defRPr sz="2250" b="0">
                <a:solidFill>
                  <a:srgbClr val="111111"/>
                </a:solidFill>
              </a:defRPr>
            </a:pPr>
            <a:r>
              <a:rPr sz="2250" b="0">
                <a:solidFill>
                  <a:srgbClr val="111111"/>
                </a:solidFill>
              </a:rPr>
              <a:t>одинаковые прогнозы.</a:t>
            </a:r>
          </a:p>
        </p:txBody>
      </p:sp>
      <p:pic>
        <p:nvPicPr>
          <p:cNvPr id="51" name="">
            <a:extLst xmlns:a="http://schemas.openxmlformats.org/drawingml/2006/main">
              <a:ext uri="{FF2B5EF4-FFF2-40B4-BE49-F238E27FC236}">
                <a16:creationId xmlns:a16="http://schemas.microsoft.com/office/drawing/2014/main" id="{304B2490-F336-4543-AE03-0E73D75C812A}"/>
              </a:ext>
            </a:extLst>
          </p:cNvPr>
          <p:cNvPicPr>
            <a:picLocks xmlns:a="http://schemas.openxmlformats.org/drawingml/2006/main" noChangeAspect="1"/>
          </p:cNvPicPr>
          <p:nvPr/>
        </p:nvPicPr>
        <p:blipFill>
          <a:blip xmlns:r="http://schemas.openxmlformats.org/officeDocument/2006/relationships" xmlns:a="http://schemas.openxmlformats.org/drawingml/2006/main" r:embed="R158bbe7c9da94ade">
            <a:extLst>
              <a:ext uri="{96DAC541-7B7A-43D3-8B79-37D633B846F1}">
                <asvg:svgBlip xmlns:asvg="http://schemas.microsoft.com/office/drawing/2016/SVG/main" r:embed="R27b2b47842e44914"/>
              </a:ext>
            </a:extLst>
          </a:blip>
          <a:stretch xmlns:a="http://schemas.openxmlformats.org/drawingml/2006/main"/>
        </p:blipFill>
        <p:spPr>
          <a:xfrm xmlns:a="http://schemas.openxmlformats.org/drawingml/2006/main">
            <a:off x="3449608" y="2703195"/>
            <a:ext cx="5292784" cy="379887"/>
          </a:xfrm>
          <a:prstGeom xmlns:a="http://schemas.openxmlformats.org/drawingml/2006/main" prst="rect">
            <a:avLst/>
          </a:prstGeom>
        </p:spPr>
      </p:pic>
      <p:pic>
        <p:nvPicPr>
          <p:cNvPr id="52" name="">
            <a:extLst xmlns:a="http://schemas.openxmlformats.org/drawingml/2006/main">
              <a:ext uri="{FF2B5EF4-FFF2-40B4-BE49-F238E27FC236}">
                <a16:creationId xmlns:a16="http://schemas.microsoft.com/office/drawing/2014/main" id="{BC220B09-6F07-4122-BF56-5A63109A1412}"/>
              </a:ext>
            </a:extLst>
          </p:cNvPr>
          <p:cNvPicPr>
            <a:picLocks xmlns:a="http://schemas.openxmlformats.org/drawingml/2006/main" noChangeAspect="1"/>
          </p:cNvPicPr>
          <p:nvPr/>
        </p:nvPicPr>
        <p:blipFill>
          <a:blip xmlns:r="http://schemas.openxmlformats.org/officeDocument/2006/relationships" xmlns:a="http://schemas.openxmlformats.org/drawingml/2006/main" r:embed="Ra6a182a9e4af423f">
            <a:extLst>
              <a:ext uri="{96DAC541-7B7A-43D3-8B79-37D633B846F1}">
                <asvg:svgBlip xmlns:asvg="http://schemas.microsoft.com/office/drawing/2016/SVG/main" r:embed="R19315bdd49e94bce"/>
              </a:ext>
            </a:extLst>
          </a:blip>
          <a:stretch xmlns:a="http://schemas.openxmlformats.org/drawingml/2006/main"/>
        </p:blipFill>
        <p:spPr>
          <a:xfrm xmlns:a="http://schemas.openxmlformats.org/drawingml/2006/main">
            <a:off x="4082412" y="3311682"/>
            <a:ext cx="4027177" cy="398223"/>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C76CF1D2-3246-4BA4-AF7C-5F0629C8FC9C}"/>
              </a:ext>
            </a:extLst>
          </p:cNvPr>
          <p:cNvSpPr>
            <a:spLocks xmlns:a="http://schemas.openxmlformats.org/drawingml/2006/main" noGrp="1"/>
          </p:cNvSpPr>
          <p:nvPr/>
        </p:nvSpPr>
        <p:spPr>
          <a:xfrm xmlns:a="http://schemas.openxmlformats.org/drawingml/2006/main">
            <a:off x="609600" y="393850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Все эти пары дают постоянный прогноз 4 и минимальную MSE = 1.</a:t>
            </a:r>
          </a:p>
          <a:p xmlns:a="http://schemas.openxmlformats.org/drawingml/2006/main">
            <a:pPr algn="l">
              <a:defRPr sz="2250" b="0">
                <a:solidFill>
                  <a:srgbClr val="111111"/>
                </a:solidFill>
              </a:defRPr>
            </a:pPr>
            <a:r>
              <a:rPr sz="2250" b="0">
                <a:solidFill>
                  <a:srgbClr val="111111"/>
                </a:solidFill>
              </a:rPr>
              <a:t>Единственного набора параметров нет.</a:t>
            </a:r>
          </a:p>
        </p:txBody>
      </p:sp>
      <p:sp>
        <p:nvSpPr>
          <p:cNvPr id="54" name="">
            <a:extLst xmlns:a="http://schemas.openxmlformats.org/drawingml/2006/main">
              <a:ext uri="{FF2B5EF4-FFF2-40B4-BE49-F238E27FC236}">
                <a16:creationId xmlns:a16="http://schemas.microsoft.com/office/drawing/2014/main" id="{4DA7F117-4E38-49E5-A544-DCDB18A0AB24}"/>
              </a:ext>
            </a:extLst>
          </p:cNvPr>
          <p:cNvSpPr>
            <a:spLocks xmlns:a="http://schemas.openxmlformats.org/drawingml/2006/main" noGrp="1"/>
          </p:cNvSpPr>
          <p:nvPr/>
        </p:nvSpPr>
        <p:spPr>
          <a:xfrm xmlns:a="http://schemas.openxmlformats.org/drawingml/2006/main">
            <a:off x="609600" y="489862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 терминах СЛАУ условия зависимы: система не может отдельно определить</a:t>
            </a:r>
          </a:p>
          <a:p xmlns:a="http://schemas.openxmlformats.org/drawingml/2006/main">
            <a:pPr algn="l">
              <a:defRPr sz="2250" b="0">
                <a:solidFill>
                  <a:srgbClr val="111111"/>
                </a:solidFill>
              </a:defRPr>
            </a:pPr>
            <a:r>
              <a:rPr sz="2250" b="0">
                <a:solidFill>
                  <a:srgbClr val="111111"/>
                </a:solidFill>
              </a:rPr>
              <a:t>вес и свободный коэффициент.</a:t>
            </a:r>
          </a:p>
        </p:txBody>
      </p:sp>
    </p:spTree>
    <p:extLst>
      <p:ext uri="{BB962C8B-B14F-4D97-AF65-F5344CB8AC3E}">
        <p14:creationId xmlns:p14="http://schemas.microsoft.com/office/powerpoint/2010/main" val="165511310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609A2670-951B-4AD4-BB51-3FDE5CA8C7F1}"/>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1E83E1-1872-443B-8743-18658BB5A335}"/>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D4E2175E-9586-4579-B78B-70D95250570C}"/>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71E8421E-AD18-49E3-B52B-27B0A7FB53E3}"/>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0D385A6E-3C0D-4F3D-810E-21A52419D095}"/>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FBDC172C-95E0-4E45-AACB-C1A9370F1A85}"/>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69CEADB6-88ED-4024-AE14-FDB4176EE88B}"/>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17068C79-D828-431D-A643-B23A75F98694}"/>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77E3086D-C4DD-4EB7-8A44-4BB291232984}"/>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F06DDEA9-7F58-4551-9C9C-C61CAB7675A0}"/>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C7524918-D224-41E3-BFCF-97A14E941536}"/>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4C4AA72D-465D-4B33-B6E8-75EA5303F0E3}"/>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AA93573B-7D50-44B8-8786-2C9F193165DF}"/>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FD8B3F31-B8CD-4F4B-B255-413F28F70D7E}"/>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563A0A8B-AD1C-4EBD-8AE9-79B6FA307F85}"/>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75F702DD-F84D-4738-A7F2-DACCC17B737B}"/>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8F4788DA-E542-4625-ADC1-959A45B4E649}"/>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98814BE8-11FE-4398-9A23-418675A7074E}"/>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F4396E61-C919-4E2F-B781-46861C1610EF}"/>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B8C0C707-40E8-41C1-B1D2-90C7B8C29B5E}"/>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5F0C0E16-1D61-4FB1-9F0C-AFAB2636140C}"/>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4CA69356-09C8-4DEA-9E47-F371F0C156AC}"/>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57D08375-F600-4EAF-AAAD-97EC5A2EA6A0}"/>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E8F71DEB-8B27-4762-814E-769888814C46}"/>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11CA97DC-0F10-480C-91BB-F9EEB3977F43}"/>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D9891D20-4F34-4F6D-A7CF-E2B4EE1CA85A}"/>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D03580FB-1248-406A-9C8B-942EDF82C0BC}"/>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820A2647-5249-43B6-A760-929ED8C32028}"/>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A260266F-27BD-4379-A31F-43A2333A84E5}"/>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3293A7DE-71D4-4F8C-AC4C-8E2008B5DC66}"/>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4136AE1C-A7D0-44AC-A044-26C566202A13}"/>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3FA1E91E-CE32-4FBD-A149-7F28D0E6C6F8}"/>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70223124-D846-44A0-8F5D-0063A71F0677}"/>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EF9F1F34-C3C7-4F93-B101-237B428FB6A4}"/>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98287F1D-6F07-4A3B-9B54-4579F7CBB1A5}"/>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6AFB6C1A-1274-455C-8E9E-D8A36EC88C55}"/>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5A9EBF69-BBAD-406A-B5AE-F0A9F13880CB}"/>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96DCC709-9CE5-492C-B9BF-FCCFDCA416AA}"/>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D829E829-E8F0-4F62-8B05-9186D7F56ED8}"/>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168A6708-14AE-41B0-AE2D-FB5A12525AFA}"/>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FA2114A3-8B64-4C36-A6D9-656DAC12D703}"/>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DDD6A188-560C-4637-86D2-C32341226795}"/>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1DC74A6D-3376-451C-B417-CFAF15B57EC2}"/>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4F0ECBC-CE63-4A08-B5FD-4EF766784B95}"/>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Несколько признаков</a:t>
            </a:r>
          </a:p>
        </p:txBody>
      </p:sp>
      <p:sp>
        <p:nvSpPr>
          <p:cNvPr id="45" name="">
            <a:extLst xmlns:a="http://schemas.openxmlformats.org/drawingml/2006/main">
              <a:ext uri="{FF2B5EF4-FFF2-40B4-BE49-F238E27FC236}">
                <a16:creationId xmlns:a16="http://schemas.microsoft.com/office/drawing/2014/main" id="{BF1C2184-FE36-48E7-8690-B10D3FFA1A6F}"/>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6BA487C-807B-41C6-A6D5-787122138272}"/>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A11F7FA-1CD3-41CA-8366-27854224CDF7}"/>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810BB8B1-ACA2-41F7-AA9F-BC949588A6BA}"/>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23A52615-36F2-4BB8-921D-AC8579FE94B5}"/>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36 / 37</a:t>
            </a:r>
          </a:p>
        </p:txBody>
      </p:sp>
      <p:sp>
        <p:nvSpPr>
          <p:cNvPr id="50" name="">
            <a:extLst xmlns:a="http://schemas.openxmlformats.org/drawingml/2006/main">
              <a:ext uri="{FF2B5EF4-FFF2-40B4-BE49-F238E27FC236}">
                <a16:creationId xmlns:a16="http://schemas.microsoft.com/office/drawing/2014/main" id="{1EFCEF84-20EB-4509-B8C2-698EADDB4C67}"/>
              </a:ext>
            </a:extLst>
          </p:cNvPr>
          <p:cNvSpPr>
            <a:spLocks xmlns:a="http://schemas.openxmlformats.org/drawingml/2006/main" noGrp="1"/>
          </p:cNvSpPr>
          <p:nvPr/>
        </p:nvSpPr>
        <p:spPr>
          <a:xfrm xmlns:a="http://schemas.openxmlformats.org/drawingml/2006/main">
            <a:off x="609600" y="1743075"/>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С одним объектом теперь связан вектор из d признаков:</a:t>
            </a:r>
          </a:p>
        </p:txBody>
      </p:sp>
      <p:pic>
        <p:nvPicPr>
          <p:cNvPr id="51" name="">
            <a:extLst xmlns:a="http://schemas.openxmlformats.org/drawingml/2006/main">
              <a:ext uri="{FF2B5EF4-FFF2-40B4-BE49-F238E27FC236}">
                <a16:creationId xmlns:a16="http://schemas.microsoft.com/office/drawing/2014/main" id="{02BF7581-6634-4B28-8D06-21F6876260FD}"/>
              </a:ext>
            </a:extLst>
          </p:cNvPr>
          <p:cNvPicPr>
            <a:picLocks xmlns:a="http://schemas.openxmlformats.org/drawingml/2006/main" noChangeAspect="1"/>
          </p:cNvPicPr>
          <p:nvPr/>
        </p:nvPicPr>
        <p:blipFill>
          <a:blip xmlns:r="http://schemas.openxmlformats.org/officeDocument/2006/relationships" xmlns:a="http://schemas.openxmlformats.org/drawingml/2006/main" r:embed="R081e5f3173114332">
            <a:extLst>
              <a:ext uri="{96DAC541-7B7A-43D3-8B79-37D633B846F1}">
                <asvg:svgBlip xmlns:asvg="http://schemas.microsoft.com/office/drawing/2016/SVG/main" r:embed="Rbe111867bc4545c6"/>
              </a:ext>
            </a:extLst>
          </a:blip>
          <a:stretch xmlns:a="http://schemas.openxmlformats.org/drawingml/2006/main"/>
        </p:blipFill>
        <p:spPr>
          <a:xfrm xmlns:a="http://schemas.openxmlformats.org/drawingml/2006/main">
            <a:off x="4762027" y="2337435"/>
            <a:ext cx="2667945" cy="1131900"/>
          </a:xfrm>
          <a:prstGeom xmlns:a="http://schemas.openxmlformats.org/drawingml/2006/main" prst="rect">
            <a:avLst/>
          </a:prstGeom>
        </p:spPr>
      </p:pic>
      <p:pic>
        <p:nvPicPr>
          <p:cNvPr id="52" name="">
            <a:extLst xmlns:a="http://schemas.openxmlformats.org/drawingml/2006/main">
              <a:ext uri="{FF2B5EF4-FFF2-40B4-BE49-F238E27FC236}">
                <a16:creationId xmlns:a16="http://schemas.microsoft.com/office/drawing/2014/main" id="{B2CC0CB3-1F96-400E-8636-F227682D5390}"/>
              </a:ext>
            </a:extLst>
          </p:cNvPr>
          <p:cNvPicPr>
            <a:picLocks xmlns:a="http://schemas.openxmlformats.org/drawingml/2006/main" noChangeAspect="1"/>
          </p:cNvPicPr>
          <p:nvPr/>
        </p:nvPicPr>
        <p:blipFill>
          <a:blip xmlns:r="http://schemas.openxmlformats.org/officeDocument/2006/relationships" xmlns:a="http://schemas.openxmlformats.org/drawingml/2006/main" r:embed="Rf9eee13453f74e20">
            <a:extLst>
              <a:ext uri="{96DAC541-7B7A-43D3-8B79-37D633B846F1}">
                <asvg:svgBlip xmlns:asvg="http://schemas.microsoft.com/office/drawing/2016/SVG/main" r:embed="R365c1d3bb83c43fa"/>
              </a:ext>
            </a:extLst>
          </a:blip>
          <a:stretch xmlns:a="http://schemas.openxmlformats.org/drawingml/2006/main"/>
        </p:blipFill>
        <p:spPr>
          <a:xfrm xmlns:a="http://schemas.openxmlformats.org/drawingml/2006/main">
            <a:off x="879391" y="3697935"/>
            <a:ext cx="4775369" cy="1195103"/>
          </a:xfrm>
          <a:prstGeom xmlns:a="http://schemas.openxmlformats.org/drawingml/2006/main" prst="rect">
            <a:avLst/>
          </a:prstGeom>
        </p:spPr>
      </p:pic>
      <p:pic>
        <p:nvPicPr>
          <p:cNvPr id="53" name="">
            <a:extLst xmlns:a="http://schemas.openxmlformats.org/drawingml/2006/main">
              <a:ext uri="{FF2B5EF4-FFF2-40B4-BE49-F238E27FC236}">
                <a16:creationId xmlns:a16="http://schemas.microsoft.com/office/drawing/2014/main" id="{93C4DEA1-8DDE-496C-A6E0-DA0B52B80E39}"/>
              </a:ext>
            </a:extLst>
          </p:cNvPr>
          <p:cNvPicPr>
            <a:picLocks xmlns:a="http://schemas.openxmlformats.org/drawingml/2006/main" noChangeAspect="1"/>
          </p:cNvPicPr>
          <p:nvPr/>
        </p:nvPicPr>
        <p:blipFill>
          <a:blip xmlns:r="http://schemas.openxmlformats.org/officeDocument/2006/relationships" xmlns:a="http://schemas.openxmlformats.org/drawingml/2006/main" r:embed="R4754bd7e10a94ecd">
            <a:extLst>
              <a:ext uri="{96DAC541-7B7A-43D3-8B79-37D633B846F1}">
                <asvg:svgBlip xmlns:asvg="http://schemas.microsoft.com/office/drawing/2016/SVG/main" r:embed="Re70d16dccf934d51"/>
              </a:ext>
            </a:extLst>
          </a:blip>
          <a:stretch xmlns:a="http://schemas.openxmlformats.org/drawingml/2006/main"/>
        </p:blipFill>
        <p:spPr>
          <a:xfrm xmlns:a="http://schemas.openxmlformats.org/drawingml/2006/main">
            <a:off x="8039284" y="3697935"/>
            <a:ext cx="1771282" cy="275691"/>
          </a:xfrm>
          <a:prstGeom xmlns:a="http://schemas.openxmlformats.org/drawingml/2006/main" prst="rect">
            <a:avLst/>
          </a:prstGeom>
        </p:spPr>
      </p:pic>
      <p:pic>
        <p:nvPicPr>
          <p:cNvPr id="54" name="">
            <a:extLst xmlns:a="http://schemas.openxmlformats.org/drawingml/2006/main">
              <a:ext uri="{FF2B5EF4-FFF2-40B4-BE49-F238E27FC236}">
                <a16:creationId xmlns:a16="http://schemas.microsoft.com/office/drawing/2014/main" id="{525C76DA-233F-426F-8561-3862516B6FAC}"/>
              </a:ext>
            </a:extLst>
          </p:cNvPr>
          <p:cNvPicPr>
            <a:picLocks xmlns:a="http://schemas.openxmlformats.org/drawingml/2006/main" noChangeAspect="1"/>
          </p:cNvPicPr>
          <p:nvPr/>
        </p:nvPicPr>
        <p:blipFill>
          <a:blip xmlns:r="http://schemas.openxmlformats.org/officeDocument/2006/relationships" xmlns:a="http://schemas.openxmlformats.org/drawingml/2006/main" r:embed="Re903f404615a4d77">
            <a:extLst>
              <a:ext uri="{96DAC541-7B7A-43D3-8B79-37D633B846F1}">
                <asvg:svgBlip xmlns:asvg="http://schemas.microsoft.com/office/drawing/2016/SVG/main" r:embed="Rd975e2d23a2c4426"/>
              </a:ext>
            </a:extLst>
          </a:blip>
          <a:stretch xmlns:a="http://schemas.openxmlformats.org/drawingml/2006/main"/>
        </p:blipFill>
        <p:spPr>
          <a:xfrm xmlns:a="http://schemas.openxmlformats.org/drawingml/2006/main">
            <a:off x="7346309" y="4145076"/>
            <a:ext cx="3157232" cy="522538"/>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82E13EB3-5BF3-4906-8F94-A8B76D7DAB36}"/>
              </a:ext>
            </a:extLst>
          </p:cNvPr>
          <p:cNvSpPr>
            <a:spLocks xmlns:a="http://schemas.openxmlformats.org/drawingml/2006/main" noGrp="1"/>
          </p:cNvSpPr>
          <p:nvPr/>
        </p:nvSpPr>
        <p:spPr>
          <a:xfrm xmlns:a="http://schemas.openxmlformats.org/drawingml/2006/main">
            <a:off x="609600" y="5121639"/>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После добавления столбца единиц включаем свободный коэффициент в общий</a:t>
            </a:r>
          </a:p>
          <a:p xmlns:a="http://schemas.openxmlformats.org/drawingml/2006/main">
            <a:pPr algn="l">
              <a:defRPr sz="2250" b="0">
                <a:solidFill>
                  <a:srgbClr val="111111"/>
                </a:solidFill>
              </a:defRPr>
            </a:pPr>
            <a:r>
              <a:rPr sz="2250" b="0">
                <a:solidFill>
                  <a:srgbClr val="111111"/>
                </a:solidFill>
              </a:rPr>
              <a:t>вектор параметров. Нормальные уравнения сохраняют ту же форму:</a:t>
            </a:r>
          </a:p>
        </p:txBody>
      </p:sp>
      <p:pic>
        <p:nvPicPr>
          <p:cNvPr id="56" name="">
            <a:extLst xmlns:a="http://schemas.openxmlformats.org/drawingml/2006/main">
              <a:ext uri="{FF2B5EF4-FFF2-40B4-BE49-F238E27FC236}">
                <a16:creationId xmlns:a16="http://schemas.microsoft.com/office/drawing/2014/main" id="{9BC9F143-6BE0-4244-94A6-52545DF01721}"/>
              </a:ext>
            </a:extLst>
          </p:cNvPr>
          <p:cNvPicPr>
            <a:picLocks xmlns:a="http://schemas.openxmlformats.org/drawingml/2006/main" noChangeAspect="1"/>
          </p:cNvPicPr>
          <p:nvPr/>
        </p:nvPicPr>
        <p:blipFill>
          <a:blip xmlns:r="http://schemas.openxmlformats.org/officeDocument/2006/relationships" xmlns:a="http://schemas.openxmlformats.org/drawingml/2006/main" r:embed="Rd4b8c2956d4a4809">
            <a:extLst>
              <a:ext uri="{96DAC541-7B7A-43D3-8B79-37D633B846F1}">
                <asvg:svgBlip xmlns:asvg="http://schemas.microsoft.com/office/drawing/2016/SVG/main" r:embed="R419b8f89026f45f8"/>
              </a:ext>
            </a:extLst>
          </a:blip>
          <a:stretch xmlns:a="http://schemas.openxmlformats.org/drawingml/2006/main"/>
        </p:blipFill>
        <p:spPr>
          <a:xfrm xmlns:a="http://schemas.openxmlformats.org/drawingml/2006/main">
            <a:off x="5076960" y="6081759"/>
            <a:ext cx="2038081" cy="379030"/>
          </a:xfrm>
          <a:prstGeom xmlns:a="http://schemas.openxmlformats.org/drawingml/2006/main" prst="rect">
            <a:avLst/>
          </a:prstGeom>
        </p:spPr>
      </p:pic>
    </p:spTree>
    <p:extLst>
      <p:ext uri="{BB962C8B-B14F-4D97-AF65-F5344CB8AC3E}">
        <p14:creationId xmlns:p14="http://schemas.microsoft.com/office/powerpoint/2010/main" val="65629481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CFE0EB43-E014-40C8-AAD2-8EF523B9E9A9}"/>
              </a:ext>
            </a:extLst>
          </p:cNvPr>
          <p:cNvSpPr>
            <a:spLocks xmlns:a="http://schemas.openxmlformats.org/drawingml/2006/main" noGrp="1"/>
          </p:cNvSpPr>
          <p:nvPr/>
        </p:nvSpPr>
        <p:spPr>
          <a:xfrm xmlns:a="http://schemas.openxmlformats.org/drawingml/2006/main">
            <a:off x="0" y="0"/>
            <a:ext cx="12192000" cy="590550"/>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E98AB8-9022-41E7-9D02-66C478046D97}"/>
              </a:ext>
            </a:extLst>
          </p:cNvPr>
          <p:cNvSpPr>
            <a:spLocks xmlns:a="http://schemas.openxmlformats.org/drawingml/2006/main" noGrp="1"/>
          </p:cNvSpPr>
          <p:nvPr/>
        </p:nvSpPr>
        <p:spPr>
          <a:xfrm xmlns:a="http://schemas.openxmlformats.org/drawingml/2006/main">
            <a:off x="2286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Линейная регрессия</a:t>
            </a:r>
          </a:p>
        </p:txBody>
      </p:sp>
      <p:sp>
        <p:nvSpPr>
          <p:cNvPr id="3" name="">
            <a:extLst xmlns:a="http://schemas.openxmlformats.org/drawingml/2006/main">
              <a:ext uri="{FF2B5EF4-FFF2-40B4-BE49-F238E27FC236}">
                <a16:creationId xmlns:a16="http://schemas.microsoft.com/office/drawing/2014/main" id="{1BDED52D-93C5-4720-BF81-5C42CD5C0691}"/>
              </a:ext>
            </a:extLst>
          </p:cNvPr>
          <p:cNvSpPr>
            <a:spLocks xmlns:a="http://schemas.openxmlformats.org/drawingml/2006/main" noGrp="1"/>
          </p:cNvSpPr>
          <p:nvPr/>
        </p:nvSpPr>
        <p:spPr>
          <a:xfrm xmlns:a="http://schemas.openxmlformats.org/drawingml/2006/main">
            <a:off x="257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4" name="">
            <a:extLst xmlns:a="http://schemas.openxmlformats.org/drawingml/2006/main">
              <a:ext uri="{FF2B5EF4-FFF2-40B4-BE49-F238E27FC236}">
                <a16:creationId xmlns:a16="http://schemas.microsoft.com/office/drawing/2014/main" id="{2CB8D573-E7C2-447B-BD36-447FEA7A1F90}"/>
              </a:ext>
            </a:extLst>
          </p:cNvPr>
          <p:cNvSpPr>
            <a:spLocks xmlns:a="http://schemas.openxmlformats.org/drawingml/2006/main" noGrp="1"/>
          </p:cNvSpPr>
          <p:nvPr/>
        </p:nvSpPr>
        <p:spPr>
          <a:xfrm xmlns:a="http://schemas.openxmlformats.org/drawingml/2006/main">
            <a:off x="409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5" name="">
            <a:extLst xmlns:a="http://schemas.openxmlformats.org/drawingml/2006/main">
              <a:ext uri="{FF2B5EF4-FFF2-40B4-BE49-F238E27FC236}">
                <a16:creationId xmlns:a16="http://schemas.microsoft.com/office/drawing/2014/main" id="{DFD713B8-A2C2-486E-BB46-40AA7D281F14}"/>
              </a:ext>
            </a:extLst>
          </p:cNvPr>
          <p:cNvSpPr>
            <a:spLocks xmlns:a="http://schemas.openxmlformats.org/drawingml/2006/main" noGrp="1"/>
          </p:cNvSpPr>
          <p:nvPr/>
        </p:nvSpPr>
        <p:spPr>
          <a:xfrm xmlns:a="http://schemas.openxmlformats.org/drawingml/2006/main">
            <a:off x="561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6" name="">
            <a:extLst xmlns:a="http://schemas.openxmlformats.org/drawingml/2006/main">
              <a:ext uri="{FF2B5EF4-FFF2-40B4-BE49-F238E27FC236}">
                <a16:creationId xmlns:a16="http://schemas.microsoft.com/office/drawing/2014/main" id="{68DEB129-66FE-4911-AC6B-93DACF7889DA}"/>
              </a:ext>
            </a:extLst>
          </p:cNvPr>
          <p:cNvSpPr>
            <a:spLocks xmlns:a="http://schemas.openxmlformats.org/drawingml/2006/main" noGrp="1"/>
          </p:cNvSpPr>
          <p:nvPr/>
        </p:nvSpPr>
        <p:spPr>
          <a:xfrm xmlns:a="http://schemas.openxmlformats.org/drawingml/2006/main">
            <a:off x="714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7" name="">
            <a:extLst xmlns:a="http://schemas.openxmlformats.org/drawingml/2006/main">
              <a:ext uri="{FF2B5EF4-FFF2-40B4-BE49-F238E27FC236}">
                <a16:creationId xmlns:a16="http://schemas.microsoft.com/office/drawing/2014/main" id="{112023F3-94ED-42C9-8AE8-FD59BA33BAD7}"/>
              </a:ext>
            </a:extLst>
          </p:cNvPr>
          <p:cNvSpPr>
            <a:spLocks xmlns:a="http://schemas.openxmlformats.org/drawingml/2006/main" noGrp="1"/>
          </p:cNvSpPr>
          <p:nvPr/>
        </p:nvSpPr>
        <p:spPr>
          <a:xfrm xmlns:a="http://schemas.openxmlformats.org/drawingml/2006/main">
            <a:off x="866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8" name="">
            <a:extLst xmlns:a="http://schemas.openxmlformats.org/drawingml/2006/main">
              <a:ext uri="{FF2B5EF4-FFF2-40B4-BE49-F238E27FC236}">
                <a16:creationId xmlns:a16="http://schemas.microsoft.com/office/drawing/2014/main" id="{88E2942B-B7B8-4220-AF26-661A35B297FD}"/>
              </a:ext>
            </a:extLst>
          </p:cNvPr>
          <p:cNvSpPr>
            <a:spLocks xmlns:a="http://schemas.openxmlformats.org/drawingml/2006/main" noGrp="1"/>
          </p:cNvSpPr>
          <p:nvPr/>
        </p:nvSpPr>
        <p:spPr>
          <a:xfrm xmlns:a="http://schemas.openxmlformats.org/drawingml/2006/main">
            <a:off x="1019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9" name="">
            <a:extLst xmlns:a="http://schemas.openxmlformats.org/drawingml/2006/main">
              <a:ext uri="{FF2B5EF4-FFF2-40B4-BE49-F238E27FC236}">
                <a16:creationId xmlns:a16="http://schemas.microsoft.com/office/drawing/2014/main" id="{FCF4C2A5-A390-4B79-9E26-89E1B016F5DC}"/>
              </a:ext>
            </a:extLst>
          </p:cNvPr>
          <p:cNvSpPr>
            <a:spLocks xmlns:a="http://schemas.openxmlformats.org/drawingml/2006/main" noGrp="1"/>
          </p:cNvSpPr>
          <p:nvPr/>
        </p:nvSpPr>
        <p:spPr>
          <a:xfrm xmlns:a="http://schemas.openxmlformats.org/drawingml/2006/main">
            <a:off x="1171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0" name="">
            <a:extLst xmlns:a="http://schemas.openxmlformats.org/drawingml/2006/main">
              <a:ext uri="{FF2B5EF4-FFF2-40B4-BE49-F238E27FC236}">
                <a16:creationId xmlns:a16="http://schemas.microsoft.com/office/drawing/2014/main" id="{2681B384-F240-43A8-85A5-114C3ACF452F}"/>
              </a:ext>
            </a:extLst>
          </p:cNvPr>
          <p:cNvSpPr>
            <a:spLocks xmlns:a="http://schemas.openxmlformats.org/drawingml/2006/main" noGrp="1"/>
          </p:cNvSpPr>
          <p:nvPr/>
        </p:nvSpPr>
        <p:spPr>
          <a:xfrm xmlns:a="http://schemas.openxmlformats.org/drawingml/2006/main">
            <a:off x="32385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Минимум функции</a:t>
            </a:r>
          </a:p>
        </p:txBody>
      </p:sp>
      <p:sp>
        <p:nvSpPr>
          <p:cNvPr id="11" name="">
            <a:extLst xmlns:a="http://schemas.openxmlformats.org/drawingml/2006/main">
              <a:ext uri="{FF2B5EF4-FFF2-40B4-BE49-F238E27FC236}">
                <a16:creationId xmlns:a16="http://schemas.microsoft.com/office/drawing/2014/main" id="{F07FF868-A390-4F24-8FD1-3F9C01173937}"/>
              </a:ext>
            </a:extLst>
          </p:cNvPr>
          <p:cNvSpPr>
            <a:spLocks xmlns:a="http://schemas.openxmlformats.org/drawingml/2006/main" noGrp="1"/>
          </p:cNvSpPr>
          <p:nvPr/>
        </p:nvSpPr>
        <p:spPr>
          <a:xfrm xmlns:a="http://schemas.openxmlformats.org/drawingml/2006/main">
            <a:off x="3267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2" name="">
            <a:extLst xmlns:a="http://schemas.openxmlformats.org/drawingml/2006/main">
              <a:ext uri="{FF2B5EF4-FFF2-40B4-BE49-F238E27FC236}">
                <a16:creationId xmlns:a16="http://schemas.microsoft.com/office/drawing/2014/main" id="{ACEB1324-3707-4E9E-8109-DA1A3D11CF31}"/>
              </a:ext>
            </a:extLst>
          </p:cNvPr>
          <p:cNvSpPr>
            <a:spLocks xmlns:a="http://schemas.openxmlformats.org/drawingml/2006/main" noGrp="1"/>
          </p:cNvSpPr>
          <p:nvPr/>
        </p:nvSpPr>
        <p:spPr>
          <a:xfrm xmlns:a="http://schemas.openxmlformats.org/drawingml/2006/main">
            <a:off x="34194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3" name="">
            <a:extLst xmlns:a="http://schemas.openxmlformats.org/drawingml/2006/main">
              <a:ext uri="{FF2B5EF4-FFF2-40B4-BE49-F238E27FC236}">
                <a16:creationId xmlns:a16="http://schemas.microsoft.com/office/drawing/2014/main" id="{8A28284B-413B-49CB-A831-ED897753AA17}"/>
              </a:ext>
            </a:extLst>
          </p:cNvPr>
          <p:cNvSpPr>
            <a:spLocks xmlns:a="http://schemas.openxmlformats.org/drawingml/2006/main" noGrp="1"/>
          </p:cNvSpPr>
          <p:nvPr/>
        </p:nvSpPr>
        <p:spPr>
          <a:xfrm xmlns:a="http://schemas.openxmlformats.org/drawingml/2006/main">
            <a:off x="35718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4" name="">
            <a:extLst xmlns:a="http://schemas.openxmlformats.org/drawingml/2006/main">
              <a:ext uri="{FF2B5EF4-FFF2-40B4-BE49-F238E27FC236}">
                <a16:creationId xmlns:a16="http://schemas.microsoft.com/office/drawing/2014/main" id="{4846EC2D-CF4E-4083-9F5F-74C8A3DDAA07}"/>
              </a:ext>
            </a:extLst>
          </p:cNvPr>
          <p:cNvSpPr>
            <a:spLocks xmlns:a="http://schemas.openxmlformats.org/drawingml/2006/main" noGrp="1"/>
          </p:cNvSpPr>
          <p:nvPr/>
        </p:nvSpPr>
        <p:spPr>
          <a:xfrm xmlns:a="http://schemas.openxmlformats.org/drawingml/2006/main">
            <a:off x="37242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5" name="">
            <a:extLst xmlns:a="http://schemas.openxmlformats.org/drawingml/2006/main">
              <a:ext uri="{FF2B5EF4-FFF2-40B4-BE49-F238E27FC236}">
                <a16:creationId xmlns:a16="http://schemas.microsoft.com/office/drawing/2014/main" id="{A48B11F9-6004-401E-B523-4F66261932C5}"/>
              </a:ext>
            </a:extLst>
          </p:cNvPr>
          <p:cNvSpPr>
            <a:spLocks xmlns:a="http://schemas.openxmlformats.org/drawingml/2006/main" noGrp="1"/>
          </p:cNvSpPr>
          <p:nvPr/>
        </p:nvSpPr>
        <p:spPr>
          <a:xfrm xmlns:a="http://schemas.openxmlformats.org/drawingml/2006/main">
            <a:off x="38766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6" name="">
            <a:extLst xmlns:a="http://schemas.openxmlformats.org/drawingml/2006/main">
              <a:ext uri="{FF2B5EF4-FFF2-40B4-BE49-F238E27FC236}">
                <a16:creationId xmlns:a16="http://schemas.microsoft.com/office/drawing/2014/main" id="{2D0FA464-DA08-4C07-B68C-3394686785DF}"/>
              </a:ext>
            </a:extLst>
          </p:cNvPr>
          <p:cNvSpPr>
            <a:spLocks xmlns:a="http://schemas.openxmlformats.org/drawingml/2006/main" noGrp="1"/>
          </p:cNvSpPr>
          <p:nvPr/>
        </p:nvSpPr>
        <p:spPr>
          <a:xfrm xmlns:a="http://schemas.openxmlformats.org/drawingml/2006/main">
            <a:off x="40290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7" name="">
            <a:extLst xmlns:a="http://schemas.openxmlformats.org/drawingml/2006/main">
              <a:ext uri="{FF2B5EF4-FFF2-40B4-BE49-F238E27FC236}">
                <a16:creationId xmlns:a16="http://schemas.microsoft.com/office/drawing/2014/main" id="{3804CC6C-2BA0-489E-BD66-31894A5A702C}"/>
              </a:ext>
            </a:extLst>
          </p:cNvPr>
          <p:cNvSpPr>
            <a:spLocks xmlns:a="http://schemas.openxmlformats.org/drawingml/2006/main" noGrp="1"/>
          </p:cNvSpPr>
          <p:nvPr/>
        </p:nvSpPr>
        <p:spPr>
          <a:xfrm xmlns:a="http://schemas.openxmlformats.org/drawingml/2006/main">
            <a:off x="62484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A5A4CC"/>
                </a:solidFill>
              </a:defRPr>
            </a:defPPr>
            <a:lvl1pPr algn="l">
              <a:defRPr sz="1800" b="0">
                <a:solidFill>
                  <a:srgbClr val="A5A4CC"/>
                </a:solidFill>
              </a:defRPr>
            </a:lvl1pPr>
            <a:lvl2pPr algn="l">
              <a:defRPr sz="1800" b="0">
                <a:solidFill>
                  <a:srgbClr val="A5A4CC"/>
                </a:solidFill>
              </a:defRPr>
            </a:lvl2pPr>
            <a:lvl3pPr algn="l">
              <a:defRPr sz="1800" b="0">
                <a:solidFill>
                  <a:srgbClr val="A5A4CC"/>
                </a:solidFill>
              </a:defRPr>
            </a:lvl3pPr>
            <a:lvl4pPr algn="l">
              <a:defRPr sz="1800" b="0">
                <a:solidFill>
                  <a:srgbClr val="A5A4CC"/>
                </a:solidFill>
              </a:defRPr>
            </a:lvl4pPr>
            <a:lvl5pPr algn="l">
              <a:defRPr sz="1800" b="0">
                <a:solidFill>
                  <a:srgbClr val="A5A4CC"/>
                </a:solidFill>
              </a:defRPr>
            </a:lvl5pPr>
            <a:lvl6pPr algn="l">
              <a:defRPr sz="1800" b="0">
                <a:solidFill>
                  <a:srgbClr val="A5A4CC"/>
                </a:solidFill>
              </a:defRPr>
            </a:lvl6pPr>
            <a:lvl7pPr algn="l">
              <a:defRPr sz="1800" b="0">
                <a:solidFill>
                  <a:srgbClr val="A5A4CC"/>
                </a:solidFill>
              </a:defRPr>
            </a:lvl7pPr>
            <a:lvl8pPr algn="l">
              <a:defRPr sz="1800" b="0">
                <a:solidFill>
                  <a:srgbClr val="A5A4CC"/>
                </a:solidFill>
              </a:defRPr>
            </a:lvl8pPr>
            <a:lvl9pPr algn="l">
              <a:defRPr sz="1800" b="0">
                <a:solidFill>
                  <a:srgbClr val="A5A4CC"/>
                </a:solidFill>
              </a:defRPr>
            </a:lvl9pPr>
          </a:lstStyle>
          <a:p xmlns:a="http://schemas.openxmlformats.org/drawingml/2006/main">
            <a:pPr algn="l">
              <a:defRPr sz="1800" b="0">
                <a:solidFill>
                  <a:srgbClr val="A5A4CC"/>
                </a:solidFill>
              </a:defRPr>
            </a:pPr>
            <a:r>
              <a:rPr sz="1800" b="0">
                <a:solidFill>
                  <a:srgbClr val="A5A4CC"/>
                </a:solidFill>
              </a:rPr>
              <a:t>Градиентный спуск</a:t>
            </a:r>
          </a:p>
        </p:txBody>
      </p:sp>
      <p:sp>
        <p:nvSpPr>
          <p:cNvPr id="18" name="">
            <a:extLst xmlns:a="http://schemas.openxmlformats.org/drawingml/2006/main">
              <a:ext uri="{FF2B5EF4-FFF2-40B4-BE49-F238E27FC236}">
                <a16:creationId xmlns:a16="http://schemas.microsoft.com/office/drawing/2014/main" id="{DCD7A8EC-7520-480B-BBF8-F71806EE5F8C}"/>
              </a:ext>
            </a:extLst>
          </p:cNvPr>
          <p:cNvSpPr>
            <a:spLocks xmlns:a="http://schemas.openxmlformats.org/drawingml/2006/main" noGrp="1"/>
          </p:cNvSpPr>
          <p:nvPr/>
        </p:nvSpPr>
        <p:spPr>
          <a:xfrm xmlns:a="http://schemas.openxmlformats.org/drawingml/2006/main">
            <a:off x="6276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19" name="">
            <a:extLst xmlns:a="http://schemas.openxmlformats.org/drawingml/2006/main">
              <a:ext uri="{FF2B5EF4-FFF2-40B4-BE49-F238E27FC236}">
                <a16:creationId xmlns:a16="http://schemas.microsoft.com/office/drawing/2014/main" id="{A98E0D71-4B0E-4E05-9316-1A83E89C9E82}"/>
              </a:ext>
            </a:extLst>
          </p:cNvPr>
          <p:cNvSpPr>
            <a:spLocks xmlns:a="http://schemas.openxmlformats.org/drawingml/2006/main" noGrp="1"/>
          </p:cNvSpPr>
          <p:nvPr/>
        </p:nvSpPr>
        <p:spPr>
          <a:xfrm xmlns:a="http://schemas.openxmlformats.org/drawingml/2006/main">
            <a:off x="6429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0" name="">
            <a:extLst xmlns:a="http://schemas.openxmlformats.org/drawingml/2006/main">
              <a:ext uri="{FF2B5EF4-FFF2-40B4-BE49-F238E27FC236}">
                <a16:creationId xmlns:a16="http://schemas.microsoft.com/office/drawing/2014/main" id="{3955F69E-BA4B-485A-B696-682F0E6AFE69}"/>
              </a:ext>
            </a:extLst>
          </p:cNvPr>
          <p:cNvSpPr>
            <a:spLocks xmlns:a="http://schemas.openxmlformats.org/drawingml/2006/main" noGrp="1"/>
          </p:cNvSpPr>
          <p:nvPr/>
        </p:nvSpPr>
        <p:spPr>
          <a:xfrm xmlns:a="http://schemas.openxmlformats.org/drawingml/2006/main">
            <a:off x="6581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1" name="">
            <a:extLst xmlns:a="http://schemas.openxmlformats.org/drawingml/2006/main">
              <a:ext uri="{FF2B5EF4-FFF2-40B4-BE49-F238E27FC236}">
                <a16:creationId xmlns:a16="http://schemas.microsoft.com/office/drawing/2014/main" id="{90BCF9F2-5E04-4374-90B8-2A4F21447D38}"/>
              </a:ext>
            </a:extLst>
          </p:cNvPr>
          <p:cNvSpPr>
            <a:spLocks xmlns:a="http://schemas.openxmlformats.org/drawingml/2006/main" noGrp="1"/>
          </p:cNvSpPr>
          <p:nvPr/>
        </p:nvSpPr>
        <p:spPr>
          <a:xfrm xmlns:a="http://schemas.openxmlformats.org/drawingml/2006/main">
            <a:off x="6734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2" name="">
            <a:extLst xmlns:a="http://schemas.openxmlformats.org/drawingml/2006/main">
              <a:ext uri="{FF2B5EF4-FFF2-40B4-BE49-F238E27FC236}">
                <a16:creationId xmlns:a16="http://schemas.microsoft.com/office/drawing/2014/main" id="{47C3BCB7-DC42-40A3-9895-7E97B9D56186}"/>
              </a:ext>
            </a:extLst>
          </p:cNvPr>
          <p:cNvSpPr>
            <a:spLocks xmlns:a="http://schemas.openxmlformats.org/drawingml/2006/main" noGrp="1"/>
          </p:cNvSpPr>
          <p:nvPr/>
        </p:nvSpPr>
        <p:spPr>
          <a:xfrm xmlns:a="http://schemas.openxmlformats.org/drawingml/2006/main">
            <a:off x="6886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3" name="">
            <a:extLst xmlns:a="http://schemas.openxmlformats.org/drawingml/2006/main">
              <a:ext uri="{FF2B5EF4-FFF2-40B4-BE49-F238E27FC236}">
                <a16:creationId xmlns:a16="http://schemas.microsoft.com/office/drawing/2014/main" id="{017F01CC-325E-4D92-8211-684C24857F91}"/>
              </a:ext>
            </a:extLst>
          </p:cNvPr>
          <p:cNvSpPr>
            <a:spLocks xmlns:a="http://schemas.openxmlformats.org/drawingml/2006/main" noGrp="1"/>
          </p:cNvSpPr>
          <p:nvPr/>
        </p:nvSpPr>
        <p:spPr>
          <a:xfrm xmlns:a="http://schemas.openxmlformats.org/drawingml/2006/main">
            <a:off x="7038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4" name="">
            <a:extLst xmlns:a="http://schemas.openxmlformats.org/drawingml/2006/main">
              <a:ext uri="{FF2B5EF4-FFF2-40B4-BE49-F238E27FC236}">
                <a16:creationId xmlns:a16="http://schemas.microsoft.com/office/drawing/2014/main" id="{88FAE201-E9DB-44C1-B631-3DF50FA9D61E}"/>
              </a:ext>
            </a:extLst>
          </p:cNvPr>
          <p:cNvSpPr>
            <a:spLocks xmlns:a="http://schemas.openxmlformats.org/drawingml/2006/main" noGrp="1"/>
          </p:cNvSpPr>
          <p:nvPr/>
        </p:nvSpPr>
        <p:spPr>
          <a:xfrm xmlns:a="http://schemas.openxmlformats.org/drawingml/2006/main">
            <a:off x="7191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5" name="">
            <a:extLst xmlns:a="http://schemas.openxmlformats.org/drawingml/2006/main">
              <a:ext uri="{FF2B5EF4-FFF2-40B4-BE49-F238E27FC236}">
                <a16:creationId xmlns:a16="http://schemas.microsoft.com/office/drawing/2014/main" id="{DD67FE79-50BF-49F1-980B-59B2E2A29FDC}"/>
              </a:ext>
            </a:extLst>
          </p:cNvPr>
          <p:cNvSpPr>
            <a:spLocks xmlns:a="http://schemas.openxmlformats.org/drawingml/2006/main" noGrp="1"/>
          </p:cNvSpPr>
          <p:nvPr/>
        </p:nvSpPr>
        <p:spPr>
          <a:xfrm xmlns:a="http://schemas.openxmlformats.org/drawingml/2006/main">
            <a:off x="73437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6" name="">
            <a:extLst xmlns:a="http://schemas.openxmlformats.org/drawingml/2006/main">
              <a:ext uri="{FF2B5EF4-FFF2-40B4-BE49-F238E27FC236}">
                <a16:creationId xmlns:a16="http://schemas.microsoft.com/office/drawing/2014/main" id="{EB681E4B-5CAE-493D-BACE-8F0AC72E1ABE}"/>
              </a:ext>
            </a:extLst>
          </p:cNvPr>
          <p:cNvSpPr>
            <a:spLocks xmlns:a="http://schemas.openxmlformats.org/drawingml/2006/main" noGrp="1"/>
          </p:cNvSpPr>
          <p:nvPr/>
        </p:nvSpPr>
        <p:spPr>
          <a:xfrm xmlns:a="http://schemas.openxmlformats.org/drawingml/2006/main">
            <a:off x="74961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7" name="">
            <a:extLst xmlns:a="http://schemas.openxmlformats.org/drawingml/2006/main">
              <a:ext uri="{FF2B5EF4-FFF2-40B4-BE49-F238E27FC236}">
                <a16:creationId xmlns:a16="http://schemas.microsoft.com/office/drawing/2014/main" id="{B3F576B7-B100-453F-ACC7-EE1E81DE54AA}"/>
              </a:ext>
            </a:extLst>
          </p:cNvPr>
          <p:cNvSpPr>
            <a:spLocks xmlns:a="http://schemas.openxmlformats.org/drawingml/2006/main" noGrp="1"/>
          </p:cNvSpPr>
          <p:nvPr/>
        </p:nvSpPr>
        <p:spPr>
          <a:xfrm xmlns:a="http://schemas.openxmlformats.org/drawingml/2006/main">
            <a:off x="76485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8" name="">
            <a:extLst xmlns:a="http://schemas.openxmlformats.org/drawingml/2006/main">
              <a:ext uri="{FF2B5EF4-FFF2-40B4-BE49-F238E27FC236}">
                <a16:creationId xmlns:a16="http://schemas.microsoft.com/office/drawing/2014/main" id="{EB994DFF-3E79-44FD-8DB3-34B2B662265A}"/>
              </a:ext>
            </a:extLst>
          </p:cNvPr>
          <p:cNvSpPr>
            <a:spLocks xmlns:a="http://schemas.openxmlformats.org/drawingml/2006/main" noGrp="1"/>
          </p:cNvSpPr>
          <p:nvPr/>
        </p:nvSpPr>
        <p:spPr>
          <a:xfrm xmlns:a="http://schemas.openxmlformats.org/drawingml/2006/main">
            <a:off x="78009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29" name="">
            <a:extLst xmlns:a="http://schemas.openxmlformats.org/drawingml/2006/main">
              <a:ext uri="{FF2B5EF4-FFF2-40B4-BE49-F238E27FC236}">
                <a16:creationId xmlns:a16="http://schemas.microsoft.com/office/drawing/2014/main" id="{28A292F2-35DD-49E2-AEA5-E4BD2485ECB2}"/>
              </a:ext>
            </a:extLst>
          </p:cNvPr>
          <p:cNvSpPr>
            <a:spLocks xmlns:a="http://schemas.openxmlformats.org/drawingml/2006/main" noGrp="1"/>
          </p:cNvSpPr>
          <p:nvPr/>
        </p:nvSpPr>
        <p:spPr>
          <a:xfrm xmlns:a="http://schemas.openxmlformats.org/drawingml/2006/main">
            <a:off x="7953375" y="419100"/>
            <a:ext cx="76200" cy="76200"/>
          </a:xfrm>
          <a:prstGeom xmlns:a="http://schemas.openxmlformats.org/drawingml/2006/main" prst="ellipse">
            <a:avLst/>
          </a:prstGeom>
          <a:noFill xmlns:a="http://schemas.openxmlformats.org/drawingml/2006/main"/>
          <a:ln xmlns:a="http://schemas.openxmlformats.org/drawingml/2006/main" w="9525">
            <a:solidFill>
              <a:srgbClr val="8584B4"/>
            </a:solidFill>
          </a:ln>
        </p:spPr>
      </p:sp>
      <p:sp>
        <p:nvSpPr>
          <p:cNvPr id="30" name="">
            <a:extLst xmlns:a="http://schemas.openxmlformats.org/drawingml/2006/main">
              <a:ext uri="{FF2B5EF4-FFF2-40B4-BE49-F238E27FC236}">
                <a16:creationId xmlns:a16="http://schemas.microsoft.com/office/drawing/2014/main" id="{411FF3B4-33A6-4936-9E30-F0D9927707B4}"/>
              </a:ext>
            </a:extLst>
          </p:cNvPr>
          <p:cNvSpPr>
            <a:spLocks xmlns:a="http://schemas.openxmlformats.org/drawingml/2006/main" noGrp="1"/>
          </p:cNvSpPr>
          <p:nvPr/>
        </p:nvSpPr>
        <p:spPr>
          <a:xfrm xmlns:a="http://schemas.openxmlformats.org/drawingml/2006/main">
            <a:off x="9258300" y="76200"/>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СЛАУ</a:t>
            </a:r>
          </a:p>
        </p:txBody>
      </p:sp>
      <p:sp>
        <p:nvSpPr>
          <p:cNvPr id="31" name="">
            <a:extLst xmlns:a="http://schemas.openxmlformats.org/drawingml/2006/main">
              <a:ext uri="{FF2B5EF4-FFF2-40B4-BE49-F238E27FC236}">
                <a16:creationId xmlns:a16="http://schemas.microsoft.com/office/drawing/2014/main" id="{CBD2D4FF-015F-4903-A5E0-C9D5774C2CE2}"/>
              </a:ext>
            </a:extLst>
          </p:cNvPr>
          <p:cNvSpPr>
            <a:spLocks xmlns:a="http://schemas.openxmlformats.org/drawingml/2006/main" noGrp="1"/>
          </p:cNvSpPr>
          <p:nvPr/>
        </p:nvSpPr>
        <p:spPr>
          <a:xfrm xmlns:a="http://schemas.openxmlformats.org/drawingml/2006/main">
            <a:off x="9286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7B1C332B-917A-402B-8F53-FDA5769C798E}"/>
              </a:ext>
            </a:extLst>
          </p:cNvPr>
          <p:cNvSpPr>
            <a:spLocks xmlns:a="http://schemas.openxmlformats.org/drawingml/2006/main" noGrp="1"/>
          </p:cNvSpPr>
          <p:nvPr/>
        </p:nvSpPr>
        <p:spPr>
          <a:xfrm xmlns:a="http://schemas.openxmlformats.org/drawingml/2006/main">
            <a:off x="9439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3" name="">
            <a:extLst xmlns:a="http://schemas.openxmlformats.org/drawingml/2006/main">
              <a:ext uri="{FF2B5EF4-FFF2-40B4-BE49-F238E27FC236}">
                <a16:creationId xmlns:a16="http://schemas.microsoft.com/office/drawing/2014/main" id="{058FC6D4-1DFE-446D-BC41-E5F9B9A28074}"/>
              </a:ext>
            </a:extLst>
          </p:cNvPr>
          <p:cNvSpPr>
            <a:spLocks xmlns:a="http://schemas.openxmlformats.org/drawingml/2006/main" noGrp="1"/>
          </p:cNvSpPr>
          <p:nvPr/>
        </p:nvSpPr>
        <p:spPr>
          <a:xfrm xmlns:a="http://schemas.openxmlformats.org/drawingml/2006/main">
            <a:off x="9591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8877B748-96E6-49DD-86BF-2F86733CEEA5}"/>
              </a:ext>
            </a:extLst>
          </p:cNvPr>
          <p:cNvSpPr>
            <a:spLocks xmlns:a="http://schemas.openxmlformats.org/drawingml/2006/main" noGrp="1"/>
          </p:cNvSpPr>
          <p:nvPr/>
        </p:nvSpPr>
        <p:spPr>
          <a:xfrm xmlns:a="http://schemas.openxmlformats.org/drawingml/2006/main">
            <a:off x="9744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5" name="">
            <a:extLst xmlns:a="http://schemas.openxmlformats.org/drawingml/2006/main">
              <a:ext uri="{FF2B5EF4-FFF2-40B4-BE49-F238E27FC236}">
                <a16:creationId xmlns:a16="http://schemas.microsoft.com/office/drawing/2014/main" id="{600CB33F-7139-45FB-A388-EAA96DE703CD}"/>
              </a:ext>
            </a:extLst>
          </p:cNvPr>
          <p:cNvSpPr>
            <a:spLocks xmlns:a="http://schemas.openxmlformats.org/drawingml/2006/main" noGrp="1"/>
          </p:cNvSpPr>
          <p:nvPr/>
        </p:nvSpPr>
        <p:spPr>
          <a:xfrm xmlns:a="http://schemas.openxmlformats.org/drawingml/2006/main">
            <a:off x="9896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FC4772AC-2606-4D95-87DA-6BB4F924FAA0}"/>
              </a:ext>
            </a:extLst>
          </p:cNvPr>
          <p:cNvSpPr>
            <a:spLocks xmlns:a="http://schemas.openxmlformats.org/drawingml/2006/main" noGrp="1"/>
          </p:cNvSpPr>
          <p:nvPr/>
        </p:nvSpPr>
        <p:spPr>
          <a:xfrm xmlns:a="http://schemas.openxmlformats.org/drawingml/2006/main">
            <a:off x="10048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7" name="">
            <a:extLst xmlns:a="http://schemas.openxmlformats.org/drawingml/2006/main">
              <a:ext uri="{FF2B5EF4-FFF2-40B4-BE49-F238E27FC236}">
                <a16:creationId xmlns:a16="http://schemas.microsoft.com/office/drawing/2014/main" id="{4150B6D2-0E32-4779-A186-0C9E7D05266A}"/>
              </a:ext>
            </a:extLst>
          </p:cNvPr>
          <p:cNvSpPr>
            <a:spLocks xmlns:a="http://schemas.openxmlformats.org/drawingml/2006/main" noGrp="1"/>
          </p:cNvSpPr>
          <p:nvPr/>
        </p:nvSpPr>
        <p:spPr>
          <a:xfrm xmlns:a="http://schemas.openxmlformats.org/drawingml/2006/main">
            <a:off x="102012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4651BDDE-B867-46A8-96AC-8696206E2656}"/>
              </a:ext>
            </a:extLst>
          </p:cNvPr>
          <p:cNvSpPr>
            <a:spLocks xmlns:a="http://schemas.openxmlformats.org/drawingml/2006/main" noGrp="1"/>
          </p:cNvSpPr>
          <p:nvPr/>
        </p:nvSpPr>
        <p:spPr>
          <a:xfrm xmlns:a="http://schemas.openxmlformats.org/drawingml/2006/main">
            <a:off x="103536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39" name="">
            <a:extLst xmlns:a="http://schemas.openxmlformats.org/drawingml/2006/main">
              <a:ext uri="{FF2B5EF4-FFF2-40B4-BE49-F238E27FC236}">
                <a16:creationId xmlns:a16="http://schemas.microsoft.com/office/drawing/2014/main" id="{51363106-B12C-4D43-A96D-5C296E973FB0}"/>
              </a:ext>
            </a:extLst>
          </p:cNvPr>
          <p:cNvSpPr>
            <a:spLocks xmlns:a="http://schemas.openxmlformats.org/drawingml/2006/main" noGrp="1"/>
          </p:cNvSpPr>
          <p:nvPr/>
        </p:nvSpPr>
        <p:spPr>
          <a:xfrm xmlns:a="http://schemas.openxmlformats.org/drawingml/2006/main">
            <a:off x="105060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0" name="">
            <a:extLst xmlns:a="http://schemas.openxmlformats.org/drawingml/2006/main">
              <a:ext uri="{FF2B5EF4-FFF2-40B4-BE49-F238E27FC236}">
                <a16:creationId xmlns:a16="http://schemas.microsoft.com/office/drawing/2014/main" id="{9543EEA9-6B71-43C6-BDA0-FFF868A55F90}"/>
              </a:ext>
            </a:extLst>
          </p:cNvPr>
          <p:cNvSpPr>
            <a:spLocks xmlns:a="http://schemas.openxmlformats.org/drawingml/2006/main" noGrp="1"/>
          </p:cNvSpPr>
          <p:nvPr/>
        </p:nvSpPr>
        <p:spPr>
          <a:xfrm xmlns:a="http://schemas.openxmlformats.org/drawingml/2006/main">
            <a:off x="106584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1" name="">
            <a:extLst xmlns:a="http://schemas.openxmlformats.org/drawingml/2006/main">
              <a:ext uri="{FF2B5EF4-FFF2-40B4-BE49-F238E27FC236}">
                <a16:creationId xmlns:a16="http://schemas.microsoft.com/office/drawing/2014/main" id="{0CBE9061-C912-4FC0-800B-A7B3D1817CCE}"/>
              </a:ext>
            </a:extLst>
          </p:cNvPr>
          <p:cNvSpPr>
            <a:spLocks xmlns:a="http://schemas.openxmlformats.org/drawingml/2006/main" noGrp="1"/>
          </p:cNvSpPr>
          <p:nvPr/>
        </p:nvSpPr>
        <p:spPr>
          <a:xfrm xmlns:a="http://schemas.openxmlformats.org/drawingml/2006/main">
            <a:off x="10810875" y="419100"/>
            <a:ext cx="76200" cy="76200"/>
          </a:xfrm>
          <a:prstGeom xmlns:a="http://schemas.openxmlformats.org/drawingml/2006/main" prst="ellipse">
            <a:avLst/>
          </a:prstGeom>
          <a:noFill xmlns:a="http://schemas.openxmlformats.org/drawingml/2006/main"/>
          <a:ln xmlns:a="http://schemas.openxmlformats.org/drawingml/2006/main" w="9525">
            <a:solidFill>
              <a:srgbClr val="FFFFFF"/>
            </a:solidFill>
          </a:ln>
        </p:spPr>
      </p:sp>
      <p:sp>
        <p:nvSpPr>
          <p:cNvPr id="42" name="">
            <a:extLst xmlns:a="http://schemas.openxmlformats.org/drawingml/2006/main">
              <a:ext uri="{FF2B5EF4-FFF2-40B4-BE49-F238E27FC236}">
                <a16:creationId xmlns:a16="http://schemas.microsoft.com/office/drawing/2014/main" id="{6B489F8C-7075-4307-86CC-CEB0FFAE5771}"/>
              </a:ext>
            </a:extLst>
          </p:cNvPr>
          <p:cNvSpPr>
            <a:spLocks xmlns:a="http://schemas.openxmlformats.org/drawingml/2006/main" noGrp="1"/>
          </p:cNvSpPr>
          <p:nvPr/>
        </p:nvSpPr>
        <p:spPr>
          <a:xfrm xmlns:a="http://schemas.openxmlformats.org/drawingml/2006/main">
            <a:off x="10963275" y="4191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ln>
        </p:spPr>
      </p:sp>
      <p:sp>
        <p:nvSpPr>
          <p:cNvPr id="43" name="">
            <a:extLst xmlns:a="http://schemas.openxmlformats.org/drawingml/2006/main">
              <a:ext uri="{FF2B5EF4-FFF2-40B4-BE49-F238E27FC236}">
                <a16:creationId xmlns:a16="http://schemas.microsoft.com/office/drawing/2014/main" id="{8B843D39-7A6A-4AB9-AC5B-9B0B71D91937}"/>
              </a:ext>
            </a:extLst>
          </p:cNvPr>
          <p:cNvSpPr>
            <a:spLocks xmlns:a="http://schemas.openxmlformats.org/drawingml/2006/main" noGrp="1"/>
          </p:cNvSpPr>
          <p:nvPr/>
        </p:nvSpPr>
        <p:spPr>
          <a:xfrm xmlns:a="http://schemas.openxmlformats.org/drawingml/2006/main">
            <a:off x="0" y="590550"/>
            <a:ext cx="12192000" cy="771525"/>
          </a:xfrm>
          <a:prstGeom xmlns:a="http://schemas.openxmlformats.org/drawingml/2006/main" prst="rect">
            <a:avLst/>
          </a:prstGeom>
          <a:solidFill xmlns:a="http://schemas.openxmlformats.org/drawingml/2006/main">
            <a:srgbClr val="3532B5"/>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37B6760-D0C6-44FC-B95E-59D129B04413}"/>
              </a:ext>
            </a:extLst>
          </p:cNvPr>
          <p:cNvSpPr>
            <a:spLocks xmlns:a="http://schemas.openxmlformats.org/drawingml/2006/main" noGrp="1"/>
          </p:cNvSpPr>
          <p:nvPr/>
        </p:nvSpPr>
        <p:spPr>
          <a:xfrm xmlns:a="http://schemas.openxmlformats.org/drawingml/2006/main">
            <a:off x="285750" y="762000"/>
            <a:ext cx="1162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FFFFFF"/>
                </a:solidFill>
              </a:defRPr>
            </a:defPPr>
            <a:lvl1pPr algn="l">
              <a:defRPr sz="3000" b="0">
                <a:solidFill>
                  <a:srgbClr val="FFFFFF"/>
                </a:solidFill>
              </a:defRPr>
            </a:lvl1pPr>
            <a:lvl2pPr algn="l">
              <a:defRPr sz="3000" b="0">
                <a:solidFill>
                  <a:srgbClr val="FFFFFF"/>
                </a:solidFill>
              </a:defRPr>
            </a:lvl2pPr>
            <a:lvl3pPr algn="l">
              <a:defRPr sz="3000" b="0">
                <a:solidFill>
                  <a:srgbClr val="FFFFFF"/>
                </a:solidFill>
              </a:defRPr>
            </a:lvl3pPr>
            <a:lvl4pPr algn="l">
              <a:defRPr sz="3000" b="0">
                <a:solidFill>
                  <a:srgbClr val="FFFFFF"/>
                </a:solidFill>
              </a:defRPr>
            </a:lvl4pPr>
            <a:lvl5pPr algn="l">
              <a:defRPr sz="3000" b="0">
                <a:solidFill>
                  <a:srgbClr val="FFFFFF"/>
                </a:solidFill>
              </a:defRPr>
            </a:lvl5pPr>
            <a:lvl6pPr algn="l">
              <a:defRPr sz="3000" b="0">
                <a:solidFill>
                  <a:srgbClr val="FFFFFF"/>
                </a:solidFill>
              </a:defRPr>
            </a:lvl6pPr>
            <a:lvl7pPr algn="l">
              <a:defRPr sz="3000" b="0">
                <a:solidFill>
                  <a:srgbClr val="FFFFFF"/>
                </a:solidFill>
              </a:defRPr>
            </a:lvl7pPr>
            <a:lvl8pPr algn="l">
              <a:defRPr sz="3000" b="0">
                <a:solidFill>
                  <a:srgbClr val="FFFFFF"/>
                </a:solidFill>
              </a:defRPr>
            </a:lvl8pPr>
            <a:lvl9pPr algn="l">
              <a:defRPr sz="3000" b="0">
                <a:solidFill>
                  <a:srgbClr val="FFFFFF"/>
                </a:solidFill>
              </a:defRPr>
            </a:lvl9pPr>
          </a:lstStyle>
          <a:p xmlns:a="http://schemas.openxmlformats.org/drawingml/2006/main">
            <a:pPr algn="l">
              <a:defRPr sz="3000" b="0">
                <a:solidFill>
                  <a:srgbClr val="FFFFFF"/>
                </a:solidFill>
              </a:defRPr>
            </a:pPr>
            <a:r>
              <a:rPr sz="3000" b="0">
                <a:solidFill>
                  <a:srgbClr val="FFFFFF"/>
                </a:solidFill>
              </a:rPr>
              <a:t>Формулы в NumPy</a:t>
            </a:r>
          </a:p>
        </p:txBody>
      </p:sp>
      <p:sp>
        <p:nvSpPr>
          <p:cNvPr id="45" name="">
            <a:extLst xmlns:a="http://schemas.openxmlformats.org/drawingml/2006/main">
              <a:ext uri="{FF2B5EF4-FFF2-40B4-BE49-F238E27FC236}">
                <a16:creationId xmlns:a16="http://schemas.microsoft.com/office/drawing/2014/main" id="{88319934-E622-4490-A29D-EA16FE96A2DB}"/>
              </a:ext>
            </a:extLst>
          </p:cNvPr>
          <p:cNvSpPr>
            <a:spLocks xmlns:a="http://schemas.openxmlformats.org/drawingml/2006/main" noGrp="1"/>
          </p:cNvSpPr>
          <p:nvPr/>
        </p:nvSpPr>
        <p:spPr>
          <a:xfrm xmlns:a="http://schemas.openxmlformats.org/drawingml/2006/main">
            <a:off x="0" y="8677275"/>
            <a:ext cx="12192000" cy="266700"/>
          </a:xfrm>
          <a:prstGeom xmlns:a="http://schemas.openxmlformats.org/drawingml/2006/main" prst="rect">
            <a:avLst/>
          </a:prstGeom>
          <a:solidFill xmlns:a="http://schemas.openxmlformats.org/drawingml/2006/main">
            <a:srgbClr val="2B2A87"/>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32CFC2D2-4A99-421B-BB32-C4D2343ECED0}"/>
              </a:ext>
            </a:extLst>
          </p:cNvPr>
          <p:cNvSpPr>
            <a:spLocks xmlns:a="http://schemas.openxmlformats.org/drawingml/2006/main" noGrp="1"/>
          </p:cNvSpPr>
          <p:nvPr/>
        </p:nvSpPr>
        <p:spPr>
          <a:xfrm xmlns:a="http://schemas.openxmlformats.org/drawingml/2006/main">
            <a:off x="0" y="8943975"/>
            <a:ext cx="12192000" cy="200025"/>
          </a:xfrm>
          <a:prstGeom xmlns:a="http://schemas.openxmlformats.org/drawingml/2006/main" prst="rect">
            <a:avLst/>
          </a:prstGeom>
          <a:solidFill xmlns:a="http://schemas.openxmlformats.org/drawingml/2006/main">
            <a:srgbClr val="1C1B5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9AEC732-C51B-4BCE-80A7-6FAE75019C2F}"/>
              </a:ext>
            </a:extLst>
          </p:cNvPr>
          <p:cNvSpPr>
            <a:spLocks xmlns:a="http://schemas.openxmlformats.org/drawingml/2006/main" noGrp="1"/>
          </p:cNvSpPr>
          <p:nvPr/>
        </p:nvSpPr>
        <p:spPr>
          <a:xfrm xmlns:a="http://schemas.openxmlformats.org/drawingml/2006/main">
            <a:off x="285750" y="871537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Линейная регрессия</a:t>
            </a:r>
          </a:p>
        </p:txBody>
      </p:sp>
      <p:sp>
        <p:nvSpPr>
          <p:cNvPr id="48" name="">
            <a:extLst xmlns:a="http://schemas.openxmlformats.org/drawingml/2006/main">
              <a:ext uri="{FF2B5EF4-FFF2-40B4-BE49-F238E27FC236}">
                <a16:creationId xmlns:a16="http://schemas.microsoft.com/office/drawing/2014/main" id="{3A0A5EC0-2D9C-4944-8454-7A26A5DC8568}"/>
              </a:ext>
            </a:extLst>
          </p:cNvPr>
          <p:cNvSpPr>
            <a:spLocks xmlns:a="http://schemas.openxmlformats.org/drawingml/2006/main" noGrp="1"/>
          </p:cNvSpPr>
          <p:nvPr/>
        </p:nvSpPr>
        <p:spPr>
          <a:xfrm xmlns:a="http://schemas.openxmlformats.org/drawingml/2006/main">
            <a:off x="8096250" y="871537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1350" b="1">
                <a:solidFill>
                  <a:srgbClr val="FFFFFF"/>
                </a:solidFill>
              </a:defRPr>
            </a:defPPr>
            <a:lvl1pPr algn="r">
              <a:defRPr sz="1350" b="1">
                <a:solidFill>
                  <a:srgbClr val="FFFFFF"/>
                </a:solidFill>
              </a:defRPr>
            </a:lvl1pPr>
            <a:lvl2pPr algn="r">
              <a:defRPr sz="1350" b="1">
                <a:solidFill>
                  <a:srgbClr val="FFFFFF"/>
                </a:solidFill>
              </a:defRPr>
            </a:lvl2pPr>
            <a:lvl3pPr algn="r">
              <a:defRPr sz="1350" b="1">
                <a:solidFill>
                  <a:srgbClr val="FFFFFF"/>
                </a:solidFill>
              </a:defRPr>
            </a:lvl3pPr>
            <a:lvl4pPr algn="r">
              <a:defRPr sz="1350" b="1">
                <a:solidFill>
                  <a:srgbClr val="FFFFFF"/>
                </a:solidFill>
              </a:defRPr>
            </a:lvl4pPr>
            <a:lvl5pPr algn="r">
              <a:defRPr sz="1350" b="1">
                <a:solidFill>
                  <a:srgbClr val="FFFFFF"/>
                </a:solidFill>
              </a:defRPr>
            </a:lvl5pPr>
            <a:lvl6pPr algn="r">
              <a:defRPr sz="1350" b="1">
                <a:solidFill>
                  <a:srgbClr val="FFFFFF"/>
                </a:solidFill>
              </a:defRPr>
            </a:lvl6pPr>
            <a:lvl7pPr algn="r">
              <a:defRPr sz="1350" b="1">
                <a:solidFill>
                  <a:srgbClr val="FFFFFF"/>
                </a:solidFill>
              </a:defRPr>
            </a:lvl7pPr>
            <a:lvl8pPr algn="r">
              <a:defRPr sz="1350" b="1">
                <a:solidFill>
                  <a:srgbClr val="FFFFFF"/>
                </a:solidFill>
              </a:defRPr>
            </a:lvl8pPr>
            <a:lvl9pPr algn="r">
              <a:defRPr sz="1350" b="1">
                <a:solidFill>
                  <a:srgbClr val="FFFFFF"/>
                </a:solidFill>
              </a:defRPr>
            </a:lvl9pPr>
          </a:lstStyle>
          <a:p xmlns:a="http://schemas.openxmlformats.org/drawingml/2006/main">
            <a:pPr algn="r">
              <a:defRPr sz="1350" b="1">
                <a:solidFill>
                  <a:srgbClr val="FFFFFF"/>
                </a:solidFill>
              </a:defRPr>
            </a:pPr>
            <a:r>
              <a:rPr sz="1350" b="1">
                <a:solidFill>
                  <a:srgbClr val="FFFFFF"/>
                </a:solidFill>
              </a:rPr>
              <a:t>Банцевич Максим</a:t>
            </a:r>
          </a:p>
        </p:txBody>
      </p:sp>
      <p:sp>
        <p:nvSpPr>
          <p:cNvPr id="49" name="">
            <a:extLst xmlns:a="http://schemas.openxmlformats.org/drawingml/2006/main">
              <a:ext uri="{FF2B5EF4-FFF2-40B4-BE49-F238E27FC236}">
                <a16:creationId xmlns:a16="http://schemas.microsoft.com/office/drawing/2014/main" id="{565A31F6-7352-473A-8051-2062754BD399}"/>
              </a:ext>
            </a:extLst>
          </p:cNvPr>
          <p:cNvSpPr>
            <a:spLocks xmlns:a="http://schemas.openxmlformats.org/drawingml/2006/main" noGrp="1"/>
          </p:cNvSpPr>
          <p:nvPr/>
        </p:nvSpPr>
        <p:spPr>
          <a:xfrm xmlns:a="http://schemas.openxmlformats.org/drawingml/2006/main">
            <a:off x="5334000" y="89535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FFFFFF"/>
                </a:solidFill>
              </a:defRPr>
            </a:defPPr>
            <a:lvl1pPr algn="ctr">
              <a:defRPr sz="1275" b="0">
                <a:solidFill>
                  <a:srgbClr val="FFFFFF"/>
                </a:solidFill>
              </a:defRPr>
            </a:lvl1pPr>
            <a:lvl2pPr algn="ctr">
              <a:defRPr sz="1275" b="0">
                <a:solidFill>
                  <a:srgbClr val="FFFFFF"/>
                </a:solidFill>
              </a:defRPr>
            </a:lvl2pPr>
            <a:lvl3pPr algn="ctr">
              <a:defRPr sz="1275" b="0">
                <a:solidFill>
                  <a:srgbClr val="FFFFFF"/>
                </a:solidFill>
              </a:defRPr>
            </a:lvl3pPr>
            <a:lvl4pPr algn="ctr">
              <a:defRPr sz="1275" b="0">
                <a:solidFill>
                  <a:srgbClr val="FFFFFF"/>
                </a:solidFill>
              </a:defRPr>
            </a:lvl4pPr>
            <a:lvl5pPr algn="ctr">
              <a:defRPr sz="1275" b="0">
                <a:solidFill>
                  <a:srgbClr val="FFFFFF"/>
                </a:solidFill>
              </a:defRPr>
            </a:lvl5pPr>
            <a:lvl6pPr algn="ctr">
              <a:defRPr sz="1275" b="0">
                <a:solidFill>
                  <a:srgbClr val="FFFFFF"/>
                </a:solidFill>
              </a:defRPr>
            </a:lvl6pPr>
            <a:lvl7pPr algn="ctr">
              <a:defRPr sz="1275" b="0">
                <a:solidFill>
                  <a:srgbClr val="FFFFFF"/>
                </a:solidFill>
              </a:defRPr>
            </a:lvl7pPr>
            <a:lvl8pPr algn="ctr">
              <a:defRPr sz="1275" b="0">
                <a:solidFill>
                  <a:srgbClr val="FFFFFF"/>
                </a:solidFill>
              </a:defRPr>
            </a:lvl8pPr>
            <a:lvl9pPr algn="ctr">
              <a:defRPr sz="1275" b="0">
                <a:solidFill>
                  <a:srgbClr val="FFFFFF"/>
                </a:solidFill>
              </a:defRPr>
            </a:lvl9pPr>
          </a:lstStyle>
          <a:p xmlns:a="http://schemas.openxmlformats.org/drawingml/2006/main">
            <a:pPr algn="ctr">
              <a:defRPr sz="1275" b="0">
                <a:solidFill>
                  <a:srgbClr val="FFFFFF"/>
                </a:solidFill>
              </a:defRPr>
            </a:pPr>
            <a:r>
              <a:rPr sz="1275" b="0">
                <a:solidFill>
                  <a:srgbClr val="FFFFFF"/>
                </a:solidFill>
              </a:rPr>
              <a:t>37 / 37</a:t>
            </a:r>
          </a:p>
        </p:txBody>
      </p:sp>
      <p:sp>
        <p:nvSpPr>
          <p:cNvPr id="50" name="">
            <a:extLst xmlns:a="http://schemas.openxmlformats.org/drawingml/2006/main">
              <a:ext uri="{FF2B5EF4-FFF2-40B4-BE49-F238E27FC236}">
                <a16:creationId xmlns:a16="http://schemas.microsoft.com/office/drawing/2014/main" id="{69E2A83F-DA5C-4099-8776-E7519C12F675}"/>
              </a:ext>
            </a:extLst>
          </p:cNvPr>
          <p:cNvSpPr>
            <a:spLocks xmlns:a="http://schemas.openxmlformats.org/drawingml/2006/main" noGrp="1"/>
          </p:cNvSpPr>
          <p:nvPr/>
        </p:nvSpPr>
        <p:spPr>
          <a:xfrm xmlns:a="http://schemas.openxmlformats.org/drawingml/2006/main">
            <a:off x="609600" y="1743075"/>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В одномерной реализации входы и ошибки — массивы одинаковой длины.</a:t>
            </a:r>
          </a:p>
          <a:p xmlns:a="http://schemas.openxmlformats.org/drawingml/2006/main">
            <a:pPr algn="l">
              <a:defRPr sz="2250" b="0">
                <a:solidFill>
                  <a:srgbClr val="111111"/>
                </a:solidFill>
              </a:defRPr>
            </a:pPr>
            <a:r>
              <a:rPr sz="2250" b="0">
                <a:solidFill>
                  <a:srgbClr val="111111"/>
                </a:solidFill>
              </a:rPr>
              <a:t>Формулы переводятся в поэлементные операции и усреднение:</a:t>
            </a:r>
          </a:p>
        </p:txBody>
      </p:sp>
      <p:sp>
        <p:nvSpPr>
          <p:cNvPr id="51" name="">
            <a:extLst xmlns:a="http://schemas.openxmlformats.org/drawingml/2006/main">
              <a:ext uri="{FF2B5EF4-FFF2-40B4-BE49-F238E27FC236}">
                <a16:creationId xmlns:a16="http://schemas.microsoft.com/office/drawing/2014/main" id="{756CE6E5-94D8-424D-872D-CFC345360CDA}"/>
              </a:ext>
            </a:extLst>
          </p:cNvPr>
          <p:cNvSpPr>
            <a:spLocks xmlns:a="http://schemas.openxmlformats.org/drawingml/2006/main" noGrp="1"/>
          </p:cNvSpPr>
          <p:nvPr/>
        </p:nvSpPr>
        <p:spPr>
          <a:xfrm xmlns:a="http://schemas.openxmlformats.org/drawingml/2006/main">
            <a:off x="609600" y="2703195"/>
            <a:ext cx="10972800" cy="24269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11111"/>
                </a:solidFill>
              </a:defRPr>
            </a:defPPr>
            <a:lvl1pPr algn="l">
              <a:defRPr sz="2100" b="0">
                <a:solidFill>
                  <a:srgbClr val="111111"/>
                </a:solidFill>
              </a:defRPr>
            </a:lvl1pPr>
            <a:lvl2pPr algn="l">
              <a:defRPr sz="2100" b="0">
                <a:solidFill>
                  <a:srgbClr val="111111"/>
                </a:solidFill>
              </a:defRPr>
            </a:lvl2pPr>
            <a:lvl3pPr algn="l">
              <a:defRPr sz="2100" b="0">
                <a:solidFill>
                  <a:srgbClr val="111111"/>
                </a:solidFill>
              </a:defRPr>
            </a:lvl3pPr>
            <a:lvl4pPr algn="l">
              <a:defRPr sz="2100" b="0">
                <a:solidFill>
                  <a:srgbClr val="111111"/>
                </a:solidFill>
              </a:defRPr>
            </a:lvl4pPr>
            <a:lvl5pPr algn="l">
              <a:defRPr sz="2100" b="0">
                <a:solidFill>
                  <a:srgbClr val="111111"/>
                </a:solidFill>
              </a:defRPr>
            </a:lvl5pPr>
            <a:lvl6pPr algn="l">
              <a:defRPr sz="2100" b="0">
                <a:solidFill>
                  <a:srgbClr val="111111"/>
                </a:solidFill>
              </a:defRPr>
            </a:lvl6pPr>
            <a:lvl7pPr algn="l">
              <a:defRPr sz="2100" b="0">
                <a:solidFill>
                  <a:srgbClr val="111111"/>
                </a:solidFill>
              </a:defRPr>
            </a:lvl7pPr>
            <a:lvl8pPr algn="l">
              <a:defRPr sz="2100" b="0">
                <a:solidFill>
                  <a:srgbClr val="111111"/>
                </a:solidFill>
              </a:defRPr>
            </a:lvl8pPr>
            <a:lvl9pPr algn="l">
              <a:defRPr sz="2100" b="0">
                <a:solidFill>
                  <a:srgbClr val="111111"/>
                </a:solidFill>
              </a:defRPr>
            </a:lvl9pPr>
          </a:lstStyle>
          <a:p xmlns:a="http://schemas.openxmlformats.org/drawingml/2006/main">
            <a:pPr algn="l">
              <a:defRPr sz="2100" b="0">
                <a:solidFill>
                  <a:srgbClr val="111111"/>
                </a:solidFill>
              </a:defRPr>
            </a:pPr>
            <a:r>
              <a:rPr sz="2100" b="0">
                <a:solidFill>
                  <a:srgbClr val="111111"/>
                </a:solidFill>
              </a:rPr>
              <a:t>err = w * x + b - y</a:t>
            </a:r>
          </a:p>
          <a:p xmlns:a="http://schemas.openxmlformats.org/drawingml/2006/main">
            <a:r>
              <a:t/>
            </a:r>
          </a:p>
          <a:p xmlns:a="http://schemas.openxmlformats.org/drawingml/2006/main">
            <a:pPr algn="l">
              <a:defRPr sz="2100" b="0">
                <a:solidFill>
                  <a:srgbClr val="111111"/>
                </a:solidFill>
              </a:defRPr>
            </a:pPr>
            <a:r>
              <a:rPr sz="2100" b="0">
                <a:solidFill>
                  <a:srgbClr val="111111"/>
                </a:solidFill>
              </a:rPr>
              <a:t>gw = 2 * np.mean(x * err)</a:t>
            </a:r>
          </a:p>
          <a:p xmlns:a="http://schemas.openxmlformats.org/drawingml/2006/main">
            <a:pPr algn="l">
              <a:defRPr sz="2100" b="0">
                <a:solidFill>
                  <a:srgbClr val="111111"/>
                </a:solidFill>
              </a:defRPr>
            </a:pPr>
            <a:r>
              <a:rPr sz="2100" b="0">
                <a:solidFill>
                  <a:srgbClr val="111111"/>
                </a:solidFill>
              </a:rPr>
              <a:t>gb = 2 * np.mean(err)</a:t>
            </a:r>
          </a:p>
          <a:p xmlns:a="http://schemas.openxmlformats.org/drawingml/2006/main">
            <a:r>
              <a:t/>
            </a:r>
          </a:p>
          <a:p xmlns:a="http://schemas.openxmlformats.org/drawingml/2006/main">
            <a:pPr algn="l">
              <a:defRPr sz="2100" b="0">
                <a:solidFill>
                  <a:srgbClr val="111111"/>
                </a:solidFill>
              </a:defRPr>
            </a:pPr>
            <a:r>
              <a:rPr sz="2100" b="0">
                <a:solidFill>
                  <a:srgbClr val="111111"/>
                </a:solidFill>
              </a:rPr>
              <a:t>w_new = w - learning_rate * gw</a:t>
            </a:r>
          </a:p>
          <a:p xmlns:a="http://schemas.openxmlformats.org/drawingml/2006/main">
            <a:pPr algn="l">
              <a:defRPr sz="2100" b="0">
                <a:solidFill>
                  <a:srgbClr val="111111"/>
                </a:solidFill>
              </a:defRPr>
            </a:pPr>
            <a:r>
              <a:rPr sz="2100" b="0">
                <a:solidFill>
                  <a:srgbClr val="111111"/>
                </a:solidFill>
              </a:rPr>
              <a:t>b_new = b - learning_rate * gb</a:t>
            </a:r>
          </a:p>
        </p:txBody>
      </p:sp>
      <p:sp>
        <p:nvSpPr>
          <p:cNvPr id="52" name="">
            <a:extLst xmlns:a="http://schemas.openxmlformats.org/drawingml/2006/main">
              <a:ext uri="{FF2B5EF4-FFF2-40B4-BE49-F238E27FC236}">
                <a16:creationId xmlns:a16="http://schemas.microsoft.com/office/drawing/2014/main" id="{C527C56A-DBAB-4E94-9EBA-B91915C99D92}"/>
              </a:ext>
            </a:extLst>
          </p:cNvPr>
          <p:cNvSpPr>
            <a:spLocks xmlns:a="http://schemas.openxmlformats.org/drawingml/2006/main" noGrp="1"/>
          </p:cNvSpPr>
          <p:nvPr/>
        </p:nvSpPr>
        <p:spPr>
          <a:xfrm xmlns:a="http://schemas.openxmlformats.org/drawingml/2006/main">
            <a:off x="609600" y="5358765"/>
            <a:ext cx="10972800" cy="109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Сначала вычисляем обе производные на старых параметрах, затем</a:t>
            </a:r>
          </a:p>
          <a:p xmlns:a="http://schemas.openxmlformats.org/drawingml/2006/main">
            <a:pPr algn="l">
              <a:defRPr sz="2250" b="0">
                <a:solidFill>
                  <a:srgbClr val="111111"/>
                </a:solidFill>
              </a:defRPr>
            </a:pPr>
            <a:r>
              <a:rPr sz="2250" b="0">
                <a:solidFill>
                  <a:srgbClr val="111111"/>
                </a:solidFill>
              </a:rPr>
              <a:t>присваиваем оба новых значения. Задания и проверки находятся в отдельном</a:t>
            </a:r>
          </a:p>
          <a:p xmlns:a="http://schemas.openxmlformats.org/drawingml/2006/main">
            <a:pPr algn="l">
              <a:defRPr sz="2250" b="0">
                <a:solidFill>
                  <a:srgbClr val="111111"/>
                </a:solidFill>
              </a:defRPr>
            </a:pPr>
            <a:r>
              <a:rPr sz="2250" b="0">
                <a:solidFill>
                  <a:srgbClr val="111111"/>
                </a:solidFill>
              </a:rPr>
              <a:t>ноутбуке.</a:t>
            </a:r>
          </a:p>
        </p:txBody>
      </p:sp>
    </p:spTree>
    <p:extLst>
      <p:ext uri="{BB962C8B-B14F-4D97-AF65-F5344CB8AC3E}">
        <p14:creationId xmlns:p14="http://schemas.microsoft.com/office/powerpoint/2010/main" val="1184467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Банцевич Максим</dc:creator>
  <lastModifiedBy>Банцевич Максим</lastModifiedBy>
  <dc:title>Линейная регрессия</dc:title>
  <dcterms:created xsi:type="dcterms:W3CDTF">2026-10-17T06:32:55.8220000Z</dcterms:created>
  <dcterms:modified xsi:type="dcterms:W3CDTF">2026-10-17T06:32:55.8220000Z</dcterms:modified>
</coreProperties>
</file>