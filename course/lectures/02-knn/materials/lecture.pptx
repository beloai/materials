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f38acaa260c6f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f38acaa260c6f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5f38acaa260c6f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5f38acaa260c6f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5f38acaa260c6f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5f38acaa260c6f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f38acaa260c6ff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f38acaa260c6f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f38acaa260c6ff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f38acaa260c6ff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f38acaa260c6ff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f38acaa260c6f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d162a8c4655aa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d162a8c4655aa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4d162a8c4655aa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4d162a8c4655aa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d162a8c4655aa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d162a8c4655aa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d162a8c4655aa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4d162a8c4655aa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4d162a8c4655aa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4d162a8c4655aa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d162a8c4655aa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d162a8c4655aa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d162a8c4655aa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4d162a8c4655aa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d162a8c4655aa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d162a8c4655aa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d162a8c4655aa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d162a8c4655aa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4d162a8c4655aa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4d162a8c4655aa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d162a8c4655aa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d162a8c4655aa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4d162a8c4655aa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4d162a8c4655aa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4d162a8c4655aa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4d162a8c4655aa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5f38acaa260c6f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5f38acaa260c6f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f38acaa260c6ff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5f38acaa260c6ff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f38acaa260c6f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5f38acaa260c6f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716355c10703ea22_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716355c10703ea22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716355c10703ea22_9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716355c10703ea22_9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716355c10703ea22_9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716355c10703ea22_9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716355c10703ea22_9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716355c10703ea22_9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716355c10703ea22_9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716355c10703ea22_9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5f38acaa260c6ff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5f38acaa260c6ff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716355c10703ea22_9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716355c10703ea22_9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73450" y="2017650"/>
            <a:ext cx="34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2"/>
                </a:solidFill>
              </a:rPr>
              <a:t>Меры близости и KNN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25" y="520563"/>
            <a:ext cx="6804734" cy="41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0677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5969825" y="1581650"/>
            <a:ext cx="298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Классификация ирисов Фишера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932125" y="2571750"/>
            <a:ext cx="330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</a:rPr>
              <a:t>Как, воспользовавшись допущениями, которые мы сделали, решить задачу классификации/регрессии?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235500" y="4758600"/>
            <a:ext cx="612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https://ru.wikipedia.org/wiki/Ирисы_Фишера?ysclid=mv17zm78sj268027885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82075" y="237100"/>
            <a:ext cx="76605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Представим, что мы нашли неизвестный фрукт. Мы измерили: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массу — 140 граммов;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сладость — 7 баллов из 10;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красноту — 8 баллов из 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Как понять, яблоко это или апельсин?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Один из самых естественных способов рассуждать так: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Посмотрим, на какие уже известные фрукты он больше всего похож.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Если рядом с нашим объектом в основном находятся яблоки, назовём его яблоком. Если апельсины — апельсином.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674875" y="3447250"/>
            <a:ext cx="7605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Именно эту идею использует алгоритм </a:t>
            </a:r>
            <a:r>
              <a:rPr b="1" lang="ru" sz="1600">
                <a:solidFill>
                  <a:schemeClr val="dk1"/>
                </a:solidFill>
              </a:rPr>
              <a:t>K Nearest Neighbors</a:t>
            </a:r>
            <a:r>
              <a:rPr lang="ru" sz="1600">
                <a:solidFill>
                  <a:schemeClr val="dk1"/>
                </a:solidFill>
              </a:rPr>
              <a:t>, или </a:t>
            </a:r>
            <a:r>
              <a:rPr b="1" lang="ru" sz="1600">
                <a:solidFill>
                  <a:schemeClr val="dk1"/>
                </a:solidFill>
              </a:rPr>
              <a:t>KNN</a:t>
            </a:r>
            <a:r>
              <a:rPr lang="ru" sz="1600">
                <a:solidFill>
                  <a:schemeClr val="dk1"/>
                </a:solidFill>
              </a:rPr>
              <a:t>, — алгоритм k ближайших соседей.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252125" y="235325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Формализация понятия “близости”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0" y="1143301"/>
            <a:ext cx="7621701" cy="15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50" y="177625"/>
            <a:ext cx="8226999" cy="289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200" y="3369000"/>
            <a:ext cx="5587825" cy="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425"/>
            <a:ext cx="8714250" cy="8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152400" y="1201825"/>
            <a:ext cx="484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</a:rPr>
              <a:t>Метрика - </a:t>
            </a:r>
            <a:r>
              <a:rPr b="1" lang="ru" sz="1600">
                <a:solidFill>
                  <a:schemeClr val="dk2"/>
                </a:solidFill>
              </a:rPr>
              <a:t>способ измерения расстояния</a:t>
            </a:r>
            <a:r>
              <a:rPr lang="ru" sz="1600">
                <a:solidFill>
                  <a:schemeClr val="dk2"/>
                </a:solidFill>
              </a:rPr>
              <a:t> между объектами.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75915"/>
            <a:ext cx="8714252" cy="17951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701700" y="4068075"/>
            <a:ext cx="342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Какое свойство лишнее??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85850" cy="248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0275" y="121450"/>
            <a:ext cx="3385851" cy="2551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41825"/>
            <a:ext cx="3697880" cy="219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7700" y="1958250"/>
            <a:ext cx="2758001" cy="9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25" y="573125"/>
            <a:ext cx="6688800" cy="39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25" y="447250"/>
            <a:ext cx="7109000" cy="435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325" y="840448"/>
            <a:ext cx="6745600" cy="35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00" y="976699"/>
            <a:ext cx="7142624" cy="25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 txBox="1"/>
          <p:nvPr/>
        </p:nvSpPr>
        <p:spPr>
          <a:xfrm>
            <a:off x="235350" y="414150"/>
            <a:ext cx="83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 тут можно посчитать расстояние между двумя объектами?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575" y="3334325"/>
            <a:ext cx="4252624" cy="14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/>
        </p:nvSpPr>
        <p:spPr>
          <a:xfrm>
            <a:off x="2647400" y="2227175"/>
            <a:ext cx="37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 оценить качество модели?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50" y="332950"/>
            <a:ext cx="6688799" cy="417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4471150" y="3286150"/>
            <a:ext cx="393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не переводить как точность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75" y="599950"/>
            <a:ext cx="2545425" cy="369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275" y="1925750"/>
            <a:ext cx="33337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25" y="483825"/>
            <a:ext cx="5649752" cy="404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3651175" y="3190750"/>
            <a:ext cx="52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Тут цены ошибок не равнозначны из-за дисбаланса классов.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/>
        </p:nvSpPr>
        <p:spPr>
          <a:xfrm>
            <a:off x="374750" y="492525"/>
            <a:ext cx="61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Это было для классификации, а если имеем модель регрессии?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524650" y="1552600"/>
            <a:ext cx="61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Можно ли использовать ту же акураси?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578200" y="2259225"/>
            <a:ext cx="61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Что еще?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/>
        </p:nvSpPr>
        <p:spPr>
          <a:xfrm>
            <a:off x="361400" y="327750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Возвращаемся к KNN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00" y="949125"/>
            <a:ext cx="5017425" cy="357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4122100" y="3739975"/>
            <a:ext cx="479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Это вариант для классификации объекта, как звучит алгоритм для регрессии?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/>
        </p:nvSpPr>
        <p:spPr>
          <a:xfrm>
            <a:off x="471750" y="327775"/>
            <a:ext cx="7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Мы обсудили, как можно считать расстояние между объектами, но….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50" y="917425"/>
            <a:ext cx="5010776" cy="372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/>
          <p:nvPr/>
        </p:nvSpPr>
        <p:spPr>
          <a:xfrm>
            <a:off x="5143500" y="1404450"/>
            <a:ext cx="3812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Если заменить граммы килограммами, числа изменятся в тысячу раз, хотя сами фрукты останутся теми же. Предсказание алгоритма может измениться только из-за выбора единиц измерения.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319350" y="336175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Нормализация признаков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319350" y="1042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Min-max нормализация</a:t>
            </a:r>
            <a:endParaRPr/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50" y="1494875"/>
            <a:ext cx="2057950" cy="6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2"/>
          <p:cNvSpPr txBox="1"/>
          <p:nvPr/>
        </p:nvSpPr>
        <p:spPr>
          <a:xfrm>
            <a:off x="2663100" y="1195725"/>
            <a:ext cx="605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</a:rPr>
              <a:t>Если в данных есть выброс, например фрукт массой 10 000 граммов, почти все обычные значения могут сжаться около нуля.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9350" y="2371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Стандартизация</a:t>
            </a:r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375" y="2924250"/>
            <a:ext cx="1826575" cy="77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7300" y="2650000"/>
            <a:ext cx="3094425" cy="8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2386" y="3297122"/>
            <a:ext cx="1826575" cy="134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2"/>
          <p:cNvSpPr txBox="1"/>
          <p:nvPr/>
        </p:nvSpPr>
        <p:spPr>
          <a:xfrm>
            <a:off x="107075" y="4678150"/>
            <a:ext cx="796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Ошибка!!! Нормализовать весь датасет до разделения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/>
        </p:nvSpPr>
        <p:spPr>
          <a:xfrm>
            <a:off x="268950" y="260525"/>
            <a:ext cx="484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 выбрать k для KNN?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268950" y="683975"/>
            <a:ext cx="59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 — количество соседей, которые участвуют в голосовании.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425" y="1166800"/>
            <a:ext cx="6539873" cy="343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25" y="4688600"/>
            <a:ext cx="5367026" cy="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75" y="1522325"/>
            <a:ext cx="6569676" cy="9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384003"/>
            <a:ext cx="6495498" cy="27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5"/>
          <p:cNvSpPr txBox="1"/>
          <p:nvPr/>
        </p:nvSpPr>
        <p:spPr>
          <a:xfrm>
            <a:off x="1840575" y="3109625"/>
            <a:ext cx="188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переобучение!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00" y="328875"/>
            <a:ext cx="7957850" cy="41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/>
          <p:nvPr/>
        </p:nvSpPr>
        <p:spPr>
          <a:xfrm>
            <a:off x="450225" y="2697825"/>
            <a:ext cx="8152200" cy="1966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4861100" y="396150"/>
            <a:ext cx="39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 можно еще?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50" y="152400"/>
            <a:ext cx="81709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00" y="711000"/>
            <a:ext cx="6314775" cy="395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7872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/>
        </p:nvSpPr>
        <p:spPr>
          <a:xfrm>
            <a:off x="453850" y="621925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https://www.youtube.com/watch?v=UZB2t43B1dI</a:t>
            </a:r>
            <a:endParaRPr/>
          </a:p>
        </p:txBody>
      </p:sp>
      <p:sp>
        <p:nvSpPr>
          <p:cNvPr id="227" name="Google Shape;227;p40"/>
          <p:cNvSpPr txBox="1"/>
          <p:nvPr/>
        </p:nvSpPr>
        <p:spPr>
          <a:xfrm>
            <a:off x="492475" y="1103500"/>
            <a:ext cx="44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https://www.youtube.com/watch?v=mCJcRDIY4TI</a:t>
            </a:r>
            <a:endParaRPr/>
          </a:p>
        </p:txBody>
      </p:sp>
      <p:sp>
        <p:nvSpPr>
          <p:cNvPr id="228" name="Google Shape;228;p40"/>
          <p:cNvSpPr txBox="1"/>
          <p:nvPr/>
        </p:nvSpPr>
        <p:spPr>
          <a:xfrm>
            <a:off x="4572000" y="560425"/>
            <a:ext cx="46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лекция Евгения Соколова (ФКН ВШЭ)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40"/>
          <p:cNvSpPr txBox="1"/>
          <p:nvPr/>
        </p:nvSpPr>
        <p:spPr>
          <a:xfrm>
            <a:off x="4714875" y="1022125"/>
            <a:ext cx="422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лекция Воронцова (ШАД, МГУ)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0" name="Google Shape;230;p40"/>
          <p:cNvSpPr txBox="1"/>
          <p:nvPr/>
        </p:nvSpPr>
        <p:spPr>
          <a:xfrm>
            <a:off x="501575" y="1650650"/>
            <a:ext cx="28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Савватеев про метрики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3173650" y="1681400"/>
            <a:ext cx="47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https://youtu.be/C6zYL6hGyp8?si=PD26SHSLzUqj7BNs</a:t>
            </a:r>
            <a:endParaRPr/>
          </a:p>
        </p:txBody>
      </p:sp>
      <p:sp>
        <p:nvSpPr>
          <p:cNvPr id="232" name="Google Shape;232;p40"/>
          <p:cNvSpPr txBox="1"/>
          <p:nvPr/>
        </p:nvSpPr>
        <p:spPr>
          <a:xfrm>
            <a:off x="267700" y="160225"/>
            <a:ext cx="61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Откуда чуть-чуть тырились слайды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/>
        </p:nvSpPr>
        <p:spPr>
          <a:xfrm>
            <a:off x="342650" y="278375"/>
            <a:ext cx="551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Что на самом деле «обучает» KNN?</a:t>
            </a:r>
            <a:endParaRPr sz="1900"/>
          </a:p>
        </p:txBody>
      </p:sp>
      <p:sp>
        <p:nvSpPr>
          <p:cNvPr id="238" name="Google Shape;238;p41"/>
          <p:cNvSpPr txBox="1"/>
          <p:nvPr/>
        </p:nvSpPr>
        <p:spPr>
          <a:xfrm>
            <a:off x="342650" y="867300"/>
            <a:ext cx="6071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KNN почти ничего не вычисляет заранее. Он в основном запоминает обучающие объекты.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Поэтому его называют </a:t>
            </a:r>
            <a:r>
              <a:rPr b="1" lang="ru" sz="1500">
                <a:solidFill>
                  <a:schemeClr val="dk1"/>
                </a:solidFill>
              </a:rPr>
              <a:t>ленивым алгоритмом</a:t>
            </a:r>
            <a:r>
              <a:rPr lang="ru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428275" y="2079625"/>
            <a:ext cx="442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Проблема высокой размерности</a:t>
            </a:r>
            <a:endParaRPr sz="1900"/>
          </a:p>
        </p:txBody>
      </p:sp>
      <p:sp>
        <p:nvSpPr>
          <p:cNvPr id="240" name="Google Shape;240;p41"/>
          <p:cNvSpPr txBox="1"/>
          <p:nvPr/>
        </p:nvSpPr>
        <p:spPr>
          <a:xfrm>
            <a:off x="428275" y="2668550"/>
            <a:ext cx="65313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Представим, что у объектов не 2 признака, а 10 000.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пространствах большой размерности происходит необычная вещь: почти все точки становятся далёкими друг от друга, а расстояния до ближайших и далёких объектов начинают отличаться не так сильно.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Это называют </a:t>
            </a:r>
            <a:r>
              <a:rPr b="1" lang="ru">
                <a:solidFill>
                  <a:schemeClr val="dk1"/>
                </a:solidFill>
              </a:rPr>
              <a:t>проклятием размерности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Кроме того, ненужные признаки добавляют в расстояние шум.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